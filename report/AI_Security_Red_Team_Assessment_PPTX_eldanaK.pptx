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1365" cy="6858000"/>
  <p:notesSz cx="6858000" cy="1219136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project is a local AI security red-team assessment of a PyTorch MNIST classifier and its serving pipeline. I tested the model, the API, and the Docker runtime, then implemented mitigations and retested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 was not only to find a model-level weakness. I assessed the full pipeline and then retested the defenses. The rules limited all activity to my own local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workstreams I followed. The primary task was model security plus pipeline security. The bonus work added observability, a controlled backdoor experiment, and a membership-inference attempt.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system boundary I assessed. An image becomes a tensor, passes through RedMnistNet, then through the API when deployed. I reviewed both the AI behavior and the surrounding service/runtime.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started by verifying the model itself. The checkpoint matches the Python architecture with no missing or unexpected keys. A real MNIST 7 is classified as 7 before any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one confirmed the model can load and classify a known sample. Test two measured the full 10,000-image MNIST test set at 99.07%. I used this as the normal-performance baseline, not as proof of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attack question is simple: can I change the model decision without changing the intended digit? FGSM makes one gradient-sign update. PGD repeats smaller updates while keeping the perturbation inside the tested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FGSM changed the prediction from 7 to 2. The original confidence was 1.0000 and the adversarial confidence was 0.5933. The key security finding is the class change, not the exact confidence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PGD used epsilon 0.2, alpha 0.01, and 40 iterations. The final integrated run changed 7 to 3 with about 0.9999 confidence. Because the implementation uses a randomized start, repeated runs can produce a different wrong class; the success condition is misclassification.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then assessed the API as an attacker with authorized local access. The main findings were reconnaissance exposure, permissive browser access, missing resource limits, and overly detailed errors. I did not claim code execution or a production denial of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API was hardened by removing metadata and documentation routes, restricting CORS, adding file and batch controls, adding dimension checks, and reducing external error detail. The values on the right are the actual retest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Docker review found a root container with broad capability and write access. I changed the runtime to a non-root UID 10001, dropped all capabilities, enabled no-new-privileges, and made the root filesystem read-only while keeping /tmp writable.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mitigation, I trained a separate defended checkpoint with PGD-based adversarial training. On the documented sample, both tested attacks kept the final prediction at 7. The honest conclusion is targeted resistance to these configurations, not universal robustness.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bonus work has different strength levels. Instrumentation is an engineering feature. The backdoor experiment produced a clear trigger-dependent behavior in a separate model. Membership inference produced only a weak 52.3% threshold result, so I do not claim successful individual membership discovery.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mapped the actual evidence to MITRE ATLAS and NIST AI RMF. ATLAS captures the adversarial techniques and inference context. NIST AI RMF organizes the work into Govern, Map, Measure, and Manage.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has separate reports for adversarial examples, pipeline review, ATLAS, NIST, bonuses, and AI usage. The evidence trail is designed to let an evaluator move from a finding to the code and result that supports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The project is a measured security assessment, not a claim of complete security. I demonstrated concrete adversarial failures, API exposure, and container privilege issues; implemented controls; and documented remaining production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E2E8F0"/>
            </a:solidFill>
            <a:prstDash val="solid"/>
          </a:ln>
        </p:spPr>
        <p:txBody>
          <a:bodyPr/>
          <a:p/>
        </p:txBody>
      </p:sp>
      <p:sp>
        <p:nvSpPr>
          <p:cNvPr id="3" name="Shape 1"/>
          <p:cNvSpPr/>
          <p:nvPr/>
        </p:nvSpPr>
        <p:spPr>
          <a:xfrm>
            <a:off x="502920" y="502920"/>
            <a:ext cx="0" cy="5760720"/>
          </a:xfrm>
          <a:prstGeom prst="line">
            <a:avLst/>
          </a:prstGeom>
          <a:noFill/>
          <a:ln w="7620">
            <a:solidFill>
              <a:srgbClr val="E2E8F0">
                <a:alpha val="20000"/>
              </a:srgbClr>
            </a:solidFill>
            <a:prstDash val="solid"/>
          </a:ln>
        </p:spPr>
        <p:txBody>
          <a:bodyPr/>
          <a:p/>
        </p:txBody>
      </p:sp>
      <p:sp>
        <p:nvSpPr>
          <p:cNvPr id="4" name="Shape 2"/>
          <p:cNvSpPr/>
          <p:nvPr/>
        </p:nvSpPr>
        <p:spPr>
          <a:xfrm>
            <a:off x="1463040" y="502920"/>
            <a:ext cx="0" cy="5760720"/>
          </a:xfrm>
          <a:prstGeom prst="line">
            <a:avLst/>
          </a:prstGeom>
          <a:noFill/>
          <a:ln w="7620">
            <a:solidFill>
              <a:srgbClr val="E2E8F0">
                <a:alpha val="20000"/>
              </a:srgbClr>
            </a:solidFill>
            <a:prstDash val="solid"/>
          </a:ln>
        </p:spPr>
        <p:txBody>
          <a:bodyPr/>
          <a:p/>
        </p:txBody>
      </p:sp>
      <p:sp>
        <p:nvSpPr>
          <p:cNvPr id="5" name="Shape 3"/>
          <p:cNvSpPr/>
          <p:nvPr/>
        </p:nvSpPr>
        <p:spPr>
          <a:xfrm>
            <a:off x="2423160" y="502920"/>
            <a:ext cx="0" cy="5760720"/>
          </a:xfrm>
          <a:prstGeom prst="line">
            <a:avLst/>
          </a:prstGeom>
          <a:noFill/>
          <a:ln w="7620">
            <a:solidFill>
              <a:srgbClr val="E2E8F0">
                <a:alpha val="20000"/>
              </a:srgbClr>
            </a:solidFill>
            <a:prstDash val="solid"/>
          </a:ln>
        </p:spPr>
        <p:txBody>
          <a:bodyPr/>
          <a:p/>
        </p:txBody>
      </p:sp>
      <p:sp>
        <p:nvSpPr>
          <p:cNvPr id="6" name="Shape 4"/>
          <p:cNvSpPr/>
          <p:nvPr/>
        </p:nvSpPr>
        <p:spPr>
          <a:xfrm>
            <a:off x="3383280" y="502920"/>
            <a:ext cx="0" cy="5760720"/>
          </a:xfrm>
          <a:prstGeom prst="line">
            <a:avLst/>
          </a:prstGeom>
          <a:noFill/>
          <a:ln w="7620">
            <a:solidFill>
              <a:srgbClr val="E2E8F0">
                <a:alpha val="20000"/>
              </a:srgbClr>
            </a:solidFill>
            <a:prstDash val="solid"/>
          </a:ln>
        </p:spPr>
        <p:txBody>
          <a:bodyPr/>
          <a:p/>
        </p:txBody>
      </p:sp>
      <p:sp>
        <p:nvSpPr>
          <p:cNvPr id="7" name="Shape 5"/>
          <p:cNvSpPr/>
          <p:nvPr/>
        </p:nvSpPr>
        <p:spPr>
          <a:xfrm>
            <a:off x="4343400" y="502920"/>
            <a:ext cx="0" cy="5760720"/>
          </a:xfrm>
          <a:prstGeom prst="line">
            <a:avLst/>
          </a:prstGeom>
          <a:noFill/>
          <a:ln w="7620">
            <a:solidFill>
              <a:srgbClr val="E2E8F0">
                <a:alpha val="20000"/>
              </a:srgbClr>
            </a:solidFill>
            <a:prstDash val="solid"/>
          </a:ln>
        </p:spPr>
        <p:txBody>
          <a:bodyPr/>
          <a:p/>
        </p:txBody>
      </p:sp>
      <p:sp>
        <p:nvSpPr>
          <p:cNvPr id="8" name="Shape 6"/>
          <p:cNvSpPr/>
          <p:nvPr/>
        </p:nvSpPr>
        <p:spPr>
          <a:xfrm>
            <a:off x="5303520" y="502920"/>
            <a:ext cx="0" cy="5760720"/>
          </a:xfrm>
          <a:prstGeom prst="line">
            <a:avLst/>
          </a:prstGeom>
          <a:noFill/>
          <a:ln w="7620">
            <a:solidFill>
              <a:srgbClr val="E2E8F0">
                <a:alpha val="20000"/>
              </a:srgbClr>
            </a:solidFill>
            <a:prstDash val="solid"/>
          </a:ln>
        </p:spPr>
        <p:txBody>
          <a:bodyPr/>
          <a:p/>
        </p:txBody>
      </p:sp>
      <p:sp>
        <p:nvSpPr>
          <p:cNvPr id="9" name="Shape 7"/>
          <p:cNvSpPr/>
          <p:nvPr/>
        </p:nvSpPr>
        <p:spPr>
          <a:xfrm>
            <a:off x="6263640" y="502920"/>
            <a:ext cx="0" cy="5760720"/>
          </a:xfrm>
          <a:prstGeom prst="line">
            <a:avLst/>
          </a:prstGeom>
          <a:noFill/>
          <a:ln w="7620">
            <a:solidFill>
              <a:srgbClr val="E2E8F0">
                <a:alpha val="20000"/>
              </a:srgbClr>
            </a:solidFill>
            <a:prstDash val="solid"/>
          </a:ln>
        </p:spPr>
        <p:txBody>
          <a:bodyPr/>
          <a:p/>
        </p:txBody>
      </p:sp>
      <p:sp>
        <p:nvSpPr>
          <p:cNvPr id="10" name="Shape 8"/>
          <p:cNvSpPr/>
          <p:nvPr/>
        </p:nvSpPr>
        <p:spPr>
          <a:xfrm>
            <a:off x="502920" y="502920"/>
            <a:ext cx="6583680" cy="0"/>
          </a:xfrm>
          <a:prstGeom prst="line">
            <a:avLst/>
          </a:prstGeom>
          <a:noFill/>
          <a:ln w="7620">
            <a:solidFill>
              <a:srgbClr val="E2E8F0">
                <a:alpha val="18000"/>
              </a:srgbClr>
            </a:solidFill>
            <a:prstDash val="solid"/>
          </a:ln>
        </p:spPr>
        <p:txBody>
          <a:bodyPr/>
          <a:p/>
        </p:txBody>
      </p:sp>
      <p:sp>
        <p:nvSpPr>
          <p:cNvPr id="11" name="Shape 9"/>
          <p:cNvSpPr/>
          <p:nvPr/>
        </p:nvSpPr>
        <p:spPr>
          <a:xfrm>
            <a:off x="502920" y="1463040"/>
            <a:ext cx="6583680" cy="0"/>
          </a:xfrm>
          <a:prstGeom prst="line">
            <a:avLst/>
          </a:prstGeom>
          <a:noFill/>
          <a:ln w="7620">
            <a:solidFill>
              <a:srgbClr val="E2E8F0">
                <a:alpha val="18000"/>
              </a:srgbClr>
            </a:solidFill>
            <a:prstDash val="solid"/>
          </a:ln>
        </p:spPr>
        <p:txBody>
          <a:bodyPr/>
          <a:p/>
        </p:txBody>
      </p:sp>
      <p:sp>
        <p:nvSpPr>
          <p:cNvPr id="12" name="Shape 10"/>
          <p:cNvSpPr/>
          <p:nvPr/>
        </p:nvSpPr>
        <p:spPr>
          <a:xfrm>
            <a:off x="502920" y="2423160"/>
            <a:ext cx="6583680" cy="0"/>
          </a:xfrm>
          <a:prstGeom prst="line">
            <a:avLst/>
          </a:prstGeom>
          <a:noFill/>
          <a:ln w="7620">
            <a:solidFill>
              <a:srgbClr val="E2E8F0">
                <a:alpha val="18000"/>
              </a:srgbClr>
            </a:solidFill>
            <a:prstDash val="solid"/>
          </a:ln>
        </p:spPr>
        <p:txBody>
          <a:bodyPr/>
          <a:p/>
        </p:txBody>
      </p:sp>
      <p:sp>
        <p:nvSpPr>
          <p:cNvPr id="13" name="Shape 11"/>
          <p:cNvSpPr/>
          <p:nvPr/>
        </p:nvSpPr>
        <p:spPr>
          <a:xfrm>
            <a:off x="502920" y="3383280"/>
            <a:ext cx="6583680" cy="0"/>
          </a:xfrm>
          <a:prstGeom prst="line">
            <a:avLst/>
          </a:prstGeom>
          <a:noFill/>
          <a:ln w="7620">
            <a:solidFill>
              <a:srgbClr val="E2E8F0">
                <a:alpha val="18000"/>
              </a:srgbClr>
            </a:solidFill>
            <a:prstDash val="solid"/>
          </a:ln>
        </p:spPr>
        <p:txBody>
          <a:bodyPr/>
          <a:p/>
        </p:txBody>
      </p:sp>
      <p:sp>
        <p:nvSpPr>
          <p:cNvPr id="14" name="Shape 12"/>
          <p:cNvSpPr/>
          <p:nvPr/>
        </p:nvSpPr>
        <p:spPr>
          <a:xfrm>
            <a:off x="502920" y="4343400"/>
            <a:ext cx="6583680" cy="0"/>
          </a:xfrm>
          <a:prstGeom prst="line">
            <a:avLst/>
          </a:prstGeom>
          <a:noFill/>
          <a:ln w="7620">
            <a:solidFill>
              <a:srgbClr val="E2E8F0">
                <a:alpha val="18000"/>
              </a:srgbClr>
            </a:solidFill>
            <a:prstDash val="solid"/>
          </a:ln>
        </p:spPr>
        <p:txBody>
          <a:bodyPr/>
          <a:p/>
        </p:txBody>
      </p:sp>
      <p:sp>
        <p:nvSpPr>
          <p:cNvPr id="15" name="Shape 13"/>
          <p:cNvSpPr/>
          <p:nvPr/>
        </p:nvSpPr>
        <p:spPr>
          <a:xfrm>
            <a:off x="502920" y="5303520"/>
            <a:ext cx="6583680" cy="0"/>
          </a:xfrm>
          <a:prstGeom prst="line">
            <a:avLst/>
          </a:prstGeom>
          <a:noFill/>
          <a:ln w="7620">
            <a:solidFill>
              <a:srgbClr val="E2E8F0">
                <a:alpha val="18000"/>
              </a:srgbClr>
            </a:solidFill>
            <a:prstDash val="solid"/>
          </a:ln>
        </p:spPr>
        <p:txBody>
          <a:bodyPr/>
          <a:p/>
        </p:txBody>
      </p:sp>
      <p:sp>
        <p:nvSpPr>
          <p:cNvPr id="16" name="Shape 14"/>
          <p:cNvSpPr/>
          <p:nvPr/>
        </p:nvSpPr>
        <p:spPr>
          <a:xfrm>
            <a:off x="502920" y="502920"/>
            <a:ext cx="73152" cy="4800600"/>
          </a:xfrm>
          <a:prstGeom prst="rect">
            <a:avLst/>
          </a:prstGeom>
          <a:solidFill>
            <a:srgbClr val="56E0FF"/>
          </a:solidFill>
          <a:ln w="12700">
            <a:solidFill>
              <a:srgbClr val="0E7490"/>
            </a:solidFill>
            <a:prstDash val="solid"/>
          </a:ln>
        </p:spPr>
        <p:txBody>
          <a:bodyPr/>
          <a:p/>
        </p:txBody>
      </p:sp>
      <p:sp>
        <p:nvSpPr>
          <p:cNvPr id="17" name="Text 15"/>
          <p:cNvSpPr/>
          <p:nvPr/>
        </p:nvSpPr>
        <p:spPr>
          <a:xfrm>
            <a:off x="822960" y="749808"/>
            <a:ext cx="5943600" cy="2148840"/>
          </a:xfrm>
          <a:prstGeom prst="rect">
            <a:avLst/>
          </a:prstGeom>
          <a:noFill/>
        </p:spPr>
        <p:txBody>
          <a:bodyPr wrap="square" lIns="0" tIns="0" rIns="0" bIns="0" rtlCol="0" anchor="ctr">
            <a:normAutofit/>
          </a:bodyPr>
          <a:lstStyle/>
          <a:p>
            <a:pPr marL="0" indent="0">
              <a:buNone/>
            </a:pPr>
            <a:r>
              <a:rPr lang="en-US" sz="3100" b="1" dirty="0">
                <a:solidFill>
                  <a:srgbClr val="0F172A"/>
                </a:solidFill>
                <a:latin typeface="Aptos Display" pitchFamily="34" charset="0"/>
                <a:ea typeface="Aptos Display" pitchFamily="34" charset="-122"/>
                <a:cs typeface="Aptos Display" pitchFamily="34" charset="-120"/>
              </a:rPr>
              <a:t>AI SECURITY</a:t>
            </a:r>
            <a:endParaRPr lang="en-US" sz="3100" dirty="0"/>
          </a:p>
          <a:p>
            <a:pPr marL="0" indent="0">
              <a:buNone/>
            </a:pPr>
            <a:r>
              <a:rPr lang="en-US" sz="3100" b="1" dirty="0">
                <a:solidFill>
                  <a:srgbClr val="0F172A"/>
                </a:solidFill>
                <a:latin typeface="Aptos Display" pitchFamily="34" charset="0"/>
                <a:ea typeface="Aptos Display" pitchFamily="34" charset="-122"/>
                <a:cs typeface="Aptos Display" pitchFamily="34" charset="-120"/>
              </a:rPr>
              <a:t>RED TEAM</a:t>
            </a:r>
            <a:endParaRPr lang="en-US" sz="3100" dirty="0"/>
          </a:p>
          <a:p>
            <a:pPr marL="0" indent="0">
              <a:buNone/>
            </a:pPr>
            <a:r>
              <a:rPr lang="en-US" sz="3100" b="1" dirty="0">
                <a:solidFill>
                  <a:srgbClr val="0F172A"/>
                </a:solidFill>
                <a:latin typeface="Aptos Display" pitchFamily="34" charset="0"/>
                <a:ea typeface="Aptos Display" pitchFamily="34" charset="-122"/>
                <a:cs typeface="Aptos Display" pitchFamily="34" charset="-120"/>
              </a:rPr>
              <a:t>ASSESSMENT</a:t>
            </a:r>
            <a:endParaRPr lang="en-US" sz="3100" dirty="0"/>
          </a:p>
        </p:txBody>
      </p:sp>
      <p:sp>
        <p:nvSpPr>
          <p:cNvPr id="18" name="Text 16"/>
          <p:cNvSpPr/>
          <p:nvPr/>
        </p:nvSpPr>
        <p:spPr>
          <a:xfrm>
            <a:off x="850392" y="3063240"/>
            <a:ext cx="5943600" cy="320040"/>
          </a:xfrm>
          <a:prstGeom prst="rect">
            <a:avLst/>
          </a:prstGeom>
          <a:noFill/>
        </p:spPr>
        <p:txBody>
          <a:bodyPr wrap="square" lIns="0" tIns="0" rIns="0" bIns="0" rtlCol="0" anchor="ctr"/>
          <a:lstStyle/>
          <a:p>
            <a:pPr marL="0" indent="0">
              <a:buNone/>
            </a:pPr>
            <a:r>
              <a:rPr lang="en-US" sz="1300" dirty="0">
                <a:solidFill>
                  <a:srgbClr val="0E7490"/>
                </a:solidFill>
                <a:latin typeface="Aptos" pitchFamily="34" charset="0"/>
                <a:ea typeface="Aptos" pitchFamily="34" charset="-122"/>
                <a:cs typeface="Aptos" pitchFamily="34" charset="-120"/>
              </a:rPr>
              <a:t>RedMnist • PyTorch • FastAPI • Docker</a:t>
            </a:r>
            <a:endParaRPr lang="en-US" sz="1300" dirty="0"/>
          </a:p>
        </p:txBody>
      </p:sp>
      <p:sp>
        <p:nvSpPr>
          <p:cNvPr id="19" name="Shape 17"/>
          <p:cNvSpPr/>
          <p:nvPr/>
        </p:nvSpPr>
        <p:spPr>
          <a:xfrm>
            <a:off x="841248" y="3675888"/>
            <a:ext cx="1463040" cy="292608"/>
          </a:xfrm>
          <a:prstGeom prst="roundRect">
            <a:avLst>
              <a:gd name="adj" fmla="val 25000"/>
            </a:avLst>
          </a:prstGeom>
          <a:solidFill>
            <a:srgbClr val="59D68C">
              <a:alpha val="14000"/>
            </a:srgbClr>
          </a:solidFill>
          <a:ln w="12700">
            <a:solidFill>
              <a:srgbClr val="15803D">
                <a:alpha val="0"/>
              </a:srgbClr>
            </a:solidFill>
            <a:prstDash val="solid"/>
          </a:ln>
        </p:spPr>
        <p:txBody>
          <a:bodyPr/>
          <a:p/>
        </p:txBody>
      </p:sp>
      <p:sp>
        <p:nvSpPr>
          <p:cNvPr id="20" name="Text 18"/>
          <p:cNvSpPr/>
          <p:nvPr/>
        </p:nvSpPr>
        <p:spPr>
          <a:xfrm>
            <a:off x="914400" y="3726180"/>
            <a:ext cx="1316736" cy="146304"/>
          </a:xfrm>
          <a:prstGeom prst="rect">
            <a:avLst/>
          </a:prstGeom>
          <a:noFill/>
        </p:spPr>
        <p:txBody>
          <a:bodyPr wrap="square" lIns="0" tIns="0" rIns="0" bIns="0" rtlCol="0" anchor="ctr">
            <a:normAutofit/>
          </a:bodyPr>
          <a:lstStyle/>
          <a:p>
            <a:pPr marL="0" indent="0" algn="ctr">
              <a:buNone/>
            </a:pPr>
            <a:r>
              <a:rPr lang="en-US" sz="850" b="1" dirty="0">
                <a:solidFill>
                  <a:srgbClr val="15803D"/>
                </a:solidFill>
                <a:latin typeface="Aptos" pitchFamily="34" charset="0"/>
                <a:ea typeface="Aptos" pitchFamily="34" charset="-122"/>
                <a:cs typeface="Aptos" pitchFamily="34" charset="-120"/>
              </a:rPr>
              <a:t>LOCAL ONLY</a:t>
            </a:r>
            <a:endParaRPr lang="en-US" sz="850" dirty="0"/>
          </a:p>
        </p:txBody>
      </p:sp>
      <p:sp>
        <p:nvSpPr>
          <p:cNvPr id="21" name="Shape 19"/>
          <p:cNvSpPr/>
          <p:nvPr/>
        </p:nvSpPr>
        <p:spPr>
          <a:xfrm>
            <a:off x="2395728" y="3675888"/>
            <a:ext cx="1554480" cy="292608"/>
          </a:xfrm>
          <a:prstGeom prst="roundRect">
            <a:avLst>
              <a:gd name="adj" fmla="val 25000"/>
            </a:avLst>
          </a:prstGeom>
          <a:solidFill>
            <a:srgbClr val="8A7CFF">
              <a:alpha val="14000"/>
            </a:srgbClr>
          </a:solidFill>
          <a:ln w="12700">
            <a:solidFill>
              <a:srgbClr val="6D28D9">
                <a:alpha val="0"/>
              </a:srgbClr>
            </a:solidFill>
            <a:prstDash val="solid"/>
          </a:ln>
        </p:spPr>
        <p:txBody>
          <a:bodyPr/>
          <a:p/>
        </p:txBody>
      </p:sp>
      <p:sp>
        <p:nvSpPr>
          <p:cNvPr id="22" name="Text 20"/>
          <p:cNvSpPr/>
          <p:nvPr/>
        </p:nvSpPr>
        <p:spPr>
          <a:xfrm>
            <a:off x="2468880" y="3726180"/>
            <a:ext cx="1408176" cy="146304"/>
          </a:xfrm>
          <a:prstGeom prst="rect">
            <a:avLst/>
          </a:prstGeom>
          <a:noFill/>
        </p:spPr>
        <p:txBody>
          <a:bodyPr wrap="square" lIns="0" tIns="0" rIns="0" bIns="0" rtlCol="0" anchor="ctr">
            <a:normAutofit/>
          </a:bodyPr>
          <a:lstStyle/>
          <a:p>
            <a:pPr marL="0" indent="0" algn="ctr">
              <a:buNone/>
            </a:pPr>
            <a:r>
              <a:rPr lang="en-US" sz="850" b="1" dirty="0">
                <a:solidFill>
                  <a:srgbClr val="6D28D9"/>
                </a:solidFill>
                <a:latin typeface="Aptos" pitchFamily="34" charset="0"/>
                <a:ea typeface="Aptos" pitchFamily="34" charset="-122"/>
                <a:cs typeface="Aptos" pitchFamily="34" charset="-120"/>
              </a:rPr>
              <a:t>WHITE-BOX TEST</a:t>
            </a:r>
            <a:endParaRPr lang="en-US" sz="850" dirty="0"/>
          </a:p>
        </p:txBody>
      </p:sp>
      <p:sp>
        <p:nvSpPr>
          <p:cNvPr id="23" name="Shape 21"/>
          <p:cNvSpPr/>
          <p:nvPr/>
        </p:nvSpPr>
        <p:spPr>
          <a:xfrm>
            <a:off x="4059936" y="3675888"/>
            <a:ext cx="1463040" cy="292608"/>
          </a:xfrm>
          <a:prstGeom prst="roundRect">
            <a:avLst>
              <a:gd name="adj" fmla="val 25000"/>
            </a:avLst>
          </a:prstGeom>
          <a:solidFill>
            <a:srgbClr val="FFC857">
              <a:alpha val="14000"/>
            </a:srgbClr>
          </a:solidFill>
          <a:ln w="12700">
            <a:solidFill>
              <a:srgbClr val="A16207">
                <a:alpha val="0"/>
              </a:srgbClr>
            </a:solidFill>
            <a:prstDash val="solid"/>
          </a:ln>
        </p:spPr>
        <p:txBody>
          <a:bodyPr/>
          <a:p/>
        </p:txBody>
      </p:sp>
      <p:sp>
        <p:nvSpPr>
          <p:cNvPr id="24" name="Text 22"/>
          <p:cNvSpPr/>
          <p:nvPr/>
        </p:nvSpPr>
        <p:spPr>
          <a:xfrm>
            <a:off x="4133088" y="3726180"/>
            <a:ext cx="1316736" cy="146304"/>
          </a:xfrm>
          <a:prstGeom prst="rect">
            <a:avLst/>
          </a:prstGeom>
          <a:noFill/>
        </p:spPr>
        <p:txBody>
          <a:bodyPr wrap="square" lIns="0" tIns="0" rIns="0" bIns="0" rtlCol="0" anchor="ctr">
            <a:normAutofit/>
          </a:bodyPr>
          <a:lstStyle/>
          <a:p>
            <a:pPr marL="0" indent="0" algn="ctr">
              <a:buNone/>
            </a:pPr>
            <a:r>
              <a:rPr lang="en-US" sz="850" b="1" dirty="0">
                <a:solidFill>
                  <a:srgbClr val="A16207"/>
                </a:solidFill>
                <a:latin typeface="Aptos" pitchFamily="34" charset="0"/>
                <a:ea typeface="Aptos" pitchFamily="34" charset="-122"/>
                <a:cs typeface="Aptos" pitchFamily="34" charset="-120"/>
              </a:rPr>
              <a:t>7-DAY TASK</a:t>
            </a:r>
            <a:endParaRPr lang="en-US" sz="850" dirty="0"/>
          </a:p>
        </p:txBody>
      </p:sp>
      <p:sp>
        <p:nvSpPr>
          <p:cNvPr id="25" name="Shape 23"/>
          <p:cNvSpPr/>
          <p:nvPr/>
        </p:nvSpPr>
        <p:spPr>
          <a:xfrm>
            <a:off x="7498080" y="868680"/>
            <a:ext cx="3886200" cy="4754880"/>
          </a:xfrm>
          <a:prstGeom prst="roundRect">
            <a:avLst>
              <a:gd name="adj" fmla="val 1882"/>
            </a:avLst>
          </a:prstGeom>
          <a:solidFill>
            <a:srgbClr val="F8FAFC"/>
          </a:solidFill>
          <a:ln w="12700">
            <a:solidFill>
              <a:srgbClr val="E2E8F0">
                <a:alpha val="90000"/>
              </a:srgbClr>
            </a:solidFill>
            <a:prstDash val="solid"/>
          </a:ln>
        </p:spPr>
        <p:txBody>
          <a:bodyPr/>
          <a:p/>
        </p:txBody>
      </p:sp>
      <p:sp>
        <p:nvSpPr>
          <p:cNvPr id="26" name="Text 24"/>
          <p:cNvSpPr/>
          <p:nvPr/>
        </p:nvSpPr>
        <p:spPr>
          <a:xfrm>
            <a:off x="8229600" y="1417320"/>
            <a:ext cx="2423160" cy="1783080"/>
          </a:xfrm>
          <a:prstGeom prst="rect">
            <a:avLst/>
          </a:prstGeom>
          <a:noFill/>
        </p:spPr>
        <p:txBody>
          <a:bodyPr wrap="square" lIns="0" tIns="0" rIns="0" bIns="0" rtlCol="0" anchor="ctr"/>
          <a:lstStyle/>
          <a:p>
            <a:pPr marL="0" indent="0" algn="ctr">
              <a:buNone/>
            </a:pPr>
            <a:r>
              <a:rPr lang="en-US" sz="12000" b="1" dirty="0">
                <a:solidFill>
                  <a:srgbClr val="0E7490"/>
                </a:solidFill>
                <a:latin typeface="Aptos Display" pitchFamily="34" charset="0"/>
                <a:ea typeface="Aptos Display" pitchFamily="34" charset="-122"/>
                <a:cs typeface="Aptos Display" pitchFamily="34" charset="-120"/>
              </a:rPr>
              <a:t>7</a:t>
            </a:r>
            <a:endParaRPr lang="en-US" sz="12000" dirty="0"/>
          </a:p>
        </p:txBody>
      </p:sp>
      <p:sp>
        <p:nvSpPr>
          <p:cNvPr id="27" name="Text 25"/>
          <p:cNvSpPr/>
          <p:nvPr/>
        </p:nvSpPr>
        <p:spPr>
          <a:xfrm>
            <a:off x="8915400" y="3127248"/>
            <a:ext cx="1097280" cy="201168"/>
          </a:xfrm>
          <a:prstGeom prst="rect">
            <a:avLst/>
          </a:prstGeom>
          <a:noFill/>
        </p:spPr>
        <p:txBody>
          <a:bodyPr wrap="square" lIns="0" tIns="0" rIns="0" bIns="0" rtlCol="0" anchor="ctr"/>
          <a:lstStyle/>
          <a:p>
            <a:pPr marL="0" indent="0" algn="ctr">
              <a:buNone/>
            </a:pPr>
            <a:r>
              <a:rPr lang="en-US" sz="900" dirty="0">
                <a:solidFill>
                  <a:srgbClr val="64748B"/>
                </a:solidFill>
                <a:latin typeface="Aptos" pitchFamily="34" charset="0"/>
                <a:ea typeface="Aptos" pitchFamily="34" charset="-122"/>
                <a:cs typeface="Aptos" pitchFamily="34" charset="-120"/>
              </a:rPr>
              <a:t>clean input</a:t>
            </a:r>
            <a:endParaRPr lang="en-US" sz="900" dirty="0"/>
          </a:p>
        </p:txBody>
      </p:sp>
      <p:sp>
        <p:nvSpPr>
          <p:cNvPr id="28" name="Shape 26"/>
          <p:cNvSpPr/>
          <p:nvPr/>
        </p:nvSpPr>
        <p:spPr>
          <a:xfrm>
            <a:off x="8549640" y="3730752"/>
            <a:ext cx="1234440" cy="0"/>
          </a:xfrm>
          <a:prstGeom prst="line">
            <a:avLst/>
          </a:prstGeom>
          <a:noFill/>
          <a:ln w="25400">
            <a:solidFill>
              <a:srgbClr val="0E7490"/>
            </a:solidFill>
            <a:prstDash val="solid"/>
            <a:headEnd type="none"/>
            <a:tailEnd type="triangle"/>
          </a:ln>
        </p:spPr>
        <p:txBody>
          <a:bodyPr/>
          <a:p/>
        </p:txBody>
      </p:sp>
      <p:sp>
        <p:nvSpPr>
          <p:cNvPr id="29" name="Shape 27"/>
          <p:cNvSpPr/>
          <p:nvPr/>
        </p:nvSpPr>
        <p:spPr>
          <a:xfrm>
            <a:off x="8284464" y="4160520"/>
            <a:ext cx="914400" cy="914400"/>
          </a:xfrm>
          <a:prstGeom prst="ellipse">
            <a:avLst/>
          </a:prstGeom>
          <a:solidFill>
            <a:srgbClr val="F1F5F9"/>
          </a:solidFill>
          <a:ln w="25400">
            <a:solidFill>
              <a:srgbClr val="B91C1C"/>
            </a:solidFill>
            <a:prstDash val="solid"/>
          </a:ln>
        </p:spPr>
        <p:txBody>
          <a:bodyPr/>
          <a:p/>
        </p:txBody>
      </p:sp>
      <p:sp>
        <p:nvSpPr>
          <p:cNvPr id="30" name="Text 28"/>
          <p:cNvSpPr/>
          <p:nvPr/>
        </p:nvSpPr>
        <p:spPr>
          <a:xfrm>
            <a:off x="8284464" y="4279392"/>
            <a:ext cx="914400" cy="502920"/>
          </a:xfrm>
          <a:prstGeom prst="rect">
            <a:avLst/>
          </a:prstGeom>
          <a:noFill/>
        </p:spPr>
        <p:txBody>
          <a:bodyPr wrap="square" lIns="0" tIns="0" rIns="0" bIns="0" rtlCol="0" anchor="ctr"/>
          <a:lstStyle/>
          <a:p>
            <a:pPr marL="0" indent="0" algn="ctr">
              <a:buNone/>
            </a:pPr>
            <a:r>
              <a:rPr lang="en-US" sz="3100" b="1" dirty="0">
                <a:solidFill>
                  <a:srgbClr val="B91C1C"/>
                </a:solidFill>
                <a:latin typeface="Aptos Display" pitchFamily="34" charset="0"/>
                <a:ea typeface="Aptos Display" pitchFamily="34" charset="-122"/>
                <a:cs typeface="Aptos Display" pitchFamily="34" charset="-120"/>
              </a:rPr>
              <a:t>2</a:t>
            </a:r>
            <a:endParaRPr lang="en-US" sz="3100" dirty="0"/>
          </a:p>
        </p:txBody>
      </p:sp>
      <p:sp>
        <p:nvSpPr>
          <p:cNvPr id="31" name="Text 29"/>
          <p:cNvSpPr/>
          <p:nvPr/>
        </p:nvSpPr>
        <p:spPr>
          <a:xfrm>
            <a:off x="8229600" y="5166360"/>
            <a:ext cx="1051560" cy="201168"/>
          </a:xfrm>
          <a:prstGeom prst="rect">
            <a:avLst/>
          </a:prstGeom>
          <a:noFill/>
        </p:spPr>
        <p:txBody>
          <a:bodyPr wrap="square" lIns="0" tIns="0" rIns="0" bIns="0" rtlCol="0" anchor="ctr"/>
          <a:lstStyle/>
          <a:p>
            <a:pPr marL="0" indent="0" algn="ctr">
              <a:buNone/>
            </a:pPr>
            <a:r>
              <a:rPr lang="en-US" sz="850" dirty="0">
                <a:solidFill>
                  <a:srgbClr val="64748B"/>
                </a:solidFill>
                <a:latin typeface="Aptos" pitchFamily="34" charset="0"/>
                <a:ea typeface="Aptos" pitchFamily="34" charset="-122"/>
                <a:cs typeface="Aptos" pitchFamily="34" charset="-120"/>
              </a:rPr>
              <a:t>FGSM result</a:t>
            </a:r>
            <a:endParaRPr lang="en-US" sz="850" dirty="0"/>
          </a:p>
        </p:txBody>
      </p:sp>
      <p:sp>
        <p:nvSpPr>
          <p:cNvPr id="32" name="Shape 30"/>
          <p:cNvSpPr/>
          <p:nvPr/>
        </p:nvSpPr>
        <p:spPr>
          <a:xfrm>
            <a:off x="10195560" y="4160520"/>
            <a:ext cx="914400" cy="914400"/>
          </a:xfrm>
          <a:prstGeom prst="ellipse">
            <a:avLst/>
          </a:prstGeom>
          <a:solidFill>
            <a:srgbClr val="F1F5F9"/>
          </a:solidFill>
          <a:ln w="25400">
            <a:solidFill>
              <a:srgbClr val="A16207"/>
            </a:solidFill>
            <a:prstDash val="solid"/>
          </a:ln>
        </p:spPr>
        <p:txBody>
          <a:bodyPr/>
          <a:p/>
        </p:txBody>
      </p:sp>
      <p:sp>
        <p:nvSpPr>
          <p:cNvPr id="33" name="Text 31"/>
          <p:cNvSpPr/>
          <p:nvPr/>
        </p:nvSpPr>
        <p:spPr>
          <a:xfrm>
            <a:off x="10195560" y="4279392"/>
            <a:ext cx="914400" cy="502920"/>
          </a:xfrm>
          <a:prstGeom prst="rect">
            <a:avLst/>
          </a:prstGeom>
          <a:noFill/>
        </p:spPr>
        <p:txBody>
          <a:bodyPr wrap="square" lIns="0" tIns="0" rIns="0" bIns="0" rtlCol="0" anchor="ctr"/>
          <a:lstStyle/>
          <a:p>
            <a:pPr marL="0" indent="0" algn="ctr">
              <a:buNone/>
            </a:pPr>
            <a:r>
              <a:rPr lang="en-US" sz="3100" b="1" dirty="0">
                <a:solidFill>
                  <a:srgbClr val="A16207"/>
                </a:solidFill>
                <a:latin typeface="Aptos Display" pitchFamily="34" charset="0"/>
                <a:ea typeface="Aptos Display" pitchFamily="34" charset="-122"/>
                <a:cs typeface="Aptos Display" pitchFamily="34" charset="-120"/>
              </a:rPr>
              <a:t>3</a:t>
            </a:r>
            <a:endParaRPr lang="en-US" sz="3100" dirty="0"/>
          </a:p>
        </p:txBody>
      </p:sp>
      <p:sp>
        <p:nvSpPr>
          <p:cNvPr id="34" name="Text 32"/>
          <p:cNvSpPr/>
          <p:nvPr/>
        </p:nvSpPr>
        <p:spPr>
          <a:xfrm>
            <a:off x="10131552" y="5166360"/>
            <a:ext cx="1051560" cy="201168"/>
          </a:xfrm>
          <a:prstGeom prst="rect">
            <a:avLst/>
          </a:prstGeom>
          <a:noFill/>
        </p:spPr>
        <p:txBody>
          <a:bodyPr wrap="square" lIns="0" tIns="0" rIns="0" bIns="0" rtlCol="0" anchor="ctr"/>
          <a:lstStyle/>
          <a:p>
            <a:pPr marL="0" indent="0" algn="ctr">
              <a:buNone/>
            </a:pPr>
            <a:r>
              <a:rPr lang="en-US" sz="850" dirty="0">
                <a:solidFill>
                  <a:srgbClr val="64748B"/>
                </a:solidFill>
                <a:latin typeface="Aptos" pitchFamily="34" charset="0"/>
                <a:ea typeface="Aptos" pitchFamily="34" charset="-122"/>
                <a:cs typeface="Aptos" pitchFamily="34" charset="-120"/>
              </a:rPr>
              <a:t>PGD result</a:t>
            </a:r>
            <a:endParaRPr lang="en-US" sz="850" dirty="0"/>
          </a:p>
        </p:txBody>
      </p:sp>
      <p:sp>
        <p:nvSpPr>
          <p:cNvPr id="35" name="Text 33"/>
          <p:cNvSpPr/>
          <p:nvPr/>
        </p:nvSpPr>
        <p:spPr>
          <a:xfrm>
            <a:off x="850392" y="5989320"/>
            <a:ext cx="4114800" cy="274320"/>
          </a:xfrm>
          <a:prstGeom prst="rect">
            <a:avLst/>
          </a:prstGeom>
          <a:noFill/>
        </p:spPr>
        <p:txBody>
          <a:bodyPr wrap="square" lIns="0" tIns="0" rIns="0" bIns="0" rtlCol="0" anchor="ctr"/>
          <a:lstStyle/>
          <a:p>
            <a:r>
              <a:rPr b="1">
                <a:solidFill>
                  <a:srgbClr val="64748B"/>
                </a:solidFill>
              </a:rPr>
              <a:t>Presented by: Eldana Kibru</a:t>
            </a:r>
            <a:endParaRPr b="1">
              <a:solidFill>
                <a:srgbClr val="64748B"/>
              </a:solidFill>
            </a:endParaRPr>
          </a:p>
        </p:txBody>
      </p:sp>
      <p:sp>
        <p:nvSpPr>
          <p:cNvPr id="36" name="Text 34"/>
          <p:cNvSpPr/>
          <p:nvPr/>
        </p:nvSpPr>
        <p:spPr>
          <a:xfrm>
            <a:off x="8275320" y="5989320"/>
            <a:ext cx="2880360" cy="274320"/>
          </a:xfrm>
          <a:prstGeom prst="rect">
            <a:avLst/>
          </a:prstGeom>
          <a:noFill/>
        </p:spPr>
        <p:txBody>
          <a:bodyPr wrap="square" lIns="0" tIns="0" rIns="0" bIns="0" rtlCol="0" anchor="ctr"/>
          <a:lstStyle/>
          <a:p>
            <a:r>
              <a:rPr b="1"/>
              <a:t>PROJECT: AI SECURITY RED TEAM ASSESSMENT</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320040"/>
            <a:ext cx="11365992" cy="0"/>
          </a:xfrm>
          <a:prstGeom prst="line">
            <a:avLst/>
          </a:prstGeom>
          <a:noFill/>
          <a:ln w="12700">
            <a:solidFill>
              <a:srgbClr val="E2E8F0"/>
            </a:solidFill>
            <a:prstDash val="solid"/>
          </a:ln>
        </p:spPr>
        <p:txBody>
          <a:bodyPr/>
          <a:p/>
        </p:txBody>
      </p:sp>
      <p:sp>
        <p:nvSpPr>
          <p:cNvPr id="3" name="Shape 1"/>
          <p:cNvSpPr/>
          <p:nvPr/>
        </p:nvSpPr>
        <p:spPr>
          <a:xfrm>
            <a:off x="411480" y="6492240"/>
            <a:ext cx="11365992" cy="0"/>
          </a:xfrm>
          <a:prstGeom prst="line">
            <a:avLst/>
          </a:prstGeom>
          <a:noFill/>
          <a:ln w="12700">
            <a:solidFill>
              <a:srgbClr val="E2E8F0"/>
            </a:solidFill>
            <a:prstDash val="solid"/>
          </a:ln>
        </p:spPr>
        <p:txBody>
          <a:bodyPr/>
          <a:p/>
        </p:txBody>
      </p:sp>
      <p:sp>
        <p:nvSpPr>
          <p:cNvPr id="4" name="Shape 2"/>
          <p:cNvSpPr/>
          <p:nvPr/>
        </p:nvSpPr>
        <p:spPr>
          <a:xfrm rot="1080000">
            <a:off x="10744200" y="-640080"/>
            <a:ext cx="1920240" cy="1920240"/>
          </a:xfrm>
          <a:prstGeom prst="arc">
            <a:avLst/>
          </a:prstGeom>
          <a:solidFill>
            <a:srgbClr val="FFFFFF">
              <a:alpha val="0"/>
            </a:srgbClr>
          </a:solidFill>
          <a:ln w="12700">
            <a:solidFill>
              <a:srgbClr val="E2E8F0">
                <a:alpha val="55000"/>
              </a:srgbClr>
            </a:solidFill>
            <a:prstDash val="solid"/>
          </a:ln>
        </p:spPr>
        <p:txBody>
          <a:bodyPr/>
          <a:p/>
        </p:txBody>
      </p:sp>
      <p:sp>
        <p:nvSpPr>
          <p:cNvPr id="5" name="Text 3"/>
          <p:cNvSpPr/>
          <p:nvPr/>
        </p:nvSpPr>
        <p:spPr>
          <a:xfrm>
            <a:off x="502920" y="73152"/>
            <a:ext cx="3840480" cy="182880"/>
          </a:xfrm>
          <a:prstGeom prst="rect">
            <a:avLst/>
          </a:prstGeom>
          <a:noFill/>
        </p:spPr>
        <p:txBody>
          <a:bodyPr wrap="square" lIns="0" tIns="0" rIns="0" bIns="0" rtlCol="0" anchor="ctr"/>
          <a:lstStyle/>
          <a:p>
            <a:pPr marL="0" indent="0">
              <a:buNone/>
            </a:pPr>
            <a:r>
              <a:rPr lang="en-US" sz="900" b="1" kern="0" spc="140" dirty="0">
                <a:solidFill>
                  <a:srgbClr val="0E7490"/>
                </a:solidFill>
                <a:latin typeface="Aptos" pitchFamily="34" charset="0"/>
                <a:ea typeface="Aptos" pitchFamily="34" charset="-122"/>
                <a:cs typeface="Aptos" pitchFamily="34" charset="-120"/>
              </a:rPr>
              <a:t>OBJECTIVE</a:t>
            </a:r>
            <a:endParaRPr lang="en-US" sz="900" dirty="0"/>
          </a:p>
        </p:txBody>
      </p:sp>
      <p:sp>
        <p:nvSpPr>
          <p:cNvPr id="6" name="Text 4"/>
          <p:cNvSpPr/>
          <p:nvPr/>
        </p:nvSpPr>
        <p:spPr>
          <a:xfrm>
            <a:off x="502920" y="530352"/>
            <a:ext cx="10561320" cy="502920"/>
          </a:xfrm>
          <a:prstGeom prst="rect">
            <a:avLst/>
          </a:prstGeom>
          <a:noFill/>
        </p:spPr>
        <p:txBody>
          <a:bodyPr wrap="square" lIns="0" tIns="0" rIns="0" bIns="0" rtlCol="0" anchor="ctr">
            <a:normAutofit/>
          </a:bodyP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01 • Project Objective</a:t>
            </a:r>
            <a:endParaRPr lang="en-US" sz="2500" dirty="0"/>
          </a:p>
        </p:txBody>
      </p:sp>
      <p:sp>
        <p:nvSpPr>
          <p:cNvPr id="7" name="Text 5"/>
          <p:cNvSpPr/>
          <p:nvPr/>
        </p:nvSpPr>
        <p:spPr>
          <a:xfrm>
            <a:off x="530352" y="1060704"/>
            <a:ext cx="10332720" cy="347472"/>
          </a:xfrm>
          <a:prstGeom prst="rect">
            <a:avLst/>
          </a:prstGeom>
          <a:noFill/>
        </p:spPr>
        <p:txBody>
          <a:bodyPr wrap="square" lIns="0" tIns="0" rIns="0" bIns="0" rtlCol="0" anchor="ctr">
            <a:normAutofit/>
          </a:bodyPr>
          <a:lstStyle/>
          <a:p>
            <a:pPr marL="0" indent="0">
              <a:buNone/>
            </a:pPr>
            <a:r>
              <a:rPr lang="en-US" sz="1150" dirty="0">
                <a:solidFill>
                  <a:srgbClr val="64748B"/>
                </a:solidFill>
                <a:latin typeface="Aptos" pitchFamily="34" charset="0"/>
                <a:ea typeface="Aptos" pitchFamily="34" charset="-122"/>
                <a:cs typeface="Aptos" pitchFamily="34" charset="-120"/>
              </a:rPr>
              <a:t>Find concrete weaknesses, prove them with local evidence, then reduce the risk.</a:t>
            </a:r>
            <a:endParaRPr lang="en-US" sz="1150" dirty="0"/>
          </a:p>
        </p:txBody>
      </p:sp>
      <p:sp>
        <p:nvSpPr>
          <p:cNvPr id="8" name="Shape 6"/>
          <p:cNvSpPr/>
          <p:nvPr/>
        </p:nvSpPr>
        <p:spPr>
          <a:xfrm>
            <a:off x="530352" y="1600200"/>
            <a:ext cx="6537960" cy="4389120"/>
          </a:xfrm>
          <a:prstGeom prst="roundRect">
            <a:avLst>
              <a:gd name="adj" fmla="val 1667"/>
            </a:avLst>
          </a:prstGeom>
          <a:solidFill>
            <a:srgbClr val="F8FAFC"/>
          </a:solidFill>
          <a:ln w="12700">
            <a:solidFill>
              <a:srgbClr val="E2E8F0">
                <a:alpha val="90000"/>
              </a:srgbClr>
            </a:solidFill>
            <a:prstDash val="solid"/>
          </a:ln>
        </p:spPr>
        <p:txBody>
          <a:bodyPr/>
          <a:p/>
        </p:txBody>
      </p:sp>
      <p:sp>
        <p:nvSpPr>
          <p:cNvPr id="9" name="Shape 7"/>
          <p:cNvSpPr/>
          <p:nvPr/>
        </p:nvSpPr>
        <p:spPr>
          <a:xfrm>
            <a:off x="749808" y="1847088"/>
            <a:ext cx="45720" cy="274320"/>
          </a:xfrm>
          <a:prstGeom prst="rect">
            <a:avLst/>
          </a:prstGeom>
          <a:solidFill>
            <a:srgbClr val="56E0FF"/>
          </a:solidFill>
          <a:ln w="12700">
            <a:solidFill>
              <a:srgbClr val="0E7490"/>
            </a:solidFill>
            <a:prstDash val="solid"/>
          </a:ln>
        </p:spPr>
        <p:txBody>
          <a:bodyPr/>
          <a:p/>
        </p:txBody>
      </p:sp>
      <p:sp>
        <p:nvSpPr>
          <p:cNvPr id="10" name="Text 8"/>
          <p:cNvSpPr/>
          <p:nvPr/>
        </p:nvSpPr>
        <p:spPr>
          <a:xfrm>
            <a:off x="877824" y="1842516"/>
            <a:ext cx="5952744" cy="274320"/>
          </a:xfrm>
          <a:prstGeom prst="rect">
            <a:avLst/>
          </a:prstGeom>
          <a:noFill/>
        </p:spPr>
        <p:txBody>
          <a:bodyPr wrap="square" lIns="0" tIns="0" rIns="0" bIns="0" rtlCol="0" anchor="ctr">
            <a:normAutofit/>
          </a:bodyPr>
          <a:lstStyle/>
          <a:p>
            <a:pPr marL="0" indent="0">
              <a:buNone/>
            </a:pPr>
            <a:r>
              <a:rPr lang="en-US" sz="1250" b="1" dirty="0">
                <a:solidFill>
                  <a:srgbClr val="0F172A"/>
                </a:solidFill>
                <a:latin typeface="Aptos" pitchFamily="34" charset="0"/>
                <a:ea typeface="Aptos" pitchFamily="34" charset="-122"/>
                <a:cs typeface="Aptos" pitchFamily="34" charset="-120"/>
              </a:rPr>
              <a:t>Objectives</a:t>
            </a:r>
            <a:endParaRPr lang="en-US" sz="1250" dirty="0"/>
          </a:p>
        </p:txBody>
      </p:sp>
      <p:sp>
        <p:nvSpPr>
          <p:cNvPr id="11" name="Shape 9"/>
          <p:cNvSpPr/>
          <p:nvPr/>
        </p:nvSpPr>
        <p:spPr>
          <a:xfrm>
            <a:off x="749808" y="2432304"/>
            <a:ext cx="68580" cy="68580"/>
          </a:xfrm>
          <a:prstGeom prst="ellipse">
            <a:avLst/>
          </a:prstGeom>
          <a:solidFill>
            <a:srgbClr val="56E0FF"/>
          </a:solidFill>
          <a:ln w="12700">
            <a:solidFill>
              <a:srgbClr val="0E7490"/>
            </a:solidFill>
            <a:prstDash val="solid"/>
          </a:ln>
        </p:spPr>
        <p:txBody>
          <a:bodyPr/>
          <a:p/>
        </p:txBody>
      </p:sp>
      <p:sp>
        <p:nvSpPr>
          <p:cNvPr id="12" name="Text 10"/>
          <p:cNvSpPr/>
          <p:nvPr/>
        </p:nvSpPr>
        <p:spPr>
          <a:xfrm>
            <a:off x="896112" y="2331720"/>
            <a:ext cx="5568696" cy="384048"/>
          </a:xfrm>
          <a:prstGeom prst="rect">
            <a:avLst/>
          </a:prstGeom>
          <a:noFill/>
        </p:spPr>
        <p:txBody>
          <a:bodyPr wrap="square" lIns="0" tIns="0" rIns="0" bIns="0" rtlCol="0" anchor="ctr">
            <a:normAutofit/>
          </a:bodyPr>
          <a:lstStyle/>
          <a:p>
            <a:pPr marL="0" indent="0">
              <a:buNone/>
            </a:pPr>
            <a:r>
              <a:rPr lang="en-US" altLang="en-GB" sz="1150" dirty="0"/>
              <a:t>Verify the model and establish a reliable performance baseline.</a:t>
            </a:r>
            <a:endParaRPr lang="en-US" altLang="en-GB" sz="1150" dirty="0"/>
          </a:p>
        </p:txBody>
      </p:sp>
      <p:sp>
        <p:nvSpPr>
          <p:cNvPr id="13" name="Shape 11"/>
          <p:cNvSpPr/>
          <p:nvPr/>
        </p:nvSpPr>
        <p:spPr>
          <a:xfrm>
            <a:off x="749808" y="3008376"/>
            <a:ext cx="68580" cy="68580"/>
          </a:xfrm>
          <a:prstGeom prst="ellipse">
            <a:avLst/>
          </a:prstGeom>
          <a:solidFill>
            <a:srgbClr val="56E0FF"/>
          </a:solidFill>
          <a:ln w="12700">
            <a:solidFill>
              <a:srgbClr val="0E7490"/>
            </a:solidFill>
            <a:prstDash val="solid"/>
          </a:ln>
        </p:spPr>
        <p:txBody>
          <a:bodyPr/>
          <a:p/>
        </p:txBody>
      </p:sp>
      <p:sp>
        <p:nvSpPr>
          <p:cNvPr id="14" name="Text 12"/>
          <p:cNvSpPr/>
          <p:nvPr/>
        </p:nvSpPr>
        <p:spPr>
          <a:xfrm>
            <a:off x="896112" y="2907792"/>
            <a:ext cx="5568696" cy="384048"/>
          </a:xfrm>
          <a:prstGeom prst="rect">
            <a:avLst/>
          </a:prstGeom>
          <a:noFill/>
        </p:spPr>
        <p:txBody>
          <a:bodyPr wrap="square" lIns="0" tIns="0" rIns="0" bIns="0" rtlCol="0" anchor="ctr">
            <a:normAutofit/>
          </a:bodyPr>
          <a:lstStyle/>
          <a:p>
            <a:pPr marL="0" indent="0">
              <a:buNone/>
            </a:pPr>
            <a:r>
              <a:rPr lang="en-US" altLang="en-GB" sz="1150" dirty="0"/>
              <a:t>Test the model using successful adversarial attacks.</a:t>
            </a:r>
            <a:endParaRPr lang="en-US" altLang="en-GB" sz="1150" dirty="0"/>
          </a:p>
        </p:txBody>
      </p:sp>
      <p:sp>
        <p:nvSpPr>
          <p:cNvPr id="15" name="Shape 13"/>
          <p:cNvSpPr/>
          <p:nvPr/>
        </p:nvSpPr>
        <p:spPr>
          <a:xfrm>
            <a:off x="749808" y="3584448"/>
            <a:ext cx="68580" cy="68580"/>
          </a:xfrm>
          <a:prstGeom prst="ellipse">
            <a:avLst/>
          </a:prstGeom>
          <a:solidFill>
            <a:srgbClr val="56E0FF"/>
          </a:solidFill>
          <a:ln w="12700">
            <a:solidFill>
              <a:srgbClr val="0E7490"/>
            </a:solidFill>
            <a:prstDash val="solid"/>
          </a:ln>
        </p:spPr>
        <p:txBody>
          <a:bodyPr/>
          <a:p/>
        </p:txBody>
      </p:sp>
      <p:sp>
        <p:nvSpPr>
          <p:cNvPr id="16" name="Text 14"/>
          <p:cNvSpPr/>
          <p:nvPr/>
        </p:nvSpPr>
        <p:spPr>
          <a:xfrm>
            <a:off x="896112" y="3483864"/>
            <a:ext cx="5568696" cy="384048"/>
          </a:xfrm>
          <a:prstGeom prst="rect">
            <a:avLst/>
          </a:prstGeom>
          <a:noFill/>
        </p:spPr>
        <p:txBody>
          <a:bodyPr wrap="square" lIns="0" tIns="0" rIns="0" bIns="0" rtlCol="0" anchor="ctr">
            <a:normAutofit/>
          </a:bodyPr>
          <a:lstStyle/>
          <a:p>
            <a:pPr marL="0" indent="0">
              <a:buNone/>
            </a:pPr>
            <a:r>
              <a:rPr lang="en-US" altLang="en-GB" sz="1150" dirty="0"/>
              <a:t>Identify security weaknesses in the FastAPI and Docker pipeline.</a:t>
            </a:r>
            <a:endParaRPr lang="en-US" altLang="en-GB" sz="1150" dirty="0"/>
          </a:p>
        </p:txBody>
      </p:sp>
      <p:sp>
        <p:nvSpPr>
          <p:cNvPr id="17" name="Shape 15"/>
          <p:cNvSpPr/>
          <p:nvPr/>
        </p:nvSpPr>
        <p:spPr>
          <a:xfrm>
            <a:off x="749808" y="4160520"/>
            <a:ext cx="68580" cy="68580"/>
          </a:xfrm>
          <a:prstGeom prst="ellipse">
            <a:avLst/>
          </a:prstGeom>
          <a:solidFill>
            <a:srgbClr val="56E0FF"/>
          </a:solidFill>
          <a:ln w="12700">
            <a:solidFill>
              <a:srgbClr val="0E7490"/>
            </a:solidFill>
            <a:prstDash val="solid"/>
          </a:ln>
        </p:spPr>
        <p:txBody>
          <a:bodyPr/>
          <a:p/>
        </p:txBody>
      </p:sp>
      <p:sp>
        <p:nvSpPr>
          <p:cNvPr id="18" name="Text 16"/>
          <p:cNvSpPr/>
          <p:nvPr/>
        </p:nvSpPr>
        <p:spPr>
          <a:xfrm>
            <a:off x="896112" y="4059936"/>
            <a:ext cx="5568696" cy="384048"/>
          </a:xfrm>
          <a:prstGeom prst="rect">
            <a:avLst/>
          </a:prstGeom>
          <a:noFill/>
        </p:spPr>
        <p:txBody>
          <a:bodyPr wrap="square" lIns="0" tIns="0" rIns="0" bIns="0" rtlCol="0" anchor="ctr">
            <a:normAutofit/>
          </a:bodyPr>
          <a:lstStyle/>
          <a:p>
            <a:pPr marL="0" indent="0">
              <a:buNone/>
            </a:pPr>
            <a:r>
              <a:rPr lang="en-US" altLang="en-GB" sz="1150" dirty="0"/>
              <a:t>Implement practical mitigations and retest the system after changes.</a:t>
            </a:r>
            <a:endParaRPr lang="en-US" altLang="en-GB" sz="1150" dirty="0"/>
          </a:p>
        </p:txBody>
      </p:sp>
      <p:sp>
        <p:nvSpPr>
          <p:cNvPr id="19" name="Shape 17"/>
          <p:cNvSpPr/>
          <p:nvPr/>
        </p:nvSpPr>
        <p:spPr>
          <a:xfrm>
            <a:off x="749808" y="4736592"/>
            <a:ext cx="68580" cy="68580"/>
          </a:xfrm>
          <a:prstGeom prst="ellipse">
            <a:avLst/>
          </a:prstGeom>
          <a:solidFill>
            <a:srgbClr val="56E0FF"/>
          </a:solidFill>
          <a:ln w="12700">
            <a:solidFill>
              <a:srgbClr val="0E7490"/>
            </a:solidFill>
            <a:prstDash val="solid"/>
          </a:ln>
        </p:spPr>
        <p:txBody>
          <a:bodyPr/>
          <a:p/>
        </p:txBody>
      </p:sp>
      <p:sp>
        <p:nvSpPr>
          <p:cNvPr id="20" name="Text 18"/>
          <p:cNvSpPr/>
          <p:nvPr/>
        </p:nvSpPr>
        <p:spPr>
          <a:xfrm>
            <a:off x="896112" y="4636008"/>
            <a:ext cx="5568696" cy="384048"/>
          </a:xfrm>
          <a:prstGeom prst="rect">
            <a:avLst/>
          </a:prstGeom>
          <a:noFill/>
        </p:spPr>
        <p:txBody>
          <a:bodyPr wrap="square" lIns="0" tIns="0" rIns="0" bIns="0" rtlCol="0" anchor="ctr">
            <a:normAutofit/>
          </a:bodyPr>
          <a:lstStyle/>
          <a:p>
            <a:pPr marL="0" indent="0">
              <a:buNone/>
            </a:pPr>
            <a:r>
              <a:rPr lang="en-US" altLang="en-GB" sz="1150" dirty="0"/>
              <a:t>Document the findings and map them to MITRE ATLAS and NIST AI RMF.</a:t>
            </a:r>
            <a:endParaRPr lang="en-US" altLang="en-GB" sz="1150" dirty="0"/>
          </a:p>
        </p:txBody>
      </p:sp>
      <p:sp>
        <p:nvSpPr>
          <p:cNvPr id="21" name="Shape 19"/>
          <p:cNvSpPr/>
          <p:nvPr/>
        </p:nvSpPr>
        <p:spPr>
          <a:xfrm>
            <a:off x="7360920" y="1600200"/>
            <a:ext cx="4297680" cy="4389120"/>
          </a:xfrm>
          <a:prstGeom prst="roundRect">
            <a:avLst>
              <a:gd name="adj" fmla="val 1702"/>
            </a:avLst>
          </a:prstGeom>
          <a:solidFill>
            <a:srgbClr val="F1F5F9"/>
          </a:solidFill>
          <a:ln w="12700">
            <a:solidFill>
              <a:srgbClr val="E2E8F0">
                <a:alpha val="90000"/>
              </a:srgbClr>
            </a:solidFill>
            <a:prstDash val="solid"/>
          </a:ln>
        </p:spPr>
        <p:txBody>
          <a:bodyPr/>
          <a:p/>
        </p:txBody>
      </p:sp>
      <p:sp>
        <p:nvSpPr>
          <p:cNvPr id="22" name="Shape 20"/>
          <p:cNvSpPr/>
          <p:nvPr/>
        </p:nvSpPr>
        <p:spPr>
          <a:xfrm>
            <a:off x="7607808" y="1847088"/>
            <a:ext cx="45720" cy="274320"/>
          </a:xfrm>
          <a:prstGeom prst="rect">
            <a:avLst/>
          </a:prstGeom>
          <a:solidFill>
            <a:srgbClr val="59D68C"/>
          </a:solidFill>
          <a:ln w="12700">
            <a:solidFill>
              <a:srgbClr val="15803D"/>
            </a:solidFill>
            <a:prstDash val="solid"/>
          </a:ln>
        </p:spPr>
        <p:txBody>
          <a:bodyPr/>
          <a:p/>
        </p:txBody>
      </p:sp>
      <p:sp>
        <p:nvSpPr>
          <p:cNvPr id="23" name="Text 21"/>
          <p:cNvSpPr/>
          <p:nvPr/>
        </p:nvSpPr>
        <p:spPr>
          <a:xfrm>
            <a:off x="7735824" y="1842516"/>
            <a:ext cx="3575304" cy="274320"/>
          </a:xfrm>
          <a:prstGeom prst="rect">
            <a:avLst/>
          </a:prstGeom>
          <a:noFill/>
        </p:spPr>
        <p:txBody>
          <a:bodyPr wrap="square" lIns="0" tIns="0" rIns="0" bIns="0" rtlCol="0" anchor="ctr">
            <a:normAutofit/>
          </a:bodyPr>
          <a:lstStyle/>
          <a:p>
            <a:pPr marL="0" indent="0">
              <a:buNone/>
            </a:pPr>
            <a:r>
              <a:rPr lang="en-US" sz="1250" b="1" dirty="0">
                <a:solidFill>
                  <a:srgbClr val="0F172A"/>
                </a:solidFill>
                <a:latin typeface="Aptos" pitchFamily="34" charset="0"/>
                <a:ea typeface="Aptos" pitchFamily="34" charset="-122"/>
                <a:cs typeface="Aptos" pitchFamily="34" charset="-120"/>
              </a:rPr>
              <a:t>Rules of engagement</a:t>
            </a:r>
            <a:endParaRPr lang="en-US" sz="1250" dirty="0"/>
          </a:p>
        </p:txBody>
      </p:sp>
      <p:sp>
        <p:nvSpPr>
          <p:cNvPr id="24" name="Shape 22"/>
          <p:cNvSpPr/>
          <p:nvPr/>
        </p:nvSpPr>
        <p:spPr>
          <a:xfrm>
            <a:off x="7626096" y="2313432"/>
            <a:ext cx="1353312" cy="292608"/>
          </a:xfrm>
          <a:prstGeom prst="roundRect">
            <a:avLst>
              <a:gd name="adj" fmla="val 25000"/>
            </a:avLst>
          </a:prstGeom>
          <a:solidFill>
            <a:srgbClr val="59D68C">
              <a:alpha val="14000"/>
            </a:srgbClr>
          </a:solidFill>
          <a:ln w="12700">
            <a:solidFill>
              <a:srgbClr val="15803D">
                <a:alpha val="0"/>
              </a:srgbClr>
            </a:solidFill>
            <a:prstDash val="solid"/>
          </a:ln>
        </p:spPr>
        <p:txBody>
          <a:bodyPr/>
          <a:p/>
        </p:txBody>
      </p:sp>
      <p:sp>
        <p:nvSpPr>
          <p:cNvPr id="25" name="Text 23"/>
          <p:cNvSpPr/>
          <p:nvPr/>
        </p:nvSpPr>
        <p:spPr>
          <a:xfrm>
            <a:off x="7699248" y="2363724"/>
            <a:ext cx="1207008" cy="146304"/>
          </a:xfrm>
          <a:prstGeom prst="rect">
            <a:avLst/>
          </a:prstGeom>
          <a:noFill/>
        </p:spPr>
        <p:txBody>
          <a:bodyPr wrap="square" lIns="0" tIns="0" rIns="0" bIns="0" rtlCol="0" anchor="ctr">
            <a:normAutofit/>
          </a:bodyPr>
          <a:lstStyle/>
          <a:p>
            <a:pPr marL="0" indent="0" algn="ctr">
              <a:buNone/>
            </a:pPr>
            <a:r>
              <a:rPr lang="en-US" sz="850" b="1" dirty="0">
                <a:solidFill>
                  <a:srgbClr val="15803D"/>
                </a:solidFill>
                <a:latin typeface="Aptos" pitchFamily="34" charset="0"/>
                <a:ea typeface="Aptos" pitchFamily="34" charset="-122"/>
                <a:cs typeface="Aptos" pitchFamily="34" charset="-120"/>
              </a:rPr>
              <a:t>LOCAL ONLY</a:t>
            </a:r>
            <a:endParaRPr lang="en-US" sz="850" dirty="0"/>
          </a:p>
        </p:txBody>
      </p:sp>
      <p:sp>
        <p:nvSpPr>
          <p:cNvPr id="26" name="Shape 24"/>
          <p:cNvSpPr/>
          <p:nvPr/>
        </p:nvSpPr>
        <p:spPr>
          <a:xfrm>
            <a:off x="7626096" y="2953512"/>
            <a:ext cx="68580" cy="68580"/>
          </a:xfrm>
          <a:prstGeom prst="ellipse">
            <a:avLst/>
          </a:prstGeom>
          <a:solidFill>
            <a:srgbClr val="56E0FF"/>
          </a:solidFill>
          <a:ln w="12700">
            <a:solidFill>
              <a:srgbClr val="0E7490"/>
            </a:solidFill>
            <a:prstDash val="solid"/>
          </a:ln>
        </p:spPr>
        <p:txBody>
          <a:bodyPr/>
          <a:p/>
        </p:txBody>
      </p:sp>
      <p:sp>
        <p:nvSpPr>
          <p:cNvPr id="27" name="Text 25"/>
          <p:cNvSpPr/>
          <p:nvPr/>
        </p:nvSpPr>
        <p:spPr>
          <a:xfrm>
            <a:off x="7772400" y="2852928"/>
            <a:ext cx="3465576" cy="384048"/>
          </a:xfrm>
          <a:prstGeom prst="rect">
            <a:avLst/>
          </a:prstGeom>
          <a:noFill/>
        </p:spPr>
        <p:txBody>
          <a:bodyPr wrap="square" lIns="0" tIns="0" rIns="0" bIns="0" rtlCol="0" anchor="ctr">
            <a:normAutofit/>
          </a:bodyPr>
          <a:lstStyle/>
          <a:p>
            <a:pPr marL="0" indent="0">
              <a:buNone/>
            </a:pPr>
            <a:r>
              <a:rPr lang="en-US" sz="1070" dirty="0">
                <a:solidFill>
                  <a:srgbClr val="334155"/>
                </a:solidFill>
                <a:latin typeface="Aptos" pitchFamily="34" charset="0"/>
                <a:ea typeface="Aptos" pitchFamily="34" charset="-122"/>
                <a:cs typeface="Aptos" pitchFamily="34" charset="-120"/>
              </a:rPr>
              <a:t>Own model and containers only.</a:t>
            </a:r>
            <a:endParaRPr lang="en-US" sz="1070" dirty="0"/>
          </a:p>
        </p:txBody>
      </p:sp>
      <p:sp>
        <p:nvSpPr>
          <p:cNvPr id="28" name="Shape 26"/>
          <p:cNvSpPr/>
          <p:nvPr/>
        </p:nvSpPr>
        <p:spPr>
          <a:xfrm>
            <a:off x="7626096" y="3520440"/>
            <a:ext cx="68580" cy="68580"/>
          </a:xfrm>
          <a:prstGeom prst="ellipse">
            <a:avLst/>
          </a:prstGeom>
          <a:solidFill>
            <a:srgbClr val="56E0FF"/>
          </a:solidFill>
          <a:ln w="12700">
            <a:solidFill>
              <a:srgbClr val="0E7490"/>
            </a:solidFill>
            <a:prstDash val="solid"/>
          </a:ln>
        </p:spPr>
        <p:txBody>
          <a:bodyPr/>
          <a:p/>
        </p:txBody>
      </p:sp>
      <p:sp>
        <p:nvSpPr>
          <p:cNvPr id="29" name="Text 27"/>
          <p:cNvSpPr/>
          <p:nvPr/>
        </p:nvSpPr>
        <p:spPr>
          <a:xfrm>
            <a:off x="7772400" y="3419856"/>
            <a:ext cx="3465576" cy="384048"/>
          </a:xfrm>
          <a:prstGeom prst="rect">
            <a:avLst/>
          </a:prstGeom>
          <a:noFill/>
        </p:spPr>
        <p:txBody>
          <a:bodyPr wrap="square" lIns="0" tIns="0" rIns="0" bIns="0" rtlCol="0" anchor="ctr">
            <a:normAutofit/>
          </a:bodyPr>
          <a:lstStyle/>
          <a:p>
            <a:pPr marL="0" indent="0">
              <a:buNone/>
            </a:pPr>
            <a:r>
              <a:rPr lang="en-US" sz="1070" dirty="0">
                <a:solidFill>
                  <a:srgbClr val="334155"/>
                </a:solidFill>
                <a:latin typeface="Aptos" pitchFamily="34" charset="0"/>
                <a:ea typeface="Aptos" pitchFamily="34" charset="-122"/>
                <a:cs typeface="Aptos" pitchFamily="34" charset="-120"/>
              </a:rPr>
              <a:t>No external systems.</a:t>
            </a:r>
            <a:endParaRPr lang="en-US" sz="1070" dirty="0"/>
          </a:p>
        </p:txBody>
      </p:sp>
      <p:sp>
        <p:nvSpPr>
          <p:cNvPr id="30" name="Shape 28"/>
          <p:cNvSpPr/>
          <p:nvPr/>
        </p:nvSpPr>
        <p:spPr>
          <a:xfrm>
            <a:off x="7626096" y="4087368"/>
            <a:ext cx="68580" cy="68580"/>
          </a:xfrm>
          <a:prstGeom prst="ellipse">
            <a:avLst/>
          </a:prstGeom>
          <a:solidFill>
            <a:srgbClr val="56E0FF"/>
          </a:solidFill>
          <a:ln w="12700">
            <a:solidFill>
              <a:srgbClr val="0E7490"/>
            </a:solidFill>
            <a:prstDash val="solid"/>
          </a:ln>
        </p:spPr>
        <p:txBody>
          <a:bodyPr/>
          <a:p/>
        </p:txBody>
      </p:sp>
      <p:sp>
        <p:nvSpPr>
          <p:cNvPr id="31" name="Text 29"/>
          <p:cNvSpPr/>
          <p:nvPr/>
        </p:nvSpPr>
        <p:spPr>
          <a:xfrm>
            <a:off x="7772400" y="3986784"/>
            <a:ext cx="3465576" cy="384048"/>
          </a:xfrm>
          <a:prstGeom prst="rect">
            <a:avLst/>
          </a:prstGeom>
          <a:noFill/>
        </p:spPr>
        <p:txBody>
          <a:bodyPr wrap="square" lIns="0" tIns="0" rIns="0" bIns="0" rtlCol="0" anchor="ctr">
            <a:normAutofit/>
          </a:bodyPr>
          <a:lstStyle/>
          <a:p>
            <a:pPr marL="0" indent="0">
              <a:buNone/>
            </a:pPr>
            <a:r>
              <a:rPr lang="en-US" sz="1070" dirty="0">
                <a:solidFill>
                  <a:srgbClr val="334155"/>
                </a:solidFill>
                <a:latin typeface="Aptos" pitchFamily="34" charset="0"/>
                <a:ea typeface="Aptos" pitchFamily="34" charset="-122"/>
                <a:cs typeface="Aptos" pitchFamily="34" charset="-120"/>
              </a:rPr>
              <a:t>No real personal data.</a:t>
            </a:r>
            <a:endParaRPr lang="en-US" sz="1070" dirty="0"/>
          </a:p>
        </p:txBody>
      </p:sp>
      <p:sp>
        <p:nvSpPr>
          <p:cNvPr id="32" name="Shape 30"/>
          <p:cNvSpPr/>
          <p:nvPr/>
        </p:nvSpPr>
        <p:spPr>
          <a:xfrm>
            <a:off x="7626096" y="4654296"/>
            <a:ext cx="68580" cy="68580"/>
          </a:xfrm>
          <a:prstGeom prst="ellipse">
            <a:avLst/>
          </a:prstGeom>
          <a:solidFill>
            <a:srgbClr val="56E0FF"/>
          </a:solidFill>
          <a:ln w="12700">
            <a:solidFill>
              <a:srgbClr val="0E7490"/>
            </a:solidFill>
            <a:prstDash val="solid"/>
          </a:ln>
        </p:spPr>
        <p:txBody>
          <a:bodyPr/>
          <a:p/>
        </p:txBody>
      </p:sp>
      <p:sp>
        <p:nvSpPr>
          <p:cNvPr id="33" name="Text 31"/>
          <p:cNvSpPr/>
          <p:nvPr/>
        </p:nvSpPr>
        <p:spPr>
          <a:xfrm>
            <a:off x="7772400" y="4553712"/>
            <a:ext cx="3465576" cy="384048"/>
          </a:xfrm>
          <a:prstGeom prst="rect">
            <a:avLst/>
          </a:prstGeom>
          <a:noFill/>
        </p:spPr>
        <p:txBody>
          <a:bodyPr wrap="square" lIns="0" tIns="0" rIns="0" bIns="0" rtlCol="0" anchor="ctr">
            <a:normAutofit/>
          </a:bodyPr>
          <a:lstStyle/>
          <a:p>
            <a:pPr marL="0" indent="0">
              <a:buNone/>
            </a:pPr>
            <a:r>
              <a:rPr lang="en-US" sz="1070" dirty="0">
                <a:solidFill>
                  <a:srgbClr val="334155"/>
                </a:solidFill>
                <a:latin typeface="Aptos" pitchFamily="34" charset="0"/>
                <a:ea typeface="Aptos" pitchFamily="34" charset="-122"/>
                <a:cs typeface="Aptos" pitchFamily="34" charset="-120"/>
              </a:rPr>
              <a:t>Results taken from actual execution.</a:t>
            </a:r>
            <a:endParaRPr lang="en-US" sz="1070" dirty="0"/>
          </a:p>
        </p:txBody>
      </p:sp>
      <p:sp>
        <p:nvSpPr>
          <p:cNvPr id="34" name="Text 32"/>
          <p:cNvSpPr/>
          <p:nvPr/>
        </p:nvSpPr>
        <p:spPr>
          <a:xfrm>
            <a:off x="11109960" y="6556248"/>
            <a:ext cx="457200" cy="164592"/>
          </a:xfrm>
          <a:prstGeom prst="rect">
            <a:avLst/>
          </a:prstGeom>
          <a:noFill/>
        </p:spPr>
        <p:txBody>
          <a:bodyPr wrap="square" lIns="0" tIns="0" rIns="0" bIns="0" rtlCol="0" anchor="ctr"/>
          <a:lstStyle/>
          <a:p>
            <a:pPr marL="0" indent="0" algn="r">
              <a:buNone/>
            </a:pPr>
            <a:r>
              <a:rPr lang="en-US" sz="800" dirty="0">
                <a:solidFill>
                  <a:srgbClr val="64748B"/>
                </a:solidFill>
                <a:latin typeface="Aptos" pitchFamily="34" charset="0"/>
                <a:ea typeface="Aptos" pitchFamily="34" charset="-122"/>
                <a:cs typeface="Aptos"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320040"/>
            <a:ext cx="11365992" cy="0"/>
          </a:xfrm>
          <a:prstGeom prst="line">
            <a:avLst/>
          </a:prstGeom>
          <a:noFill/>
          <a:ln w="12700">
            <a:solidFill>
              <a:srgbClr val="E2E8F0"/>
            </a:solidFill>
            <a:prstDash val="solid"/>
          </a:ln>
        </p:spPr>
        <p:txBody>
          <a:bodyPr/>
          <a:p/>
        </p:txBody>
      </p:sp>
      <p:sp>
        <p:nvSpPr>
          <p:cNvPr id="3" name="Shape 1"/>
          <p:cNvSpPr/>
          <p:nvPr/>
        </p:nvSpPr>
        <p:spPr>
          <a:xfrm>
            <a:off x="411480" y="6492240"/>
            <a:ext cx="11365992" cy="0"/>
          </a:xfrm>
          <a:prstGeom prst="line">
            <a:avLst/>
          </a:prstGeom>
          <a:noFill/>
          <a:ln w="12700">
            <a:solidFill>
              <a:srgbClr val="E2E8F0"/>
            </a:solidFill>
            <a:prstDash val="solid"/>
          </a:ln>
        </p:spPr>
        <p:txBody>
          <a:bodyPr/>
          <a:p/>
        </p:txBody>
      </p:sp>
      <p:sp>
        <p:nvSpPr>
          <p:cNvPr id="4" name="Shape 2"/>
          <p:cNvSpPr/>
          <p:nvPr/>
        </p:nvSpPr>
        <p:spPr>
          <a:xfrm rot="1080000">
            <a:off x="10744200" y="-640080"/>
            <a:ext cx="1920240" cy="1920240"/>
          </a:xfrm>
          <a:prstGeom prst="arc">
            <a:avLst/>
          </a:prstGeom>
          <a:solidFill>
            <a:srgbClr val="FFFFFF">
              <a:alpha val="0"/>
            </a:srgbClr>
          </a:solidFill>
          <a:ln w="12700">
            <a:solidFill>
              <a:srgbClr val="E2E8F0">
                <a:alpha val="55000"/>
              </a:srgbClr>
            </a:solidFill>
            <a:prstDash val="solid"/>
          </a:ln>
        </p:spPr>
        <p:txBody>
          <a:bodyPr/>
          <a:p/>
        </p:txBody>
      </p:sp>
      <p:sp>
        <p:nvSpPr>
          <p:cNvPr id="5" name="Text 3"/>
          <p:cNvSpPr/>
          <p:nvPr/>
        </p:nvSpPr>
        <p:spPr>
          <a:xfrm>
            <a:off x="502920" y="73152"/>
            <a:ext cx="3840480" cy="182880"/>
          </a:xfrm>
          <a:prstGeom prst="rect">
            <a:avLst/>
          </a:prstGeom>
          <a:noFill/>
        </p:spPr>
        <p:txBody>
          <a:bodyPr wrap="square" lIns="0" tIns="0" rIns="0" bIns="0" rtlCol="0" anchor="ctr"/>
          <a:lstStyle/>
          <a:p>
            <a:pPr marL="0" indent="0">
              <a:buNone/>
            </a:pPr>
            <a:r>
              <a:rPr lang="en-US" sz="900" b="1" kern="0" spc="140" dirty="0">
                <a:solidFill>
                  <a:srgbClr val="0E7490"/>
                </a:solidFill>
                <a:latin typeface="Aptos" pitchFamily="34" charset="0"/>
                <a:ea typeface="Aptos" pitchFamily="34" charset="-122"/>
                <a:cs typeface="Aptos" pitchFamily="34" charset="-120"/>
              </a:rPr>
              <a:t>SCOPE</a:t>
            </a:r>
            <a:endParaRPr lang="en-US" sz="900" dirty="0"/>
          </a:p>
        </p:txBody>
      </p:sp>
      <p:sp>
        <p:nvSpPr>
          <p:cNvPr id="6" name="Text 4"/>
          <p:cNvSpPr/>
          <p:nvPr/>
        </p:nvSpPr>
        <p:spPr>
          <a:xfrm>
            <a:off x="502920" y="530352"/>
            <a:ext cx="10561320" cy="502920"/>
          </a:xfrm>
          <a:prstGeom prst="rect">
            <a:avLst/>
          </a:prstGeom>
          <a:noFill/>
        </p:spPr>
        <p:txBody>
          <a:bodyPr wrap="square" lIns="0" tIns="0" rIns="0" bIns="0" rtlCol="0" anchor="ctr">
            <a:normAutofit/>
          </a:bodyP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02 • Assessment Tasks</a:t>
            </a:r>
            <a:endParaRPr lang="en-US" sz="2500" dirty="0"/>
          </a:p>
        </p:txBody>
      </p:sp>
      <p:sp>
        <p:nvSpPr>
          <p:cNvPr id="7" name="Text 5"/>
          <p:cNvSpPr/>
          <p:nvPr/>
        </p:nvSpPr>
        <p:spPr>
          <a:xfrm>
            <a:off x="530352" y="1060704"/>
            <a:ext cx="10332720" cy="347472"/>
          </a:xfrm>
          <a:prstGeom prst="rect">
            <a:avLst/>
          </a:prstGeom>
          <a:noFill/>
        </p:spPr>
        <p:txBody>
          <a:bodyPr wrap="square" lIns="0" tIns="0" rIns="0" bIns="0" rtlCol="0" anchor="ctr">
            <a:normAutofit/>
          </a:bodyPr>
          <a:lstStyle/>
          <a:p>
            <a:pPr marL="0" indent="0">
              <a:buNone/>
            </a:pPr>
            <a:r>
              <a:rPr lang="en-US" sz="1150" dirty="0">
                <a:solidFill>
                  <a:srgbClr val="64748B"/>
                </a:solidFill>
                <a:latin typeface="Aptos" pitchFamily="34" charset="0"/>
                <a:ea typeface="Aptos" pitchFamily="34" charset="-122"/>
                <a:cs typeface="Aptos" pitchFamily="34" charset="-120"/>
              </a:rPr>
              <a:t>Five main workstreams, plus three optional bonus areas.</a:t>
            </a:r>
            <a:endParaRPr lang="en-US" sz="1150" dirty="0"/>
          </a:p>
        </p:txBody>
      </p:sp>
      <p:sp>
        <p:nvSpPr>
          <p:cNvPr id="8" name="Shape 6"/>
          <p:cNvSpPr/>
          <p:nvPr/>
        </p:nvSpPr>
        <p:spPr>
          <a:xfrm>
            <a:off x="530352" y="1600200"/>
            <a:ext cx="3520440" cy="1572768"/>
          </a:xfrm>
          <a:prstGeom prst="roundRect">
            <a:avLst>
              <a:gd name="adj" fmla="val 4651"/>
            </a:avLst>
          </a:prstGeom>
          <a:solidFill>
            <a:srgbClr val="F8FAFC"/>
          </a:solidFill>
          <a:ln w="12700">
            <a:solidFill>
              <a:srgbClr val="E2E8F0">
                <a:alpha val="90000"/>
              </a:srgbClr>
            </a:solidFill>
            <a:prstDash val="solid"/>
          </a:ln>
        </p:spPr>
        <p:txBody>
          <a:bodyPr/>
          <a:p/>
        </p:txBody>
      </p:sp>
      <p:sp>
        <p:nvSpPr>
          <p:cNvPr id="9" name="Shape 7"/>
          <p:cNvSpPr/>
          <p:nvPr/>
        </p:nvSpPr>
        <p:spPr>
          <a:xfrm>
            <a:off x="713232" y="1801368"/>
            <a:ext cx="438912" cy="438912"/>
          </a:xfrm>
          <a:prstGeom prst="ellipse">
            <a:avLst/>
          </a:prstGeom>
          <a:solidFill>
            <a:srgbClr val="56E0FF">
              <a:alpha val="18000"/>
            </a:srgbClr>
          </a:solidFill>
          <a:ln w="15240">
            <a:solidFill>
              <a:srgbClr val="0E7490"/>
            </a:solidFill>
            <a:prstDash val="solid"/>
          </a:ln>
        </p:spPr>
        <p:txBody>
          <a:bodyPr/>
          <a:p/>
        </p:txBody>
      </p:sp>
      <p:sp>
        <p:nvSpPr>
          <p:cNvPr id="10" name="Text 8"/>
          <p:cNvSpPr/>
          <p:nvPr/>
        </p:nvSpPr>
        <p:spPr>
          <a:xfrm>
            <a:off x="713232" y="1874520"/>
            <a:ext cx="438912" cy="164592"/>
          </a:xfrm>
          <a:prstGeom prst="rect">
            <a:avLst/>
          </a:prstGeom>
          <a:noFill/>
        </p:spPr>
        <p:txBody>
          <a:bodyPr wrap="square" lIns="0" tIns="0" rIns="0" bIns="0" rtlCol="0" anchor="ctr"/>
          <a:lstStyle/>
          <a:p>
            <a:pPr marL="0" indent="0" algn="ctr">
              <a:buNone/>
            </a:pPr>
            <a:r>
              <a:rPr lang="en-US" sz="900" b="1" dirty="0">
                <a:solidFill>
                  <a:srgbClr val="0E7490"/>
                </a:solidFill>
                <a:latin typeface="Aptos" pitchFamily="34" charset="0"/>
                <a:ea typeface="Aptos" pitchFamily="34" charset="-122"/>
                <a:cs typeface="Aptos" pitchFamily="34" charset="-120"/>
              </a:rPr>
              <a:t>1</a:t>
            </a:r>
            <a:endParaRPr lang="en-US" sz="900" dirty="0"/>
          </a:p>
        </p:txBody>
      </p:sp>
      <p:sp>
        <p:nvSpPr>
          <p:cNvPr id="11" name="Text 9"/>
          <p:cNvSpPr/>
          <p:nvPr/>
        </p:nvSpPr>
        <p:spPr>
          <a:xfrm>
            <a:off x="1316736" y="1783080"/>
            <a:ext cx="2560320" cy="256032"/>
          </a:xfrm>
          <a:prstGeom prst="rect">
            <a:avLst/>
          </a:prstGeom>
          <a:noFill/>
        </p:spPr>
        <p:txBody>
          <a:bodyPr wrap="square" lIns="0" tIns="0" rIns="0" bIns="0" rtlCol="0" anchor="ctr"/>
          <a:lstStyle/>
          <a:p>
            <a:pPr marL="0" indent="0">
              <a:buNone/>
            </a:pPr>
            <a:r>
              <a:rPr lang="en-US" sz="1250" b="1" dirty="0">
                <a:solidFill>
                  <a:srgbClr val="0F172A"/>
                </a:solidFill>
                <a:latin typeface="Aptos" pitchFamily="34" charset="0"/>
                <a:ea typeface="Aptos" pitchFamily="34" charset="-122"/>
                <a:cs typeface="Aptos" pitchFamily="34" charset="-120"/>
              </a:rPr>
              <a:t>MODEL</a:t>
            </a:r>
            <a:endParaRPr lang="en-US" sz="1250" dirty="0"/>
          </a:p>
        </p:txBody>
      </p:sp>
      <p:sp>
        <p:nvSpPr>
          <p:cNvPr id="12" name="Text 10"/>
          <p:cNvSpPr/>
          <p:nvPr/>
        </p:nvSpPr>
        <p:spPr>
          <a:xfrm>
            <a:off x="1316736" y="2185416"/>
            <a:ext cx="2560320" cy="566928"/>
          </a:xfrm>
          <a:prstGeom prst="rect">
            <a:avLst/>
          </a:prstGeom>
          <a:noFill/>
        </p:spPr>
        <p:txBody>
          <a:bodyPr wrap="square" lIns="0" tIns="0" rIns="0" bIns="0" rtlCol="0" anchor="ctr">
            <a:normAutofit/>
          </a:bodyPr>
          <a:lstStyle/>
          <a:p>
            <a:pPr marL="0" indent="0">
              <a:buNone/>
            </a:pPr>
            <a:r>
              <a:rPr lang="en-US" sz="1020" dirty="0">
                <a:solidFill>
                  <a:srgbClr val="64748B"/>
                </a:solidFill>
                <a:latin typeface="Aptos" pitchFamily="34" charset="0"/>
                <a:ea typeface="Aptos" pitchFamily="34" charset="-122"/>
                <a:cs typeface="Aptos" pitchFamily="34" charset="-120"/>
              </a:rPr>
              <a:t>Verify the checkpoint and baseline behavior.</a:t>
            </a:r>
            <a:endParaRPr lang="en-US" sz="1020" dirty="0"/>
          </a:p>
        </p:txBody>
      </p:sp>
      <p:sp>
        <p:nvSpPr>
          <p:cNvPr id="13" name="Shape 11"/>
          <p:cNvSpPr/>
          <p:nvPr/>
        </p:nvSpPr>
        <p:spPr>
          <a:xfrm>
            <a:off x="4325112" y="1600200"/>
            <a:ext cx="3520440" cy="1572768"/>
          </a:xfrm>
          <a:prstGeom prst="roundRect">
            <a:avLst>
              <a:gd name="adj" fmla="val 4651"/>
            </a:avLst>
          </a:prstGeom>
          <a:solidFill>
            <a:srgbClr val="F8FAFC"/>
          </a:solidFill>
          <a:ln w="12700">
            <a:solidFill>
              <a:srgbClr val="E2E8F0">
                <a:alpha val="90000"/>
              </a:srgbClr>
            </a:solidFill>
            <a:prstDash val="solid"/>
          </a:ln>
        </p:spPr>
        <p:txBody>
          <a:bodyPr/>
          <a:p/>
        </p:txBody>
      </p:sp>
      <p:sp>
        <p:nvSpPr>
          <p:cNvPr id="14" name="Shape 12"/>
          <p:cNvSpPr/>
          <p:nvPr/>
        </p:nvSpPr>
        <p:spPr>
          <a:xfrm>
            <a:off x="4507992" y="1801368"/>
            <a:ext cx="438912" cy="438912"/>
          </a:xfrm>
          <a:prstGeom prst="ellipse">
            <a:avLst/>
          </a:prstGeom>
          <a:solidFill>
            <a:srgbClr val="FF6B6B">
              <a:alpha val="18000"/>
            </a:srgbClr>
          </a:solidFill>
          <a:ln w="15240">
            <a:solidFill>
              <a:srgbClr val="B91C1C"/>
            </a:solidFill>
            <a:prstDash val="solid"/>
          </a:ln>
        </p:spPr>
        <p:txBody>
          <a:bodyPr/>
          <a:p/>
        </p:txBody>
      </p:sp>
      <p:sp>
        <p:nvSpPr>
          <p:cNvPr id="15" name="Text 13"/>
          <p:cNvSpPr/>
          <p:nvPr/>
        </p:nvSpPr>
        <p:spPr>
          <a:xfrm>
            <a:off x="4507992" y="1874520"/>
            <a:ext cx="438912" cy="164592"/>
          </a:xfrm>
          <a:prstGeom prst="rect">
            <a:avLst/>
          </a:prstGeom>
          <a:noFill/>
        </p:spPr>
        <p:txBody>
          <a:bodyPr wrap="square" lIns="0" tIns="0" rIns="0" bIns="0" rtlCol="0" anchor="ctr"/>
          <a:lstStyle/>
          <a:p>
            <a:pPr marL="0" indent="0" algn="ctr">
              <a:buNone/>
            </a:pPr>
            <a:r>
              <a:rPr lang="en-US" sz="900" b="1" dirty="0">
                <a:solidFill>
                  <a:srgbClr val="B91C1C"/>
                </a:solidFill>
                <a:latin typeface="Aptos" pitchFamily="34" charset="0"/>
                <a:ea typeface="Aptos" pitchFamily="34" charset="-122"/>
                <a:cs typeface="Aptos" pitchFamily="34" charset="-120"/>
              </a:rPr>
              <a:t>2</a:t>
            </a:r>
            <a:endParaRPr lang="en-US" sz="900" dirty="0"/>
          </a:p>
        </p:txBody>
      </p:sp>
      <p:sp>
        <p:nvSpPr>
          <p:cNvPr id="16" name="Text 14"/>
          <p:cNvSpPr/>
          <p:nvPr/>
        </p:nvSpPr>
        <p:spPr>
          <a:xfrm>
            <a:off x="5111496" y="1783080"/>
            <a:ext cx="2560320" cy="256032"/>
          </a:xfrm>
          <a:prstGeom prst="rect">
            <a:avLst/>
          </a:prstGeom>
          <a:noFill/>
        </p:spPr>
        <p:txBody>
          <a:bodyPr wrap="square" lIns="0" tIns="0" rIns="0" bIns="0" rtlCol="0" anchor="ctr"/>
          <a:lstStyle/>
          <a:p>
            <a:pPr marL="0" indent="0">
              <a:buNone/>
            </a:pPr>
            <a:r>
              <a:rPr lang="en-US" sz="1250" b="1" dirty="0">
                <a:solidFill>
                  <a:srgbClr val="0F172A"/>
                </a:solidFill>
                <a:latin typeface="Aptos" pitchFamily="34" charset="0"/>
                <a:ea typeface="Aptos" pitchFamily="34" charset="-122"/>
                <a:cs typeface="Aptos" pitchFamily="34" charset="-120"/>
              </a:rPr>
              <a:t>ATTACK</a:t>
            </a:r>
            <a:endParaRPr lang="en-US" sz="1250" dirty="0"/>
          </a:p>
        </p:txBody>
      </p:sp>
      <p:sp>
        <p:nvSpPr>
          <p:cNvPr id="17" name="Text 15"/>
          <p:cNvSpPr/>
          <p:nvPr/>
        </p:nvSpPr>
        <p:spPr>
          <a:xfrm>
            <a:off x="5111496" y="2185416"/>
            <a:ext cx="2560320" cy="566928"/>
          </a:xfrm>
          <a:prstGeom prst="rect">
            <a:avLst/>
          </a:prstGeom>
          <a:noFill/>
        </p:spPr>
        <p:txBody>
          <a:bodyPr wrap="square" lIns="0" tIns="0" rIns="0" bIns="0" rtlCol="0" anchor="ctr">
            <a:normAutofit/>
          </a:bodyPr>
          <a:lstStyle/>
          <a:p>
            <a:pPr marL="0" indent="0">
              <a:buNone/>
            </a:pPr>
            <a:r>
              <a:rPr lang="en-US" sz="1020" dirty="0">
                <a:solidFill>
                  <a:srgbClr val="64748B"/>
                </a:solidFill>
                <a:latin typeface="Aptos" pitchFamily="34" charset="0"/>
                <a:ea typeface="Aptos" pitchFamily="34" charset="-122"/>
                <a:cs typeface="Aptos" pitchFamily="34" charset="-120"/>
              </a:rPr>
              <a:t>Generate successful FGSM and PGD adversarial inputs.</a:t>
            </a:r>
            <a:endParaRPr lang="en-US" sz="1020" dirty="0"/>
          </a:p>
        </p:txBody>
      </p:sp>
      <p:sp>
        <p:nvSpPr>
          <p:cNvPr id="18" name="Shape 16"/>
          <p:cNvSpPr/>
          <p:nvPr/>
        </p:nvSpPr>
        <p:spPr>
          <a:xfrm>
            <a:off x="8119872" y="1600200"/>
            <a:ext cx="3520440" cy="1572768"/>
          </a:xfrm>
          <a:prstGeom prst="roundRect">
            <a:avLst>
              <a:gd name="adj" fmla="val 4651"/>
            </a:avLst>
          </a:prstGeom>
          <a:solidFill>
            <a:srgbClr val="F8FAFC"/>
          </a:solidFill>
          <a:ln w="12700">
            <a:solidFill>
              <a:srgbClr val="E2E8F0">
                <a:alpha val="90000"/>
              </a:srgbClr>
            </a:solidFill>
            <a:prstDash val="solid"/>
          </a:ln>
        </p:spPr>
        <p:txBody>
          <a:bodyPr/>
          <a:p/>
        </p:txBody>
      </p:sp>
      <p:sp>
        <p:nvSpPr>
          <p:cNvPr id="19" name="Shape 17"/>
          <p:cNvSpPr/>
          <p:nvPr/>
        </p:nvSpPr>
        <p:spPr>
          <a:xfrm>
            <a:off x="8302752" y="1801368"/>
            <a:ext cx="438912" cy="438912"/>
          </a:xfrm>
          <a:prstGeom prst="ellipse">
            <a:avLst/>
          </a:prstGeom>
          <a:solidFill>
            <a:srgbClr val="FFC857">
              <a:alpha val="18000"/>
            </a:srgbClr>
          </a:solidFill>
          <a:ln w="15240">
            <a:solidFill>
              <a:srgbClr val="A16207"/>
            </a:solidFill>
            <a:prstDash val="solid"/>
          </a:ln>
        </p:spPr>
        <p:txBody>
          <a:bodyPr/>
          <a:p/>
        </p:txBody>
      </p:sp>
      <p:sp>
        <p:nvSpPr>
          <p:cNvPr id="20" name="Text 18"/>
          <p:cNvSpPr/>
          <p:nvPr/>
        </p:nvSpPr>
        <p:spPr>
          <a:xfrm>
            <a:off x="8302752" y="1874520"/>
            <a:ext cx="438912" cy="164592"/>
          </a:xfrm>
          <a:prstGeom prst="rect">
            <a:avLst/>
          </a:prstGeom>
          <a:noFill/>
        </p:spPr>
        <p:txBody>
          <a:bodyPr wrap="square" lIns="0" tIns="0" rIns="0" bIns="0" rtlCol="0" anchor="ctr"/>
          <a:lstStyle/>
          <a:p>
            <a:pPr marL="0" indent="0" algn="ctr">
              <a:buNone/>
            </a:pPr>
            <a:r>
              <a:rPr lang="en-US" sz="900" b="1" dirty="0">
                <a:solidFill>
                  <a:srgbClr val="A16207"/>
                </a:solidFill>
                <a:latin typeface="Aptos" pitchFamily="34" charset="0"/>
                <a:ea typeface="Aptos" pitchFamily="34" charset="-122"/>
                <a:cs typeface="Aptos" pitchFamily="34" charset="-120"/>
              </a:rPr>
              <a:t>3</a:t>
            </a:r>
            <a:endParaRPr lang="en-US" sz="900" dirty="0"/>
          </a:p>
        </p:txBody>
      </p:sp>
      <p:sp>
        <p:nvSpPr>
          <p:cNvPr id="21" name="Text 19"/>
          <p:cNvSpPr/>
          <p:nvPr/>
        </p:nvSpPr>
        <p:spPr>
          <a:xfrm>
            <a:off x="8906256" y="1783080"/>
            <a:ext cx="2560320" cy="256032"/>
          </a:xfrm>
          <a:prstGeom prst="rect">
            <a:avLst/>
          </a:prstGeom>
          <a:noFill/>
        </p:spPr>
        <p:txBody>
          <a:bodyPr wrap="square" lIns="0" tIns="0" rIns="0" bIns="0" rtlCol="0" anchor="ctr"/>
          <a:lstStyle/>
          <a:p>
            <a:pPr marL="0" indent="0">
              <a:buNone/>
            </a:pPr>
            <a:r>
              <a:rPr lang="en-US" sz="1250" b="1" dirty="0">
                <a:solidFill>
                  <a:srgbClr val="0F172A"/>
                </a:solidFill>
                <a:latin typeface="Aptos" pitchFamily="34" charset="0"/>
                <a:ea typeface="Aptos" pitchFamily="34" charset="-122"/>
                <a:cs typeface="Aptos" pitchFamily="34" charset="-120"/>
              </a:rPr>
              <a:t>PIPELINE</a:t>
            </a:r>
            <a:endParaRPr lang="en-US" sz="1250" dirty="0"/>
          </a:p>
        </p:txBody>
      </p:sp>
      <p:sp>
        <p:nvSpPr>
          <p:cNvPr id="22" name="Text 20"/>
          <p:cNvSpPr/>
          <p:nvPr/>
        </p:nvSpPr>
        <p:spPr>
          <a:xfrm>
            <a:off x="8906256" y="2185416"/>
            <a:ext cx="2560320" cy="566928"/>
          </a:xfrm>
          <a:prstGeom prst="rect">
            <a:avLst/>
          </a:prstGeom>
          <a:noFill/>
        </p:spPr>
        <p:txBody>
          <a:bodyPr wrap="square" lIns="0" tIns="0" rIns="0" bIns="0" rtlCol="0" anchor="ctr">
            <a:normAutofit/>
          </a:bodyPr>
          <a:lstStyle/>
          <a:p>
            <a:pPr marL="0" indent="0">
              <a:buNone/>
            </a:pPr>
            <a:r>
              <a:rPr lang="en-US" sz="1020" dirty="0">
                <a:solidFill>
                  <a:srgbClr val="64748B"/>
                </a:solidFill>
                <a:latin typeface="Aptos" pitchFamily="34" charset="0"/>
                <a:ea typeface="Aptos" pitchFamily="34" charset="-122"/>
                <a:cs typeface="Aptos" pitchFamily="34" charset="-120"/>
              </a:rPr>
              <a:t>Review FastAPI and Docker security controls.</a:t>
            </a:r>
            <a:endParaRPr lang="en-US" sz="1020" dirty="0"/>
          </a:p>
        </p:txBody>
      </p:sp>
      <p:sp>
        <p:nvSpPr>
          <p:cNvPr id="23" name="Shape 21"/>
          <p:cNvSpPr/>
          <p:nvPr/>
        </p:nvSpPr>
        <p:spPr>
          <a:xfrm>
            <a:off x="530352" y="3474720"/>
            <a:ext cx="3520440" cy="1572768"/>
          </a:xfrm>
          <a:prstGeom prst="roundRect">
            <a:avLst>
              <a:gd name="adj" fmla="val 4651"/>
            </a:avLst>
          </a:prstGeom>
          <a:solidFill>
            <a:srgbClr val="F8FAFC"/>
          </a:solidFill>
          <a:ln w="12700">
            <a:solidFill>
              <a:srgbClr val="E2E8F0">
                <a:alpha val="90000"/>
              </a:srgbClr>
            </a:solidFill>
            <a:prstDash val="solid"/>
          </a:ln>
        </p:spPr>
        <p:txBody>
          <a:bodyPr/>
          <a:p/>
        </p:txBody>
      </p:sp>
      <p:sp>
        <p:nvSpPr>
          <p:cNvPr id="24" name="Shape 22"/>
          <p:cNvSpPr/>
          <p:nvPr/>
        </p:nvSpPr>
        <p:spPr>
          <a:xfrm>
            <a:off x="713232" y="3675888"/>
            <a:ext cx="438912" cy="438912"/>
          </a:xfrm>
          <a:prstGeom prst="ellipse">
            <a:avLst/>
          </a:prstGeom>
          <a:solidFill>
            <a:srgbClr val="59D68C">
              <a:alpha val="18000"/>
            </a:srgbClr>
          </a:solidFill>
          <a:ln w="15240">
            <a:solidFill>
              <a:srgbClr val="15803D"/>
            </a:solidFill>
            <a:prstDash val="solid"/>
          </a:ln>
        </p:spPr>
        <p:txBody>
          <a:bodyPr/>
          <a:p/>
        </p:txBody>
      </p:sp>
      <p:sp>
        <p:nvSpPr>
          <p:cNvPr id="25" name="Text 23"/>
          <p:cNvSpPr/>
          <p:nvPr/>
        </p:nvSpPr>
        <p:spPr>
          <a:xfrm>
            <a:off x="713232" y="3749040"/>
            <a:ext cx="438912" cy="164592"/>
          </a:xfrm>
          <a:prstGeom prst="rect">
            <a:avLst/>
          </a:prstGeom>
          <a:noFill/>
        </p:spPr>
        <p:txBody>
          <a:bodyPr wrap="square" lIns="0" tIns="0" rIns="0" bIns="0" rtlCol="0" anchor="ctr"/>
          <a:lstStyle/>
          <a:p>
            <a:pPr marL="0" indent="0" algn="ctr">
              <a:buNone/>
            </a:pPr>
            <a:r>
              <a:rPr lang="en-US" sz="900" b="1" dirty="0">
                <a:solidFill>
                  <a:srgbClr val="15803D"/>
                </a:solidFill>
                <a:latin typeface="Aptos" pitchFamily="34" charset="0"/>
                <a:ea typeface="Aptos" pitchFamily="34" charset="-122"/>
                <a:cs typeface="Aptos" pitchFamily="34" charset="-120"/>
              </a:rPr>
              <a:t>4</a:t>
            </a:r>
            <a:endParaRPr lang="en-US" sz="900" dirty="0"/>
          </a:p>
        </p:txBody>
      </p:sp>
      <p:sp>
        <p:nvSpPr>
          <p:cNvPr id="26" name="Text 24"/>
          <p:cNvSpPr/>
          <p:nvPr/>
        </p:nvSpPr>
        <p:spPr>
          <a:xfrm>
            <a:off x="1316736" y="3657600"/>
            <a:ext cx="2560320" cy="256032"/>
          </a:xfrm>
          <a:prstGeom prst="rect">
            <a:avLst/>
          </a:prstGeom>
          <a:noFill/>
        </p:spPr>
        <p:txBody>
          <a:bodyPr wrap="square" lIns="0" tIns="0" rIns="0" bIns="0" rtlCol="0" anchor="ctr"/>
          <a:lstStyle/>
          <a:p>
            <a:pPr marL="0" indent="0">
              <a:buNone/>
            </a:pPr>
            <a:r>
              <a:rPr lang="en-US" sz="1250" b="1" dirty="0">
                <a:solidFill>
                  <a:srgbClr val="0F172A"/>
                </a:solidFill>
                <a:latin typeface="Aptos" pitchFamily="34" charset="0"/>
                <a:ea typeface="Aptos" pitchFamily="34" charset="-122"/>
                <a:cs typeface="Aptos" pitchFamily="34" charset="-120"/>
              </a:rPr>
              <a:t>MITIGATE</a:t>
            </a:r>
            <a:endParaRPr lang="en-US" sz="1250" dirty="0"/>
          </a:p>
        </p:txBody>
      </p:sp>
      <p:sp>
        <p:nvSpPr>
          <p:cNvPr id="27" name="Text 25"/>
          <p:cNvSpPr/>
          <p:nvPr/>
        </p:nvSpPr>
        <p:spPr>
          <a:xfrm>
            <a:off x="1316736" y="4059936"/>
            <a:ext cx="2560320" cy="566928"/>
          </a:xfrm>
          <a:prstGeom prst="rect">
            <a:avLst/>
          </a:prstGeom>
          <a:noFill/>
        </p:spPr>
        <p:txBody>
          <a:bodyPr wrap="square" lIns="0" tIns="0" rIns="0" bIns="0" rtlCol="0" anchor="ctr">
            <a:normAutofit/>
          </a:bodyPr>
          <a:lstStyle/>
          <a:p>
            <a:pPr marL="0" indent="0">
              <a:buNone/>
            </a:pPr>
            <a:r>
              <a:rPr lang="en-US" sz="1020" dirty="0">
                <a:solidFill>
                  <a:srgbClr val="64748B"/>
                </a:solidFill>
                <a:latin typeface="Aptos" pitchFamily="34" charset="0"/>
                <a:ea typeface="Aptos" pitchFamily="34" charset="-122"/>
                <a:cs typeface="Aptos" pitchFamily="34" charset="-120"/>
              </a:rPr>
              <a:t>Harden the API, container, and model.</a:t>
            </a:r>
            <a:endParaRPr lang="en-US" sz="1020" dirty="0"/>
          </a:p>
        </p:txBody>
      </p:sp>
      <p:sp>
        <p:nvSpPr>
          <p:cNvPr id="28" name="Shape 26"/>
          <p:cNvSpPr/>
          <p:nvPr/>
        </p:nvSpPr>
        <p:spPr>
          <a:xfrm>
            <a:off x="4325112" y="3474720"/>
            <a:ext cx="3520440" cy="1572768"/>
          </a:xfrm>
          <a:prstGeom prst="roundRect">
            <a:avLst>
              <a:gd name="adj" fmla="val 4651"/>
            </a:avLst>
          </a:prstGeom>
          <a:solidFill>
            <a:srgbClr val="F8FAFC"/>
          </a:solidFill>
          <a:ln w="12700">
            <a:solidFill>
              <a:srgbClr val="E2E8F0">
                <a:alpha val="90000"/>
              </a:srgbClr>
            </a:solidFill>
            <a:prstDash val="solid"/>
          </a:ln>
        </p:spPr>
        <p:txBody>
          <a:bodyPr/>
          <a:p/>
        </p:txBody>
      </p:sp>
      <p:sp>
        <p:nvSpPr>
          <p:cNvPr id="29" name="Shape 27"/>
          <p:cNvSpPr/>
          <p:nvPr/>
        </p:nvSpPr>
        <p:spPr>
          <a:xfrm>
            <a:off x="4507992" y="3675888"/>
            <a:ext cx="438912" cy="438912"/>
          </a:xfrm>
          <a:prstGeom prst="ellipse">
            <a:avLst/>
          </a:prstGeom>
          <a:solidFill>
            <a:srgbClr val="8A7CFF">
              <a:alpha val="18000"/>
            </a:srgbClr>
          </a:solidFill>
          <a:ln w="15240">
            <a:solidFill>
              <a:srgbClr val="6D28D9"/>
            </a:solidFill>
            <a:prstDash val="solid"/>
          </a:ln>
        </p:spPr>
        <p:txBody>
          <a:bodyPr/>
          <a:p/>
        </p:txBody>
      </p:sp>
      <p:sp>
        <p:nvSpPr>
          <p:cNvPr id="30" name="Text 28"/>
          <p:cNvSpPr/>
          <p:nvPr/>
        </p:nvSpPr>
        <p:spPr>
          <a:xfrm>
            <a:off x="4507992" y="3749040"/>
            <a:ext cx="438912" cy="164592"/>
          </a:xfrm>
          <a:prstGeom prst="rect">
            <a:avLst/>
          </a:prstGeom>
          <a:noFill/>
        </p:spPr>
        <p:txBody>
          <a:bodyPr wrap="square" lIns="0" tIns="0" rIns="0" bIns="0" rtlCol="0" anchor="ctr"/>
          <a:lstStyle/>
          <a:p>
            <a:pPr marL="0" indent="0" algn="ctr">
              <a:buNone/>
            </a:pPr>
            <a:r>
              <a:rPr lang="en-US" sz="900" b="1" dirty="0">
                <a:solidFill>
                  <a:srgbClr val="6D28D9"/>
                </a:solidFill>
                <a:latin typeface="Aptos" pitchFamily="34" charset="0"/>
                <a:ea typeface="Aptos" pitchFamily="34" charset="-122"/>
                <a:cs typeface="Aptos" pitchFamily="34" charset="-120"/>
              </a:rPr>
              <a:t>5</a:t>
            </a:r>
            <a:endParaRPr lang="en-US" sz="900" dirty="0"/>
          </a:p>
        </p:txBody>
      </p:sp>
      <p:sp>
        <p:nvSpPr>
          <p:cNvPr id="31" name="Text 29"/>
          <p:cNvSpPr/>
          <p:nvPr/>
        </p:nvSpPr>
        <p:spPr>
          <a:xfrm>
            <a:off x="5111496" y="3657600"/>
            <a:ext cx="2560320" cy="256032"/>
          </a:xfrm>
          <a:prstGeom prst="rect">
            <a:avLst/>
          </a:prstGeom>
          <a:noFill/>
        </p:spPr>
        <p:txBody>
          <a:bodyPr wrap="square" lIns="0" tIns="0" rIns="0" bIns="0" rtlCol="0" anchor="ctr"/>
          <a:lstStyle/>
          <a:p>
            <a:pPr marL="0" indent="0">
              <a:buNone/>
            </a:pPr>
            <a:r>
              <a:rPr lang="en-US" sz="1250" b="1" dirty="0">
                <a:solidFill>
                  <a:srgbClr val="0F172A"/>
                </a:solidFill>
                <a:latin typeface="Aptos" pitchFamily="34" charset="0"/>
                <a:ea typeface="Aptos" pitchFamily="34" charset="-122"/>
                <a:cs typeface="Aptos" pitchFamily="34" charset="-120"/>
              </a:rPr>
              <a:t>REPORT</a:t>
            </a:r>
            <a:endParaRPr lang="en-US" sz="1250" dirty="0"/>
          </a:p>
        </p:txBody>
      </p:sp>
      <p:sp>
        <p:nvSpPr>
          <p:cNvPr id="32" name="Text 30"/>
          <p:cNvSpPr/>
          <p:nvPr/>
        </p:nvSpPr>
        <p:spPr>
          <a:xfrm>
            <a:off x="5111496" y="4059936"/>
            <a:ext cx="2560320" cy="566928"/>
          </a:xfrm>
          <a:prstGeom prst="rect">
            <a:avLst/>
          </a:prstGeom>
          <a:noFill/>
        </p:spPr>
        <p:txBody>
          <a:bodyPr wrap="square" lIns="0" tIns="0" rIns="0" bIns="0" rtlCol="0" anchor="ctr">
            <a:normAutofit/>
          </a:bodyPr>
          <a:lstStyle/>
          <a:p>
            <a:pPr marL="0" indent="0">
              <a:buNone/>
            </a:pPr>
            <a:r>
              <a:rPr lang="en-US" sz="1020" dirty="0">
                <a:solidFill>
                  <a:srgbClr val="64748B"/>
                </a:solidFill>
                <a:latin typeface="Aptos" pitchFamily="34" charset="0"/>
                <a:ea typeface="Aptos" pitchFamily="34" charset="-122"/>
                <a:cs typeface="Aptos" pitchFamily="34" charset="-120"/>
              </a:rPr>
              <a:t>Map findings to ATLAS and NIST; preserve evidence.</a:t>
            </a:r>
            <a:endParaRPr lang="en-US" sz="1020" dirty="0"/>
          </a:p>
        </p:txBody>
      </p:sp>
      <p:sp>
        <p:nvSpPr>
          <p:cNvPr id="33" name="Shape 31"/>
          <p:cNvSpPr/>
          <p:nvPr/>
        </p:nvSpPr>
        <p:spPr>
          <a:xfrm>
            <a:off x="530352" y="5431536"/>
            <a:ext cx="11128248" cy="731520"/>
          </a:xfrm>
          <a:prstGeom prst="roundRect">
            <a:avLst>
              <a:gd name="adj" fmla="val 10000"/>
            </a:avLst>
          </a:prstGeom>
          <a:solidFill>
            <a:srgbClr val="FFFFFF"/>
          </a:solidFill>
          <a:ln w="12700">
            <a:solidFill>
              <a:srgbClr val="E2E8F0">
                <a:alpha val="90000"/>
              </a:srgbClr>
            </a:solidFill>
            <a:prstDash val="solid"/>
          </a:ln>
        </p:spPr>
        <p:txBody>
          <a:bodyPr/>
          <a:p/>
        </p:txBody>
      </p:sp>
      <p:sp>
        <p:nvSpPr>
          <p:cNvPr id="34" name="Text 32"/>
          <p:cNvSpPr/>
          <p:nvPr/>
        </p:nvSpPr>
        <p:spPr>
          <a:xfrm>
            <a:off x="749808" y="5641848"/>
            <a:ext cx="685800" cy="201168"/>
          </a:xfrm>
          <a:prstGeom prst="rect">
            <a:avLst/>
          </a:prstGeom>
          <a:noFill/>
        </p:spPr>
        <p:txBody>
          <a:bodyPr wrap="square" lIns="0" tIns="0" rIns="0" bIns="0" rtlCol="0" anchor="ctr"/>
          <a:lstStyle/>
          <a:p>
            <a:pPr marL="0" indent="0">
              <a:buNone/>
            </a:pPr>
            <a:r>
              <a:rPr lang="en-US" sz="900" b="1" dirty="0">
                <a:solidFill>
                  <a:srgbClr val="A16207"/>
                </a:solidFill>
                <a:latin typeface="Aptos" pitchFamily="34" charset="0"/>
                <a:ea typeface="Aptos" pitchFamily="34" charset="-122"/>
                <a:cs typeface="Aptos" pitchFamily="34" charset="-120"/>
              </a:rPr>
              <a:t>BONUS</a:t>
            </a:r>
            <a:endParaRPr lang="en-US" sz="900" dirty="0"/>
          </a:p>
        </p:txBody>
      </p:sp>
      <p:sp>
        <p:nvSpPr>
          <p:cNvPr id="35" name="Text 33"/>
          <p:cNvSpPr/>
          <p:nvPr/>
        </p:nvSpPr>
        <p:spPr>
          <a:xfrm>
            <a:off x="1508760" y="5596128"/>
            <a:ext cx="9646920" cy="274320"/>
          </a:xfrm>
          <a:prstGeom prst="rect">
            <a:avLst/>
          </a:prstGeom>
          <a:noFill/>
        </p:spPr>
        <p:txBody>
          <a:bodyPr wrap="square" lIns="0" tIns="0" rIns="0" bIns="0" rtlCol="0" anchor="ctr">
            <a:normAutofit/>
          </a:bodyPr>
          <a:lstStyle/>
          <a:p>
            <a:pPr marL="0" indent="0">
              <a:buNone/>
            </a:pPr>
            <a:r>
              <a:rPr lang="en-US" sz="1020" dirty="0">
                <a:solidFill>
                  <a:srgbClr val="334155"/>
                </a:solidFill>
                <a:latin typeface="Aptos" pitchFamily="34" charset="0"/>
                <a:ea typeface="Aptos" pitchFamily="34" charset="-122"/>
                <a:cs typeface="Aptos" pitchFamily="34" charset="-120"/>
              </a:rPr>
              <a:t>Structured security logging  •  controlled backdoor  •  membership inference attempt</a:t>
            </a:r>
            <a:endParaRPr lang="en-US" sz="1020" dirty="0"/>
          </a:p>
        </p:txBody>
      </p:sp>
      <p:sp>
        <p:nvSpPr>
          <p:cNvPr id="36" name="Text 34"/>
          <p:cNvSpPr/>
          <p:nvPr/>
        </p:nvSpPr>
        <p:spPr>
          <a:xfrm>
            <a:off x="11109960" y="6556248"/>
            <a:ext cx="457200" cy="164592"/>
          </a:xfrm>
          <a:prstGeom prst="rect">
            <a:avLst/>
          </a:prstGeom>
          <a:noFill/>
        </p:spPr>
        <p:txBody>
          <a:bodyPr wrap="square" lIns="0" tIns="0" rIns="0" bIns="0" rtlCol="0" anchor="ctr"/>
          <a:lstStyle/>
          <a:p>
            <a:pPr marL="0" indent="0" algn="r">
              <a:buNone/>
            </a:pPr>
            <a:r>
              <a:rPr lang="en-US" sz="800" dirty="0">
                <a:solidFill>
                  <a:srgbClr val="64748B"/>
                </a:solidFill>
                <a:latin typeface="Aptos" pitchFamily="34" charset="0"/>
                <a:ea typeface="Aptos" pitchFamily="34" charset="-122"/>
                <a:cs typeface="Aptos"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320040"/>
            <a:ext cx="11365992" cy="0"/>
          </a:xfrm>
          <a:prstGeom prst="line">
            <a:avLst/>
          </a:prstGeom>
          <a:noFill/>
          <a:ln w="12700">
            <a:solidFill>
              <a:srgbClr val="E2E8F0"/>
            </a:solidFill>
            <a:prstDash val="solid"/>
          </a:ln>
        </p:spPr>
        <p:txBody>
          <a:bodyPr/>
          <a:p/>
        </p:txBody>
      </p:sp>
      <p:sp>
        <p:nvSpPr>
          <p:cNvPr id="3" name="Shape 1"/>
          <p:cNvSpPr/>
          <p:nvPr/>
        </p:nvSpPr>
        <p:spPr>
          <a:xfrm>
            <a:off x="411480" y="6492240"/>
            <a:ext cx="11365992" cy="0"/>
          </a:xfrm>
          <a:prstGeom prst="line">
            <a:avLst/>
          </a:prstGeom>
          <a:noFill/>
          <a:ln w="12700">
            <a:solidFill>
              <a:srgbClr val="E2E8F0"/>
            </a:solidFill>
            <a:prstDash val="solid"/>
          </a:ln>
        </p:spPr>
        <p:txBody>
          <a:bodyPr/>
          <a:p/>
        </p:txBody>
      </p:sp>
      <p:sp>
        <p:nvSpPr>
          <p:cNvPr id="4" name="Shape 2"/>
          <p:cNvSpPr/>
          <p:nvPr/>
        </p:nvSpPr>
        <p:spPr>
          <a:xfrm rot="1080000">
            <a:off x="10744200" y="-640080"/>
            <a:ext cx="1920240" cy="1920240"/>
          </a:xfrm>
          <a:prstGeom prst="arc">
            <a:avLst/>
          </a:prstGeom>
          <a:solidFill>
            <a:srgbClr val="FFFFFF">
              <a:alpha val="0"/>
            </a:srgbClr>
          </a:solidFill>
          <a:ln w="12700">
            <a:solidFill>
              <a:srgbClr val="E2E8F0">
                <a:alpha val="55000"/>
              </a:srgbClr>
            </a:solidFill>
            <a:prstDash val="solid"/>
          </a:ln>
        </p:spPr>
        <p:txBody>
          <a:bodyPr/>
          <a:p/>
        </p:txBody>
      </p:sp>
      <p:sp>
        <p:nvSpPr>
          <p:cNvPr id="5" name="Text 3"/>
          <p:cNvSpPr/>
          <p:nvPr/>
        </p:nvSpPr>
        <p:spPr>
          <a:xfrm>
            <a:off x="502920" y="73152"/>
            <a:ext cx="3840480" cy="182880"/>
          </a:xfrm>
          <a:prstGeom prst="rect">
            <a:avLst/>
          </a:prstGeom>
          <a:noFill/>
        </p:spPr>
        <p:txBody>
          <a:bodyPr wrap="square" lIns="0" tIns="0" rIns="0" bIns="0" rtlCol="0" anchor="ctr"/>
          <a:lstStyle/>
          <a:p>
            <a:pPr marL="0" indent="0">
              <a:buNone/>
            </a:pPr>
            <a:r>
              <a:rPr lang="en-US" sz="900" b="1" kern="0" spc="140" dirty="0">
                <a:solidFill>
                  <a:srgbClr val="0E7490"/>
                </a:solidFill>
                <a:latin typeface="Aptos" pitchFamily="34" charset="0"/>
                <a:ea typeface="Aptos" pitchFamily="34" charset="-122"/>
                <a:cs typeface="Aptos" pitchFamily="34" charset="-120"/>
              </a:rPr>
              <a:t>ARCHITECTURE</a:t>
            </a:r>
            <a:endParaRPr lang="en-US" sz="900" dirty="0"/>
          </a:p>
        </p:txBody>
      </p:sp>
      <p:sp>
        <p:nvSpPr>
          <p:cNvPr id="6" name="Text 4"/>
          <p:cNvSpPr/>
          <p:nvPr/>
        </p:nvSpPr>
        <p:spPr>
          <a:xfrm>
            <a:off x="502920" y="530352"/>
            <a:ext cx="10561320" cy="502920"/>
          </a:xfrm>
          <a:prstGeom prst="rect">
            <a:avLst/>
          </a:prstGeom>
          <a:noFill/>
        </p:spPr>
        <p:txBody>
          <a:bodyPr wrap="square" lIns="0" tIns="0" rIns="0" bIns="0" rtlCol="0" anchor="ctr">
            <a:normAutofit/>
          </a:bodyP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03 • System Under Test</a:t>
            </a:r>
            <a:endParaRPr lang="en-US" sz="2500" dirty="0"/>
          </a:p>
        </p:txBody>
      </p:sp>
      <p:sp>
        <p:nvSpPr>
          <p:cNvPr id="7" name="Text 5"/>
          <p:cNvSpPr/>
          <p:nvPr/>
        </p:nvSpPr>
        <p:spPr>
          <a:xfrm>
            <a:off x="530352" y="1060704"/>
            <a:ext cx="10332720" cy="347472"/>
          </a:xfrm>
          <a:prstGeom prst="rect">
            <a:avLst/>
          </a:prstGeom>
          <a:noFill/>
        </p:spPr>
        <p:txBody>
          <a:bodyPr wrap="square" lIns="0" tIns="0" rIns="0" bIns="0" rtlCol="0" anchor="ctr">
            <a:normAutofit/>
          </a:bodyPr>
          <a:lstStyle/>
          <a:p>
            <a:pPr marL="0" indent="0">
              <a:buNone/>
            </a:pPr>
            <a:r>
              <a:rPr lang="en-US" sz="1150" dirty="0">
                <a:solidFill>
                  <a:srgbClr val="64748B"/>
                </a:solidFill>
                <a:latin typeface="Aptos" pitchFamily="34" charset="0"/>
                <a:ea typeface="Aptos" pitchFamily="34" charset="-122"/>
                <a:cs typeface="Aptos" pitchFamily="34" charset="-120"/>
              </a:rPr>
              <a:t>I reviewed the full path from image input to runtime.</a:t>
            </a:r>
            <a:endParaRPr lang="en-US" sz="1150" dirty="0"/>
          </a:p>
        </p:txBody>
      </p:sp>
      <p:sp>
        <p:nvSpPr>
          <p:cNvPr id="8" name="Shape 6"/>
          <p:cNvSpPr/>
          <p:nvPr/>
        </p:nvSpPr>
        <p:spPr>
          <a:xfrm>
            <a:off x="576072" y="1965960"/>
            <a:ext cx="1965960" cy="1005840"/>
          </a:xfrm>
          <a:prstGeom prst="roundRect">
            <a:avLst>
              <a:gd name="adj" fmla="val 7273"/>
            </a:avLst>
          </a:prstGeom>
          <a:solidFill>
            <a:srgbClr val="F1F5F9"/>
          </a:solidFill>
          <a:ln w="12700">
            <a:solidFill>
              <a:srgbClr val="E2E8F0">
                <a:alpha val="90000"/>
              </a:srgbClr>
            </a:solidFill>
            <a:prstDash val="solid"/>
          </a:ln>
        </p:spPr>
        <p:txBody>
          <a:bodyPr/>
          <a:p/>
        </p:txBody>
      </p:sp>
      <p:sp>
        <p:nvSpPr>
          <p:cNvPr id="9" name="Shape 7"/>
          <p:cNvSpPr/>
          <p:nvPr/>
        </p:nvSpPr>
        <p:spPr>
          <a:xfrm>
            <a:off x="740664" y="2130552"/>
            <a:ext cx="310896" cy="310896"/>
          </a:xfrm>
          <a:prstGeom prst="ellipse">
            <a:avLst/>
          </a:prstGeom>
          <a:solidFill>
            <a:srgbClr val="56E0FF">
              <a:alpha val="15000"/>
            </a:srgbClr>
          </a:solidFill>
          <a:ln w="15240">
            <a:solidFill>
              <a:srgbClr val="0E7490"/>
            </a:solidFill>
            <a:prstDash val="solid"/>
          </a:ln>
        </p:spPr>
        <p:txBody>
          <a:bodyPr/>
          <a:p/>
        </p:txBody>
      </p:sp>
      <p:sp>
        <p:nvSpPr>
          <p:cNvPr id="10" name="Shape 8"/>
          <p:cNvSpPr/>
          <p:nvPr/>
        </p:nvSpPr>
        <p:spPr>
          <a:xfrm>
            <a:off x="832104" y="2221992"/>
            <a:ext cx="128016" cy="128016"/>
          </a:xfrm>
          <a:prstGeom prst="ellipse">
            <a:avLst/>
          </a:prstGeom>
          <a:solidFill>
            <a:srgbClr val="56E0FF"/>
          </a:solidFill>
          <a:ln w="12700">
            <a:solidFill>
              <a:srgbClr val="0E7490"/>
            </a:solidFill>
            <a:prstDash val="solid"/>
          </a:ln>
        </p:spPr>
        <p:txBody>
          <a:bodyPr/>
          <a:p/>
        </p:txBody>
      </p:sp>
      <p:sp>
        <p:nvSpPr>
          <p:cNvPr id="11" name="Text 9"/>
          <p:cNvSpPr/>
          <p:nvPr/>
        </p:nvSpPr>
        <p:spPr>
          <a:xfrm>
            <a:off x="1161288" y="2075688"/>
            <a:ext cx="1234440" cy="256032"/>
          </a:xfrm>
          <a:prstGeom prst="rect">
            <a:avLst/>
          </a:prstGeom>
          <a:noFill/>
        </p:spPr>
        <p:txBody>
          <a:bodyPr wrap="square" lIns="0" tIns="0" rIns="0" bIns="0" rtlCol="0" anchor="ctr">
            <a:normAutofit/>
          </a:bodyPr>
          <a:lstStyle/>
          <a:p>
            <a:pPr marL="0" indent="0">
              <a:buNone/>
            </a:pPr>
            <a:r>
              <a:rPr lang="en-US" sz="1150" b="1" dirty="0">
                <a:solidFill>
                  <a:srgbClr val="0F172A"/>
                </a:solidFill>
                <a:latin typeface="Aptos" pitchFamily="34" charset="0"/>
                <a:ea typeface="Aptos" pitchFamily="34" charset="-122"/>
                <a:cs typeface="Aptos" pitchFamily="34" charset="-120"/>
              </a:rPr>
              <a:t>Image</a:t>
            </a:r>
            <a:endParaRPr lang="en-US" sz="1150" dirty="0"/>
          </a:p>
        </p:txBody>
      </p:sp>
      <p:sp>
        <p:nvSpPr>
          <p:cNvPr id="12" name="Text 10"/>
          <p:cNvSpPr/>
          <p:nvPr/>
        </p:nvSpPr>
        <p:spPr>
          <a:xfrm>
            <a:off x="1161288" y="2359152"/>
            <a:ext cx="1188720" cy="512064"/>
          </a:xfrm>
          <a:prstGeom prst="rect">
            <a:avLst/>
          </a:prstGeom>
          <a:noFill/>
        </p:spPr>
        <p:txBody>
          <a:bodyPr wrap="square" lIns="0" tIns="0" rIns="0" bIns="0" rtlCol="0" anchor="ctr">
            <a:normAutofit/>
          </a:bodyPr>
          <a:lstStyle/>
          <a:p>
            <a:pPr marL="0" indent="0">
              <a:buNone/>
            </a:pPr>
            <a:r>
              <a:rPr lang="en-US" sz="880" dirty="0">
                <a:solidFill>
                  <a:srgbClr val="64748B"/>
                </a:solidFill>
                <a:latin typeface="Aptos" pitchFamily="34" charset="0"/>
                <a:ea typeface="Aptos" pitchFamily="34" charset="-122"/>
                <a:cs typeface="Aptos" pitchFamily="34" charset="-120"/>
              </a:rPr>
              <a:t>MNIST / uploaded input</a:t>
            </a:r>
            <a:endParaRPr lang="en-US" sz="880" dirty="0"/>
          </a:p>
        </p:txBody>
      </p:sp>
      <p:sp>
        <p:nvSpPr>
          <p:cNvPr id="13" name="Shape 11"/>
          <p:cNvSpPr/>
          <p:nvPr/>
        </p:nvSpPr>
        <p:spPr>
          <a:xfrm>
            <a:off x="2560320" y="2468880"/>
            <a:ext cx="594360" cy="0"/>
          </a:xfrm>
          <a:prstGeom prst="line">
            <a:avLst/>
          </a:prstGeom>
          <a:noFill/>
          <a:ln w="25400">
            <a:solidFill>
              <a:srgbClr val="0E7490"/>
            </a:solidFill>
            <a:prstDash val="solid"/>
            <a:headEnd type="none"/>
            <a:tailEnd type="triangle"/>
          </a:ln>
        </p:spPr>
        <p:txBody>
          <a:bodyPr/>
          <a:p/>
        </p:txBody>
      </p:sp>
      <p:sp>
        <p:nvSpPr>
          <p:cNvPr id="14" name="Shape 12"/>
          <p:cNvSpPr/>
          <p:nvPr/>
        </p:nvSpPr>
        <p:spPr>
          <a:xfrm>
            <a:off x="3172968" y="1965960"/>
            <a:ext cx="2057400" cy="1005840"/>
          </a:xfrm>
          <a:prstGeom prst="roundRect">
            <a:avLst>
              <a:gd name="adj" fmla="val 7273"/>
            </a:avLst>
          </a:prstGeom>
          <a:solidFill>
            <a:srgbClr val="F1F5F9"/>
          </a:solidFill>
          <a:ln w="12700">
            <a:solidFill>
              <a:srgbClr val="E2E8F0">
                <a:alpha val="90000"/>
              </a:srgbClr>
            </a:solidFill>
            <a:prstDash val="solid"/>
          </a:ln>
        </p:spPr>
        <p:txBody>
          <a:bodyPr/>
          <a:p/>
        </p:txBody>
      </p:sp>
      <p:sp>
        <p:nvSpPr>
          <p:cNvPr id="15" name="Shape 13"/>
          <p:cNvSpPr/>
          <p:nvPr/>
        </p:nvSpPr>
        <p:spPr>
          <a:xfrm>
            <a:off x="3337560" y="2130552"/>
            <a:ext cx="310896" cy="310896"/>
          </a:xfrm>
          <a:prstGeom prst="ellipse">
            <a:avLst/>
          </a:prstGeom>
          <a:solidFill>
            <a:srgbClr val="5C8DFF">
              <a:alpha val="15000"/>
            </a:srgbClr>
          </a:solidFill>
          <a:ln w="15240">
            <a:solidFill>
              <a:srgbClr val="2563EB"/>
            </a:solidFill>
            <a:prstDash val="solid"/>
          </a:ln>
        </p:spPr>
        <p:txBody>
          <a:bodyPr/>
          <a:p/>
        </p:txBody>
      </p:sp>
      <p:sp>
        <p:nvSpPr>
          <p:cNvPr id="16" name="Shape 14"/>
          <p:cNvSpPr/>
          <p:nvPr/>
        </p:nvSpPr>
        <p:spPr>
          <a:xfrm>
            <a:off x="3429000" y="2221992"/>
            <a:ext cx="128016" cy="128016"/>
          </a:xfrm>
          <a:prstGeom prst="ellipse">
            <a:avLst/>
          </a:prstGeom>
          <a:solidFill>
            <a:srgbClr val="5C8DFF"/>
          </a:solidFill>
          <a:ln w="12700">
            <a:solidFill>
              <a:srgbClr val="2563EB"/>
            </a:solidFill>
            <a:prstDash val="solid"/>
          </a:ln>
        </p:spPr>
        <p:txBody>
          <a:bodyPr/>
          <a:p/>
        </p:txBody>
      </p:sp>
      <p:sp>
        <p:nvSpPr>
          <p:cNvPr id="17" name="Text 15"/>
          <p:cNvSpPr/>
          <p:nvPr/>
        </p:nvSpPr>
        <p:spPr>
          <a:xfrm>
            <a:off x="3758184" y="2075688"/>
            <a:ext cx="1325880" cy="256032"/>
          </a:xfrm>
          <a:prstGeom prst="rect">
            <a:avLst/>
          </a:prstGeom>
          <a:noFill/>
        </p:spPr>
        <p:txBody>
          <a:bodyPr wrap="square" lIns="0" tIns="0" rIns="0" bIns="0" rtlCol="0" anchor="ctr">
            <a:normAutofit/>
          </a:bodyPr>
          <a:lstStyle/>
          <a:p>
            <a:pPr marL="0" indent="0">
              <a:buNone/>
            </a:pPr>
            <a:r>
              <a:rPr lang="en-US" sz="1150" b="1" dirty="0">
                <a:solidFill>
                  <a:srgbClr val="0F172A"/>
                </a:solidFill>
                <a:latin typeface="Aptos" pitchFamily="34" charset="0"/>
                <a:ea typeface="Aptos" pitchFamily="34" charset="-122"/>
                <a:cs typeface="Aptos" pitchFamily="34" charset="-120"/>
              </a:rPr>
              <a:t>Preprocessing</a:t>
            </a:r>
            <a:endParaRPr lang="en-US" sz="1150" dirty="0"/>
          </a:p>
        </p:txBody>
      </p:sp>
      <p:sp>
        <p:nvSpPr>
          <p:cNvPr id="18" name="Text 16"/>
          <p:cNvSpPr/>
          <p:nvPr/>
        </p:nvSpPr>
        <p:spPr>
          <a:xfrm>
            <a:off x="3758184" y="2359152"/>
            <a:ext cx="1280160" cy="512064"/>
          </a:xfrm>
          <a:prstGeom prst="rect">
            <a:avLst/>
          </a:prstGeom>
          <a:noFill/>
        </p:spPr>
        <p:txBody>
          <a:bodyPr wrap="square" lIns="0" tIns="0" rIns="0" bIns="0" rtlCol="0" anchor="ctr">
            <a:normAutofit/>
          </a:bodyPr>
          <a:lstStyle/>
          <a:p>
            <a:pPr marL="0" indent="0">
              <a:buNone/>
            </a:pPr>
            <a:r>
              <a:rPr lang="en-US" sz="880" dirty="0">
                <a:solidFill>
                  <a:srgbClr val="64748B"/>
                </a:solidFill>
                <a:latin typeface="Aptos" pitchFamily="34" charset="0"/>
                <a:ea typeface="Aptos" pitchFamily="34" charset="-122"/>
                <a:cs typeface="Aptos" pitchFamily="34" charset="-120"/>
              </a:rPr>
              <a:t>decode → grayscale → 32×32 → tensor</a:t>
            </a:r>
            <a:endParaRPr lang="en-US" sz="880" dirty="0"/>
          </a:p>
        </p:txBody>
      </p:sp>
      <p:sp>
        <p:nvSpPr>
          <p:cNvPr id="19" name="Shape 17"/>
          <p:cNvSpPr/>
          <p:nvPr/>
        </p:nvSpPr>
        <p:spPr>
          <a:xfrm>
            <a:off x="5257800" y="2468880"/>
            <a:ext cx="594360" cy="0"/>
          </a:xfrm>
          <a:prstGeom prst="line">
            <a:avLst/>
          </a:prstGeom>
          <a:noFill/>
          <a:ln w="25400">
            <a:solidFill>
              <a:srgbClr val="2563EB"/>
            </a:solidFill>
            <a:prstDash val="solid"/>
            <a:headEnd type="none"/>
            <a:tailEnd type="triangle"/>
          </a:ln>
        </p:spPr>
        <p:txBody>
          <a:bodyPr/>
          <a:p/>
        </p:txBody>
      </p:sp>
      <p:sp>
        <p:nvSpPr>
          <p:cNvPr id="20" name="Shape 18"/>
          <p:cNvSpPr/>
          <p:nvPr/>
        </p:nvSpPr>
        <p:spPr>
          <a:xfrm>
            <a:off x="5870448" y="1965960"/>
            <a:ext cx="1965960" cy="1005840"/>
          </a:xfrm>
          <a:prstGeom prst="roundRect">
            <a:avLst>
              <a:gd name="adj" fmla="val 7273"/>
            </a:avLst>
          </a:prstGeom>
          <a:solidFill>
            <a:srgbClr val="F1F5F9"/>
          </a:solidFill>
          <a:ln w="12700">
            <a:solidFill>
              <a:srgbClr val="E2E8F0">
                <a:alpha val="90000"/>
              </a:srgbClr>
            </a:solidFill>
            <a:prstDash val="solid"/>
          </a:ln>
        </p:spPr>
        <p:txBody>
          <a:bodyPr/>
          <a:p/>
        </p:txBody>
      </p:sp>
      <p:sp>
        <p:nvSpPr>
          <p:cNvPr id="21" name="Shape 19"/>
          <p:cNvSpPr/>
          <p:nvPr/>
        </p:nvSpPr>
        <p:spPr>
          <a:xfrm>
            <a:off x="6035040" y="2130552"/>
            <a:ext cx="310896" cy="310896"/>
          </a:xfrm>
          <a:prstGeom prst="ellipse">
            <a:avLst/>
          </a:prstGeom>
          <a:solidFill>
            <a:srgbClr val="8A7CFF">
              <a:alpha val="15000"/>
            </a:srgbClr>
          </a:solidFill>
          <a:ln w="15240">
            <a:solidFill>
              <a:srgbClr val="6D28D9"/>
            </a:solidFill>
            <a:prstDash val="solid"/>
          </a:ln>
        </p:spPr>
        <p:txBody>
          <a:bodyPr/>
          <a:p/>
        </p:txBody>
      </p:sp>
      <p:sp>
        <p:nvSpPr>
          <p:cNvPr id="22" name="Shape 20"/>
          <p:cNvSpPr/>
          <p:nvPr/>
        </p:nvSpPr>
        <p:spPr>
          <a:xfrm>
            <a:off x="6126480" y="2221992"/>
            <a:ext cx="128016" cy="128016"/>
          </a:xfrm>
          <a:prstGeom prst="ellipse">
            <a:avLst/>
          </a:prstGeom>
          <a:solidFill>
            <a:srgbClr val="8A7CFF"/>
          </a:solidFill>
          <a:ln w="12700">
            <a:solidFill>
              <a:srgbClr val="6D28D9"/>
            </a:solidFill>
            <a:prstDash val="solid"/>
          </a:ln>
        </p:spPr>
        <p:txBody>
          <a:bodyPr/>
          <a:p/>
        </p:txBody>
      </p:sp>
      <p:sp>
        <p:nvSpPr>
          <p:cNvPr id="23" name="Text 21"/>
          <p:cNvSpPr/>
          <p:nvPr/>
        </p:nvSpPr>
        <p:spPr>
          <a:xfrm>
            <a:off x="6455664" y="2075688"/>
            <a:ext cx="1234440" cy="256032"/>
          </a:xfrm>
          <a:prstGeom prst="rect">
            <a:avLst/>
          </a:prstGeom>
          <a:noFill/>
        </p:spPr>
        <p:txBody>
          <a:bodyPr wrap="square" lIns="0" tIns="0" rIns="0" bIns="0" rtlCol="0" anchor="ctr">
            <a:normAutofit/>
          </a:bodyPr>
          <a:lstStyle/>
          <a:p>
            <a:pPr marL="0" indent="0">
              <a:buNone/>
            </a:pPr>
            <a:r>
              <a:rPr lang="en-US" sz="1150" b="1" dirty="0">
                <a:solidFill>
                  <a:srgbClr val="0F172A"/>
                </a:solidFill>
                <a:latin typeface="Aptos" pitchFamily="34" charset="0"/>
                <a:ea typeface="Aptos" pitchFamily="34" charset="-122"/>
                <a:cs typeface="Aptos" pitchFamily="34" charset="-120"/>
              </a:rPr>
              <a:t>RedMnistNet</a:t>
            </a:r>
            <a:endParaRPr lang="en-US" sz="1150" dirty="0"/>
          </a:p>
        </p:txBody>
      </p:sp>
      <p:sp>
        <p:nvSpPr>
          <p:cNvPr id="24" name="Text 22"/>
          <p:cNvSpPr/>
          <p:nvPr/>
        </p:nvSpPr>
        <p:spPr>
          <a:xfrm>
            <a:off x="6455664" y="2359152"/>
            <a:ext cx="1188720" cy="512064"/>
          </a:xfrm>
          <a:prstGeom prst="rect">
            <a:avLst/>
          </a:prstGeom>
          <a:noFill/>
        </p:spPr>
        <p:txBody>
          <a:bodyPr wrap="square" lIns="0" tIns="0" rIns="0" bIns="0" rtlCol="0" anchor="ctr">
            <a:normAutofit/>
          </a:bodyPr>
          <a:lstStyle/>
          <a:p>
            <a:pPr marL="0" indent="0">
              <a:buNone/>
            </a:pPr>
            <a:r>
              <a:rPr lang="en-US" sz="880" dirty="0">
                <a:solidFill>
                  <a:srgbClr val="64748B"/>
                </a:solidFill>
                <a:latin typeface="Aptos" pitchFamily="34" charset="0"/>
                <a:ea typeface="Aptos" pitchFamily="34" charset="-122"/>
                <a:cs typeface="Aptos" pitchFamily="34" charset="-120"/>
              </a:rPr>
              <a:t>CNN → 10 classes</a:t>
            </a:r>
            <a:endParaRPr lang="en-US" sz="880" dirty="0"/>
          </a:p>
        </p:txBody>
      </p:sp>
      <p:sp>
        <p:nvSpPr>
          <p:cNvPr id="25" name="Shape 23"/>
          <p:cNvSpPr/>
          <p:nvPr/>
        </p:nvSpPr>
        <p:spPr>
          <a:xfrm>
            <a:off x="7863840" y="2468880"/>
            <a:ext cx="594360" cy="0"/>
          </a:xfrm>
          <a:prstGeom prst="line">
            <a:avLst/>
          </a:prstGeom>
          <a:noFill/>
          <a:ln w="25400">
            <a:solidFill>
              <a:srgbClr val="6D28D9"/>
            </a:solidFill>
            <a:prstDash val="solid"/>
            <a:headEnd type="none"/>
            <a:tailEnd type="triangle"/>
          </a:ln>
        </p:spPr>
        <p:txBody>
          <a:bodyPr/>
          <a:p/>
        </p:txBody>
      </p:sp>
      <p:sp>
        <p:nvSpPr>
          <p:cNvPr id="26" name="Shape 24"/>
          <p:cNvSpPr/>
          <p:nvPr/>
        </p:nvSpPr>
        <p:spPr>
          <a:xfrm>
            <a:off x="8476488" y="1965960"/>
            <a:ext cx="1965960" cy="1005840"/>
          </a:xfrm>
          <a:prstGeom prst="roundRect">
            <a:avLst>
              <a:gd name="adj" fmla="val 7273"/>
            </a:avLst>
          </a:prstGeom>
          <a:solidFill>
            <a:srgbClr val="F1F5F9"/>
          </a:solidFill>
          <a:ln w="12700">
            <a:solidFill>
              <a:srgbClr val="E2E8F0">
                <a:alpha val="90000"/>
              </a:srgbClr>
            </a:solidFill>
            <a:prstDash val="solid"/>
          </a:ln>
        </p:spPr>
        <p:txBody>
          <a:bodyPr/>
          <a:p/>
        </p:txBody>
      </p:sp>
      <p:sp>
        <p:nvSpPr>
          <p:cNvPr id="27" name="Shape 25"/>
          <p:cNvSpPr/>
          <p:nvPr/>
        </p:nvSpPr>
        <p:spPr>
          <a:xfrm>
            <a:off x="8641080" y="2130552"/>
            <a:ext cx="310896" cy="310896"/>
          </a:xfrm>
          <a:prstGeom prst="ellipse">
            <a:avLst/>
          </a:prstGeom>
          <a:solidFill>
            <a:srgbClr val="FFC857">
              <a:alpha val="15000"/>
            </a:srgbClr>
          </a:solidFill>
          <a:ln w="15240">
            <a:solidFill>
              <a:srgbClr val="A16207"/>
            </a:solidFill>
            <a:prstDash val="solid"/>
          </a:ln>
        </p:spPr>
        <p:txBody>
          <a:bodyPr/>
          <a:p/>
        </p:txBody>
      </p:sp>
      <p:sp>
        <p:nvSpPr>
          <p:cNvPr id="28" name="Shape 26"/>
          <p:cNvSpPr/>
          <p:nvPr/>
        </p:nvSpPr>
        <p:spPr>
          <a:xfrm>
            <a:off x="8732520" y="2221992"/>
            <a:ext cx="128016" cy="128016"/>
          </a:xfrm>
          <a:prstGeom prst="ellipse">
            <a:avLst/>
          </a:prstGeom>
          <a:solidFill>
            <a:srgbClr val="FFC857"/>
          </a:solidFill>
          <a:ln w="12700">
            <a:solidFill>
              <a:srgbClr val="A16207"/>
            </a:solidFill>
            <a:prstDash val="solid"/>
          </a:ln>
        </p:spPr>
        <p:txBody>
          <a:bodyPr/>
          <a:p/>
        </p:txBody>
      </p:sp>
      <p:sp>
        <p:nvSpPr>
          <p:cNvPr id="29" name="Text 27"/>
          <p:cNvSpPr/>
          <p:nvPr/>
        </p:nvSpPr>
        <p:spPr>
          <a:xfrm>
            <a:off x="9061704" y="2075688"/>
            <a:ext cx="1234440" cy="256032"/>
          </a:xfrm>
          <a:prstGeom prst="rect">
            <a:avLst/>
          </a:prstGeom>
          <a:noFill/>
        </p:spPr>
        <p:txBody>
          <a:bodyPr wrap="square" lIns="0" tIns="0" rIns="0" bIns="0" rtlCol="0" anchor="ctr">
            <a:normAutofit/>
          </a:bodyPr>
          <a:lstStyle/>
          <a:p>
            <a:pPr marL="0" indent="0">
              <a:buNone/>
            </a:pPr>
            <a:r>
              <a:rPr lang="en-US" sz="1150" b="1" dirty="0">
                <a:solidFill>
                  <a:srgbClr val="0F172A"/>
                </a:solidFill>
                <a:latin typeface="Aptos" pitchFamily="34" charset="0"/>
                <a:ea typeface="Aptos" pitchFamily="34" charset="-122"/>
                <a:cs typeface="Aptos" pitchFamily="34" charset="-120"/>
              </a:rPr>
              <a:t>FastAPI</a:t>
            </a:r>
            <a:endParaRPr lang="en-US" sz="1150" dirty="0"/>
          </a:p>
        </p:txBody>
      </p:sp>
      <p:sp>
        <p:nvSpPr>
          <p:cNvPr id="30" name="Text 28"/>
          <p:cNvSpPr/>
          <p:nvPr/>
        </p:nvSpPr>
        <p:spPr>
          <a:xfrm>
            <a:off x="9061704" y="2359152"/>
            <a:ext cx="1188720" cy="512064"/>
          </a:xfrm>
          <a:prstGeom prst="rect">
            <a:avLst/>
          </a:prstGeom>
          <a:noFill/>
        </p:spPr>
        <p:txBody>
          <a:bodyPr wrap="square" lIns="0" tIns="0" rIns="0" bIns="0" rtlCol="0" anchor="ctr">
            <a:normAutofit/>
          </a:bodyPr>
          <a:lstStyle/>
          <a:p>
            <a:pPr marL="0" indent="0">
              <a:buNone/>
            </a:pPr>
            <a:r>
              <a:rPr lang="en-US" sz="880" dirty="0">
                <a:solidFill>
                  <a:srgbClr val="64748B"/>
                </a:solidFill>
                <a:latin typeface="Aptos" pitchFamily="34" charset="0"/>
                <a:ea typeface="Aptos" pitchFamily="34" charset="-122"/>
                <a:cs typeface="Aptos" pitchFamily="34" charset="-120"/>
              </a:rPr>
              <a:t>/predict, /predict_batch</a:t>
            </a:r>
            <a:endParaRPr lang="en-US" sz="880" dirty="0"/>
          </a:p>
        </p:txBody>
      </p:sp>
      <p:sp>
        <p:nvSpPr>
          <p:cNvPr id="31" name="Shape 29"/>
          <p:cNvSpPr/>
          <p:nvPr/>
        </p:nvSpPr>
        <p:spPr>
          <a:xfrm>
            <a:off x="10469880" y="2468880"/>
            <a:ext cx="594360" cy="0"/>
          </a:xfrm>
          <a:prstGeom prst="line">
            <a:avLst/>
          </a:prstGeom>
          <a:noFill/>
          <a:ln w="25400">
            <a:solidFill>
              <a:srgbClr val="A16207"/>
            </a:solidFill>
            <a:prstDash val="solid"/>
            <a:headEnd type="none"/>
            <a:tailEnd type="triangle"/>
          </a:ln>
        </p:spPr>
        <p:txBody>
          <a:bodyPr/>
          <a:p/>
        </p:txBody>
      </p:sp>
      <p:sp>
        <p:nvSpPr>
          <p:cNvPr id="32" name="Shape 30"/>
          <p:cNvSpPr/>
          <p:nvPr/>
        </p:nvSpPr>
        <p:spPr>
          <a:xfrm>
            <a:off x="576072" y="3749040"/>
            <a:ext cx="3246120" cy="1005840"/>
          </a:xfrm>
          <a:prstGeom prst="roundRect">
            <a:avLst>
              <a:gd name="adj" fmla="val 7273"/>
            </a:avLst>
          </a:prstGeom>
          <a:solidFill>
            <a:srgbClr val="F1F5F9"/>
          </a:solidFill>
          <a:ln w="12700">
            <a:solidFill>
              <a:srgbClr val="E2E8F0">
                <a:alpha val="90000"/>
              </a:srgbClr>
            </a:solidFill>
            <a:prstDash val="solid"/>
          </a:ln>
        </p:spPr>
        <p:txBody>
          <a:bodyPr/>
          <a:p/>
        </p:txBody>
      </p:sp>
      <p:sp>
        <p:nvSpPr>
          <p:cNvPr id="33" name="Shape 31"/>
          <p:cNvSpPr/>
          <p:nvPr/>
        </p:nvSpPr>
        <p:spPr>
          <a:xfrm>
            <a:off x="740664" y="3913632"/>
            <a:ext cx="310896" cy="310896"/>
          </a:xfrm>
          <a:prstGeom prst="ellipse">
            <a:avLst/>
          </a:prstGeom>
          <a:solidFill>
            <a:srgbClr val="FF6B6B">
              <a:alpha val="15000"/>
            </a:srgbClr>
          </a:solidFill>
          <a:ln w="15240">
            <a:solidFill>
              <a:srgbClr val="B91C1C"/>
            </a:solidFill>
            <a:prstDash val="solid"/>
          </a:ln>
        </p:spPr>
        <p:txBody>
          <a:bodyPr/>
          <a:p/>
        </p:txBody>
      </p:sp>
      <p:sp>
        <p:nvSpPr>
          <p:cNvPr id="34" name="Shape 32"/>
          <p:cNvSpPr/>
          <p:nvPr/>
        </p:nvSpPr>
        <p:spPr>
          <a:xfrm>
            <a:off x="832104" y="4005072"/>
            <a:ext cx="128016" cy="128016"/>
          </a:xfrm>
          <a:prstGeom prst="ellipse">
            <a:avLst/>
          </a:prstGeom>
          <a:solidFill>
            <a:srgbClr val="FF6B6B"/>
          </a:solidFill>
          <a:ln w="12700">
            <a:solidFill>
              <a:srgbClr val="B91C1C"/>
            </a:solidFill>
            <a:prstDash val="solid"/>
          </a:ln>
        </p:spPr>
        <p:txBody>
          <a:bodyPr/>
          <a:p/>
        </p:txBody>
      </p:sp>
      <p:sp>
        <p:nvSpPr>
          <p:cNvPr id="35" name="Text 33"/>
          <p:cNvSpPr/>
          <p:nvPr/>
        </p:nvSpPr>
        <p:spPr>
          <a:xfrm>
            <a:off x="1161288" y="3858768"/>
            <a:ext cx="2514600" cy="256032"/>
          </a:xfrm>
          <a:prstGeom prst="rect">
            <a:avLst/>
          </a:prstGeom>
          <a:noFill/>
        </p:spPr>
        <p:txBody>
          <a:bodyPr wrap="square" lIns="0" tIns="0" rIns="0" bIns="0" rtlCol="0" anchor="ctr">
            <a:normAutofit/>
          </a:bodyPr>
          <a:lstStyle/>
          <a:p>
            <a:pPr marL="0" indent="0">
              <a:buNone/>
            </a:pPr>
            <a:r>
              <a:rPr lang="en-US" sz="1150" b="1" dirty="0">
                <a:solidFill>
                  <a:srgbClr val="0F172A"/>
                </a:solidFill>
                <a:latin typeface="Aptos" pitchFamily="34" charset="0"/>
                <a:ea typeface="Aptos" pitchFamily="34" charset="-122"/>
                <a:cs typeface="Aptos" pitchFamily="34" charset="-120"/>
              </a:rPr>
              <a:t>Security tests</a:t>
            </a:r>
            <a:endParaRPr lang="en-US" sz="1150" dirty="0"/>
          </a:p>
        </p:txBody>
      </p:sp>
      <p:sp>
        <p:nvSpPr>
          <p:cNvPr id="36" name="Text 34"/>
          <p:cNvSpPr/>
          <p:nvPr/>
        </p:nvSpPr>
        <p:spPr>
          <a:xfrm>
            <a:off x="1161288" y="4142232"/>
            <a:ext cx="2468880" cy="512064"/>
          </a:xfrm>
          <a:prstGeom prst="rect">
            <a:avLst/>
          </a:prstGeom>
          <a:noFill/>
        </p:spPr>
        <p:txBody>
          <a:bodyPr wrap="square" lIns="0" tIns="0" rIns="0" bIns="0" rtlCol="0" anchor="ctr">
            <a:normAutofit/>
          </a:bodyPr>
          <a:lstStyle/>
          <a:p>
            <a:pPr marL="0" indent="0">
              <a:buNone/>
            </a:pPr>
            <a:r>
              <a:rPr lang="en-US" sz="880" dirty="0">
                <a:solidFill>
                  <a:srgbClr val="64748B"/>
                </a:solidFill>
                <a:latin typeface="Aptos" pitchFamily="34" charset="0"/>
                <a:ea typeface="Aptos" pitchFamily="34" charset="-122"/>
                <a:cs typeface="Aptos" pitchFamily="34" charset="-120"/>
              </a:rPr>
              <a:t>FGSM • PGD • input abuse • metadata</a:t>
            </a:r>
            <a:endParaRPr lang="en-US" sz="880" dirty="0"/>
          </a:p>
        </p:txBody>
      </p:sp>
      <p:sp>
        <p:nvSpPr>
          <p:cNvPr id="37" name="Shape 35"/>
          <p:cNvSpPr/>
          <p:nvPr/>
        </p:nvSpPr>
        <p:spPr>
          <a:xfrm>
            <a:off x="4160520" y="3749040"/>
            <a:ext cx="3246120" cy="1005840"/>
          </a:xfrm>
          <a:prstGeom prst="roundRect">
            <a:avLst>
              <a:gd name="adj" fmla="val 7273"/>
            </a:avLst>
          </a:prstGeom>
          <a:solidFill>
            <a:srgbClr val="F1F5F9"/>
          </a:solidFill>
          <a:ln w="12700">
            <a:solidFill>
              <a:srgbClr val="E2E8F0">
                <a:alpha val="90000"/>
              </a:srgbClr>
            </a:solidFill>
            <a:prstDash val="solid"/>
          </a:ln>
        </p:spPr>
        <p:txBody>
          <a:bodyPr/>
          <a:p/>
        </p:txBody>
      </p:sp>
      <p:sp>
        <p:nvSpPr>
          <p:cNvPr id="38" name="Shape 36"/>
          <p:cNvSpPr/>
          <p:nvPr/>
        </p:nvSpPr>
        <p:spPr>
          <a:xfrm>
            <a:off x="4325112" y="3913632"/>
            <a:ext cx="310896" cy="310896"/>
          </a:xfrm>
          <a:prstGeom prst="ellipse">
            <a:avLst/>
          </a:prstGeom>
          <a:solidFill>
            <a:srgbClr val="59D68C">
              <a:alpha val="15000"/>
            </a:srgbClr>
          </a:solidFill>
          <a:ln w="15240">
            <a:solidFill>
              <a:srgbClr val="15803D"/>
            </a:solidFill>
            <a:prstDash val="solid"/>
          </a:ln>
        </p:spPr>
        <p:txBody>
          <a:bodyPr/>
          <a:p/>
        </p:txBody>
      </p:sp>
      <p:sp>
        <p:nvSpPr>
          <p:cNvPr id="39" name="Shape 37"/>
          <p:cNvSpPr/>
          <p:nvPr/>
        </p:nvSpPr>
        <p:spPr>
          <a:xfrm>
            <a:off x="4416552" y="4005072"/>
            <a:ext cx="128016" cy="128016"/>
          </a:xfrm>
          <a:prstGeom prst="ellipse">
            <a:avLst/>
          </a:prstGeom>
          <a:solidFill>
            <a:srgbClr val="59D68C"/>
          </a:solidFill>
          <a:ln w="12700">
            <a:solidFill>
              <a:srgbClr val="15803D"/>
            </a:solidFill>
            <a:prstDash val="solid"/>
          </a:ln>
        </p:spPr>
        <p:txBody>
          <a:bodyPr/>
          <a:p/>
        </p:txBody>
      </p:sp>
      <p:sp>
        <p:nvSpPr>
          <p:cNvPr id="40" name="Text 38"/>
          <p:cNvSpPr/>
          <p:nvPr/>
        </p:nvSpPr>
        <p:spPr>
          <a:xfrm>
            <a:off x="4745736" y="3858768"/>
            <a:ext cx="2514600" cy="256032"/>
          </a:xfrm>
          <a:prstGeom prst="rect">
            <a:avLst/>
          </a:prstGeom>
          <a:noFill/>
        </p:spPr>
        <p:txBody>
          <a:bodyPr wrap="square" lIns="0" tIns="0" rIns="0" bIns="0" rtlCol="0" anchor="ctr">
            <a:normAutofit/>
          </a:bodyPr>
          <a:lstStyle/>
          <a:p>
            <a:pPr marL="0" indent="0">
              <a:buNone/>
            </a:pPr>
            <a:r>
              <a:rPr lang="en-US" sz="1150" b="1" dirty="0">
                <a:solidFill>
                  <a:srgbClr val="0F172A"/>
                </a:solidFill>
                <a:latin typeface="Aptos" pitchFamily="34" charset="0"/>
                <a:ea typeface="Aptos" pitchFamily="34" charset="-122"/>
                <a:cs typeface="Aptos" pitchFamily="34" charset="-120"/>
              </a:rPr>
              <a:t>Runtime</a:t>
            </a:r>
            <a:endParaRPr lang="en-US" sz="1150" dirty="0"/>
          </a:p>
        </p:txBody>
      </p:sp>
      <p:sp>
        <p:nvSpPr>
          <p:cNvPr id="41" name="Text 39"/>
          <p:cNvSpPr/>
          <p:nvPr/>
        </p:nvSpPr>
        <p:spPr>
          <a:xfrm>
            <a:off x="4745736" y="4142232"/>
            <a:ext cx="2468880" cy="512064"/>
          </a:xfrm>
          <a:prstGeom prst="rect">
            <a:avLst/>
          </a:prstGeom>
          <a:noFill/>
        </p:spPr>
        <p:txBody>
          <a:bodyPr wrap="square" lIns="0" tIns="0" rIns="0" bIns="0" rtlCol="0" anchor="ctr">
            <a:normAutofit/>
          </a:bodyPr>
          <a:lstStyle/>
          <a:p>
            <a:pPr marL="0" indent="0">
              <a:buNone/>
            </a:pPr>
            <a:r>
              <a:rPr lang="en-US" sz="880" dirty="0">
                <a:solidFill>
                  <a:srgbClr val="64748B"/>
                </a:solidFill>
                <a:latin typeface="Aptos" pitchFamily="34" charset="0"/>
                <a:ea typeface="Aptos" pitchFamily="34" charset="-122"/>
                <a:cs typeface="Aptos" pitchFamily="34" charset="-120"/>
              </a:rPr>
              <a:t>Docker user • capabilities • filesystem</a:t>
            </a:r>
            <a:endParaRPr lang="en-US" sz="880" dirty="0"/>
          </a:p>
        </p:txBody>
      </p:sp>
      <p:sp>
        <p:nvSpPr>
          <p:cNvPr id="42" name="Shape 40"/>
          <p:cNvSpPr/>
          <p:nvPr/>
        </p:nvSpPr>
        <p:spPr>
          <a:xfrm>
            <a:off x="7744968" y="3749040"/>
            <a:ext cx="2697480" cy="1005840"/>
          </a:xfrm>
          <a:prstGeom prst="roundRect">
            <a:avLst>
              <a:gd name="adj" fmla="val 7273"/>
            </a:avLst>
          </a:prstGeom>
          <a:solidFill>
            <a:srgbClr val="F1F5F9"/>
          </a:solidFill>
          <a:ln w="12700">
            <a:solidFill>
              <a:srgbClr val="E2E8F0">
                <a:alpha val="90000"/>
              </a:srgbClr>
            </a:solidFill>
            <a:prstDash val="solid"/>
          </a:ln>
        </p:spPr>
        <p:txBody>
          <a:bodyPr/>
          <a:p/>
        </p:txBody>
      </p:sp>
      <p:sp>
        <p:nvSpPr>
          <p:cNvPr id="43" name="Shape 41"/>
          <p:cNvSpPr/>
          <p:nvPr/>
        </p:nvSpPr>
        <p:spPr>
          <a:xfrm>
            <a:off x="7909560" y="3913632"/>
            <a:ext cx="310896" cy="310896"/>
          </a:xfrm>
          <a:prstGeom prst="ellipse">
            <a:avLst/>
          </a:prstGeom>
          <a:solidFill>
            <a:srgbClr val="56E0FF">
              <a:alpha val="15000"/>
            </a:srgbClr>
          </a:solidFill>
          <a:ln w="15240">
            <a:solidFill>
              <a:srgbClr val="0E7490"/>
            </a:solidFill>
            <a:prstDash val="solid"/>
          </a:ln>
        </p:spPr>
        <p:txBody>
          <a:bodyPr/>
          <a:p/>
        </p:txBody>
      </p:sp>
      <p:sp>
        <p:nvSpPr>
          <p:cNvPr id="44" name="Shape 42"/>
          <p:cNvSpPr/>
          <p:nvPr/>
        </p:nvSpPr>
        <p:spPr>
          <a:xfrm>
            <a:off x="8001000" y="4005072"/>
            <a:ext cx="128016" cy="128016"/>
          </a:xfrm>
          <a:prstGeom prst="ellipse">
            <a:avLst/>
          </a:prstGeom>
          <a:solidFill>
            <a:srgbClr val="56E0FF"/>
          </a:solidFill>
          <a:ln w="12700">
            <a:solidFill>
              <a:srgbClr val="0E7490"/>
            </a:solidFill>
            <a:prstDash val="solid"/>
          </a:ln>
        </p:spPr>
        <p:txBody>
          <a:bodyPr/>
          <a:p/>
        </p:txBody>
      </p:sp>
      <p:sp>
        <p:nvSpPr>
          <p:cNvPr id="45" name="Text 43"/>
          <p:cNvSpPr/>
          <p:nvPr/>
        </p:nvSpPr>
        <p:spPr>
          <a:xfrm>
            <a:off x="8330184" y="3858768"/>
            <a:ext cx="1965960" cy="256032"/>
          </a:xfrm>
          <a:prstGeom prst="rect">
            <a:avLst/>
          </a:prstGeom>
          <a:noFill/>
        </p:spPr>
        <p:txBody>
          <a:bodyPr wrap="square" lIns="0" tIns="0" rIns="0" bIns="0" rtlCol="0" anchor="ctr">
            <a:normAutofit/>
          </a:bodyPr>
          <a:lstStyle/>
          <a:p>
            <a:pPr marL="0" indent="0">
              <a:buNone/>
            </a:pPr>
            <a:r>
              <a:rPr lang="en-US" sz="1150" b="1" dirty="0">
                <a:solidFill>
                  <a:srgbClr val="0F172A"/>
                </a:solidFill>
                <a:latin typeface="Aptos" pitchFamily="34" charset="0"/>
                <a:ea typeface="Aptos" pitchFamily="34" charset="-122"/>
                <a:cs typeface="Aptos" pitchFamily="34" charset="-120"/>
              </a:rPr>
              <a:t>Evidence</a:t>
            </a:r>
            <a:endParaRPr lang="en-US" sz="1150" dirty="0"/>
          </a:p>
        </p:txBody>
      </p:sp>
      <p:sp>
        <p:nvSpPr>
          <p:cNvPr id="46" name="Text 44"/>
          <p:cNvSpPr/>
          <p:nvPr/>
        </p:nvSpPr>
        <p:spPr>
          <a:xfrm>
            <a:off x="8330184" y="4142232"/>
            <a:ext cx="1920240" cy="512064"/>
          </a:xfrm>
          <a:prstGeom prst="rect">
            <a:avLst/>
          </a:prstGeom>
          <a:noFill/>
        </p:spPr>
        <p:txBody>
          <a:bodyPr wrap="square" lIns="0" tIns="0" rIns="0" bIns="0" rtlCol="0" anchor="ctr">
            <a:normAutofit/>
          </a:bodyPr>
          <a:lstStyle/>
          <a:p>
            <a:pPr marL="0" indent="0">
              <a:buNone/>
            </a:pPr>
            <a:r>
              <a:rPr lang="en-US" sz="880" dirty="0">
                <a:solidFill>
                  <a:srgbClr val="64748B"/>
                </a:solidFill>
                <a:latin typeface="Aptos" pitchFamily="34" charset="0"/>
                <a:ea typeface="Aptos" pitchFamily="34" charset="-122"/>
                <a:cs typeface="Aptos" pitchFamily="34" charset="-120"/>
              </a:rPr>
              <a:t>results • logs • reports</a:t>
            </a:r>
            <a:endParaRPr lang="en-US" sz="880" dirty="0"/>
          </a:p>
        </p:txBody>
      </p:sp>
      <p:sp>
        <p:nvSpPr>
          <p:cNvPr id="47" name="Shape 45"/>
          <p:cNvSpPr/>
          <p:nvPr/>
        </p:nvSpPr>
        <p:spPr>
          <a:xfrm>
            <a:off x="2148840" y="2971800"/>
            <a:ext cx="0" cy="749808"/>
          </a:xfrm>
          <a:prstGeom prst="line">
            <a:avLst/>
          </a:prstGeom>
          <a:noFill/>
          <a:ln w="15240">
            <a:solidFill>
              <a:srgbClr val="E2E8F0"/>
            </a:solidFill>
            <a:prstDash val="solid"/>
          </a:ln>
        </p:spPr>
        <p:txBody>
          <a:bodyPr/>
          <a:p/>
        </p:txBody>
      </p:sp>
      <p:sp>
        <p:nvSpPr>
          <p:cNvPr id="48" name="Shape 46"/>
          <p:cNvSpPr/>
          <p:nvPr/>
        </p:nvSpPr>
        <p:spPr>
          <a:xfrm>
            <a:off x="6400800" y="2971800"/>
            <a:ext cx="0" cy="749808"/>
          </a:xfrm>
          <a:prstGeom prst="line">
            <a:avLst/>
          </a:prstGeom>
          <a:noFill/>
          <a:ln w="15240">
            <a:solidFill>
              <a:srgbClr val="E2E8F0"/>
            </a:solidFill>
            <a:prstDash val="solid"/>
          </a:ln>
        </p:spPr>
        <p:txBody>
          <a:bodyPr/>
          <a:p/>
        </p:txBody>
      </p:sp>
      <p:sp>
        <p:nvSpPr>
          <p:cNvPr id="49" name="Shape 47"/>
          <p:cNvSpPr/>
          <p:nvPr/>
        </p:nvSpPr>
        <p:spPr>
          <a:xfrm>
            <a:off x="9372600" y="2971800"/>
            <a:ext cx="0" cy="749808"/>
          </a:xfrm>
          <a:prstGeom prst="line">
            <a:avLst/>
          </a:prstGeom>
          <a:noFill/>
          <a:ln w="15240">
            <a:solidFill>
              <a:srgbClr val="E2E8F0"/>
            </a:solidFill>
            <a:prstDash val="solid"/>
          </a:ln>
        </p:spPr>
        <p:txBody>
          <a:bodyPr/>
          <a:p/>
        </p:txBody>
      </p:sp>
      <p:sp>
        <p:nvSpPr>
          <p:cNvPr id="50" name="Text 48"/>
          <p:cNvSpPr/>
          <p:nvPr/>
        </p:nvSpPr>
        <p:spPr>
          <a:xfrm>
            <a:off x="594360" y="5596128"/>
            <a:ext cx="3840480" cy="256032"/>
          </a:xfrm>
          <a:prstGeom prst="rect">
            <a:avLst/>
          </a:prstGeom>
          <a:noFill/>
        </p:spPr>
        <p:txBody>
          <a:bodyPr wrap="square" lIns="0" tIns="0" rIns="0" bIns="0" rtlCol="0" anchor="ctr"/>
          <a:lstStyle/>
          <a:p>
            <a:pPr marL="0" indent="0">
              <a:buNone/>
            </a:pPr>
            <a:r>
              <a:rPr lang="en-US" sz="1050" dirty="0">
                <a:solidFill>
                  <a:srgbClr val="64748B"/>
                </a:solidFill>
                <a:latin typeface="Consolas" panose="020B0609020204030204" pitchFamily="34" charset="0"/>
                <a:ea typeface="Consolas" panose="020B0609020204030204" pitchFamily="34" charset="-122"/>
                <a:cs typeface="Consolas" panose="020B0609020204030204" pitchFamily="34" charset="-120"/>
              </a:rPr>
              <a:t>Primary artifact: model/redmnist.pth</a:t>
            </a:r>
            <a:endParaRPr lang="en-US" sz="1050" dirty="0"/>
          </a:p>
        </p:txBody>
      </p:sp>
      <p:sp>
        <p:nvSpPr>
          <p:cNvPr id="51" name="Text 49"/>
          <p:cNvSpPr/>
          <p:nvPr/>
        </p:nvSpPr>
        <p:spPr>
          <a:xfrm>
            <a:off x="4224528" y="5596128"/>
            <a:ext cx="3566160" cy="256032"/>
          </a:xfrm>
          <a:prstGeom prst="rect">
            <a:avLst/>
          </a:prstGeom>
          <a:noFill/>
        </p:spPr>
        <p:txBody>
          <a:bodyPr wrap="square" lIns="0" tIns="0" rIns="0" bIns="0" rtlCol="0" anchor="ctr"/>
          <a:lstStyle/>
          <a:p>
            <a:pPr marL="0" indent="0">
              <a:buNone/>
            </a:pPr>
            <a:r>
              <a:rPr lang="en-US" sz="1050" dirty="0">
                <a:solidFill>
                  <a:srgbClr val="64748B"/>
                </a:solidFill>
                <a:latin typeface="Consolas" panose="020B0609020204030204" pitchFamily="34" charset="0"/>
                <a:ea typeface="Consolas" panose="020B0609020204030204" pitchFamily="34" charset="-122"/>
                <a:cs typeface="Consolas" panose="020B0609020204030204" pitchFamily="34" charset="-120"/>
              </a:rPr>
              <a:t>Primary service: FastAPI / Uvicorn</a:t>
            </a:r>
            <a:endParaRPr lang="en-US" sz="1050" dirty="0"/>
          </a:p>
        </p:txBody>
      </p:sp>
      <p:sp>
        <p:nvSpPr>
          <p:cNvPr id="52" name="Text 50"/>
          <p:cNvSpPr/>
          <p:nvPr/>
        </p:nvSpPr>
        <p:spPr>
          <a:xfrm>
            <a:off x="7790688" y="5596128"/>
            <a:ext cx="3063240" cy="256032"/>
          </a:xfrm>
          <a:prstGeom prst="rect">
            <a:avLst/>
          </a:prstGeom>
          <a:noFill/>
        </p:spPr>
        <p:txBody>
          <a:bodyPr wrap="square" lIns="0" tIns="0" rIns="0" bIns="0" rtlCol="0" anchor="ctr"/>
          <a:lstStyle/>
          <a:p>
            <a:pPr marL="0" indent="0">
              <a:buNone/>
            </a:pPr>
            <a:r>
              <a:rPr lang="en-US" sz="1050" dirty="0">
                <a:solidFill>
                  <a:srgbClr val="64748B"/>
                </a:solidFill>
                <a:latin typeface="Consolas" panose="020B0609020204030204" pitchFamily="34" charset="0"/>
                <a:ea typeface="Consolas" panose="020B0609020204030204" pitchFamily="34" charset="-122"/>
                <a:cs typeface="Consolas" panose="020B0609020204030204" pitchFamily="34" charset="-120"/>
              </a:rPr>
              <a:t>Deployment: Docker Compose</a:t>
            </a:r>
            <a:endParaRPr lang="en-US" sz="1050" dirty="0"/>
          </a:p>
        </p:txBody>
      </p:sp>
      <p:sp>
        <p:nvSpPr>
          <p:cNvPr id="53" name="Text 51"/>
          <p:cNvSpPr/>
          <p:nvPr/>
        </p:nvSpPr>
        <p:spPr>
          <a:xfrm>
            <a:off x="11109960" y="6556248"/>
            <a:ext cx="457200" cy="164592"/>
          </a:xfrm>
          <a:prstGeom prst="rect">
            <a:avLst/>
          </a:prstGeom>
          <a:noFill/>
        </p:spPr>
        <p:txBody>
          <a:bodyPr wrap="square" lIns="0" tIns="0" rIns="0" bIns="0" rtlCol="0" anchor="ctr"/>
          <a:lstStyle/>
          <a:p>
            <a:pPr marL="0" indent="0" algn="r">
              <a:buNone/>
            </a:pPr>
            <a:r>
              <a:rPr lang="en-US" sz="800" dirty="0">
                <a:solidFill>
                  <a:srgbClr val="64748B"/>
                </a:solidFill>
                <a:latin typeface="Aptos" pitchFamily="34" charset="0"/>
                <a:ea typeface="Aptos" pitchFamily="34" charset="-122"/>
                <a:cs typeface="Aptos"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320040"/>
            <a:ext cx="11365992" cy="0"/>
          </a:xfrm>
          <a:prstGeom prst="line">
            <a:avLst/>
          </a:prstGeom>
          <a:noFill/>
          <a:ln w="12700">
            <a:solidFill>
              <a:srgbClr val="E2E8F0"/>
            </a:solidFill>
            <a:prstDash val="solid"/>
          </a:ln>
        </p:spPr>
        <p:txBody>
          <a:bodyPr/>
          <a:p/>
        </p:txBody>
      </p:sp>
      <p:sp>
        <p:nvSpPr>
          <p:cNvPr id="3" name="Shape 1"/>
          <p:cNvSpPr/>
          <p:nvPr/>
        </p:nvSpPr>
        <p:spPr>
          <a:xfrm>
            <a:off x="411480" y="6492240"/>
            <a:ext cx="11365992" cy="0"/>
          </a:xfrm>
          <a:prstGeom prst="line">
            <a:avLst/>
          </a:prstGeom>
          <a:noFill/>
          <a:ln w="12700">
            <a:solidFill>
              <a:srgbClr val="E2E8F0"/>
            </a:solidFill>
            <a:prstDash val="solid"/>
          </a:ln>
        </p:spPr>
        <p:txBody>
          <a:bodyPr/>
          <a:p/>
        </p:txBody>
      </p:sp>
      <p:sp>
        <p:nvSpPr>
          <p:cNvPr id="4" name="Shape 2"/>
          <p:cNvSpPr/>
          <p:nvPr/>
        </p:nvSpPr>
        <p:spPr>
          <a:xfrm rot="1080000">
            <a:off x="10744200" y="-640080"/>
            <a:ext cx="1920240" cy="1920240"/>
          </a:xfrm>
          <a:prstGeom prst="arc">
            <a:avLst/>
          </a:prstGeom>
          <a:solidFill>
            <a:srgbClr val="FFFFFF">
              <a:alpha val="0"/>
            </a:srgbClr>
          </a:solidFill>
          <a:ln w="12700">
            <a:solidFill>
              <a:srgbClr val="E2E8F0">
                <a:alpha val="55000"/>
              </a:srgbClr>
            </a:solidFill>
            <a:prstDash val="solid"/>
          </a:ln>
        </p:spPr>
        <p:txBody>
          <a:bodyPr/>
          <a:p/>
        </p:txBody>
      </p:sp>
      <p:sp>
        <p:nvSpPr>
          <p:cNvPr id="5" name="Text 3"/>
          <p:cNvSpPr/>
          <p:nvPr/>
        </p:nvSpPr>
        <p:spPr>
          <a:xfrm>
            <a:off x="502920" y="73152"/>
            <a:ext cx="3840480" cy="182880"/>
          </a:xfrm>
          <a:prstGeom prst="rect">
            <a:avLst/>
          </a:prstGeom>
          <a:noFill/>
        </p:spPr>
        <p:txBody>
          <a:bodyPr wrap="square" lIns="0" tIns="0" rIns="0" bIns="0" rtlCol="0" anchor="ctr"/>
          <a:lstStyle/>
          <a:p>
            <a:pPr marL="0" indent="0">
              <a:buNone/>
            </a:pPr>
            <a:r>
              <a:rPr lang="en-US" sz="900" b="1" kern="0" spc="140" dirty="0">
                <a:solidFill>
                  <a:srgbClr val="0E7490"/>
                </a:solidFill>
                <a:latin typeface="Aptos" pitchFamily="34" charset="0"/>
                <a:ea typeface="Aptos" pitchFamily="34" charset="-122"/>
                <a:cs typeface="Aptos" pitchFamily="34" charset="-120"/>
              </a:rPr>
              <a:t>MODEL</a:t>
            </a:r>
            <a:endParaRPr lang="en-US" sz="900" dirty="0"/>
          </a:p>
        </p:txBody>
      </p:sp>
      <p:sp>
        <p:nvSpPr>
          <p:cNvPr id="6" name="Text 4"/>
          <p:cNvSpPr/>
          <p:nvPr/>
        </p:nvSpPr>
        <p:spPr>
          <a:xfrm>
            <a:off x="502920" y="530352"/>
            <a:ext cx="10561320" cy="502920"/>
          </a:xfrm>
          <a:prstGeom prst="rect">
            <a:avLst/>
          </a:prstGeom>
          <a:noFill/>
        </p:spPr>
        <p:txBody>
          <a:bodyPr wrap="square" lIns="0" tIns="0" rIns="0" bIns="0" rtlCol="0" anchor="ctr">
            <a:normAutofit/>
          </a:bodyP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04 • Step 1 — Model Verification</a:t>
            </a:r>
            <a:endParaRPr lang="en-US" sz="2500" dirty="0"/>
          </a:p>
        </p:txBody>
      </p:sp>
      <p:sp>
        <p:nvSpPr>
          <p:cNvPr id="7" name="Text 5"/>
          <p:cNvSpPr/>
          <p:nvPr/>
        </p:nvSpPr>
        <p:spPr>
          <a:xfrm>
            <a:off x="530352" y="1060704"/>
            <a:ext cx="10332720" cy="347472"/>
          </a:xfrm>
          <a:prstGeom prst="rect">
            <a:avLst/>
          </a:prstGeom>
          <a:noFill/>
        </p:spPr>
        <p:txBody>
          <a:bodyPr wrap="square" lIns="0" tIns="0" rIns="0" bIns="0" rtlCol="0" anchor="ctr">
            <a:normAutofit/>
          </a:bodyPr>
          <a:lstStyle/>
          <a:p>
            <a:pPr marL="0" indent="0">
              <a:buNone/>
            </a:pPr>
            <a:r>
              <a:rPr lang="en-US" sz="1150" dirty="0">
                <a:solidFill>
                  <a:srgbClr val="64748B"/>
                </a:solidFill>
                <a:latin typeface="Aptos" pitchFamily="34" charset="0"/>
                <a:ea typeface="Aptos" pitchFamily="34" charset="-122"/>
                <a:cs typeface="Aptos" pitchFamily="34" charset="-120"/>
              </a:rPr>
              <a:t>First, I proved that the baseline model actually loads and behaves as expected.</a:t>
            </a:r>
            <a:endParaRPr lang="en-US" sz="1150" dirty="0"/>
          </a:p>
        </p:txBody>
      </p:sp>
      <p:sp>
        <p:nvSpPr>
          <p:cNvPr id="8" name="Shape 6"/>
          <p:cNvSpPr/>
          <p:nvPr/>
        </p:nvSpPr>
        <p:spPr>
          <a:xfrm>
            <a:off x="530352" y="1572768"/>
            <a:ext cx="6675120" cy="4526280"/>
          </a:xfrm>
          <a:prstGeom prst="roundRect">
            <a:avLst>
              <a:gd name="adj" fmla="val 1616"/>
            </a:avLst>
          </a:prstGeom>
          <a:solidFill>
            <a:srgbClr val="F8FAFC"/>
          </a:solidFill>
          <a:ln w="12700">
            <a:solidFill>
              <a:srgbClr val="E2E8F0">
                <a:alpha val="90000"/>
              </a:srgbClr>
            </a:solidFill>
            <a:prstDash val="solid"/>
          </a:ln>
        </p:spPr>
        <p:txBody>
          <a:bodyPr/>
          <a:p/>
        </p:txBody>
      </p:sp>
      <p:sp>
        <p:nvSpPr>
          <p:cNvPr id="9" name="Shape 7"/>
          <p:cNvSpPr/>
          <p:nvPr/>
        </p:nvSpPr>
        <p:spPr>
          <a:xfrm>
            <a:off x="749808" y="1828800"/>
            <a:ext cx="45720" cy="274320"/>
          </a:xfrm>
          <a:prstGeom prst="rect">
            <a:avLst/>
          </a:prstGeom>
          <a:solidFill>
            <a:srgbClr val="56E0FF"/>
          </a:solidFill>
          <a:ln w="12700">
            <a:solidFill>
              <a:srgbClr val="0E7490"/>
            </a:solidFill>
            <a:prstDash val="solid"/>
          </a:ln>
        </p:spPr>
        <p:txBody>
          <a:bodyPr/>
          <a:p/>
        </p:txBody>
      </p:sp>
      <p:sp>
        <p:nvSpPr>
          <p:cNvPr id="10" name="Text 8"/>
          <p:cNvSpPr/>
          <p:nvPr/>
        </p:nvSpPr>
        <p:spPr>
          <a:xfrm>
            <a:off x="877824" y="1824228"/>
            <a:ext cx="6089904" cy="274320"/>
          </a:xfrm>
          <a:prstGeom prst="rect">
            <a:avLst/>
          </a:prstGeom>
          <a:noFill/>
        </p:spPr>
        <p:txBody>
          <a:bodyPr wrap="square" lIns="0" tIns="0" rIns="0" bIns="0" rtlCol="0" anchor="ctr">
            <a:normAutofit/>
          </a:bodyPr>
          <a:lstStyle/>
          <a:p>
            <a:pPr marL="0" indent="0">
              <a:buNone/>
            </a:pPr>
            <a:r>
              <a:rPr lang="en-US" sz="1250" b="1" dirty="0">
                <a:solidFill>
                  <a:srgbClr val="0F172A"/>
                </a:solidFill>
                <a:latin typeface="Aptos" pitchFamily="34" charset="0"/>
                <a:ea typeface="Aptos" pitchFamily="34" charset="-122"/>
                <a:cs typeface="Aptos" pitchFamily="34" charset="-120"/>
              </a:rPr>
              <a:t>RedMnistNet shape flow</a:t>
            </a:r>
            <a:endParaRPr lang="en-US" sz="1250" dirty="0"/>
          </a:p>
        </p:txBody>
      </p:sp>
      <p:sp>
        <p:nvSpPr>
          <p:cNvPr id="11" name="Shape 9"/>
          <p:cNvSpPr/>
          <p:nvPr/>
        </p:nvSpPr>
        <p:spPr>
          <a:xfrm>
            <a:off x="777240" y="2331720"/>
            <a:ext cx="1353312" cy="822960"/>
          </a:xfrm>
          <a:prstGeom prst="roundRect">
            <a:avLst>
              <a:gd name="adj" fmla="val 8889"/>
            </a:avLst>
          </a:prstGeom>
          <a:solidFill>
            <a:srgbClr val="F1F5F9"/>
          </a:solidFill>
          <a:ln w="12700">
            <a:solidFill>
              <a:srgbClr val="E2E8F0">
                <a:alpha val="90000"/>
              </a:srgbClr>
            </a:solidFill>
            <a:prstDash val="solid"/>
          </a:ln>
        </p:spPr>
        <p:txBody>
          <a:bodyPr/>
          <a:p/>
        </p:txBody>
      </p:sp>
      <p:sp>
        <p:nvSpPr>
          <p:cNvPr id="12" name="Text 10"/>
          <p:cNvSpPr/>
          <p:nvPr/>
        </p:nvSpPr>
        <p:spPr>
          <a:xfrm>
            <a:off x="850392" y="2441448"/>
            <a:ext cx="1207008" cy="164592"/>
          </a:xfrm>
          <a:prstGeom prst="rect">
            <a:avLst/>
          </a:prstGeom>
          <a:noFill/>
        </p:spPr>
        <p:txBody>
          <a:bodyPr wrap="square" lIns="0" tIns="0" rIns="0" bIns="0" rtlCol="0" anchor="ctr"/>
          <a:lstStyle/>
          <a:p>
            <a:pPr marL="0" indent="0" algn="ctr">
              <a:buNone/>
            </a:pPr>
            <a:r>
              <a:rPr lang="en-US" sz="800" b="1" dirty="0">
                <a:solidFill>
                  <a:srgbClr val="0E7490"/>
                </a:solidFill>
                <a:latin typeface="Aptos" pitchFamily="34" charset="0"/>
                <a:ea typeface="Aptos" pitchFamily="34" charset="-122"/>
                <a:cs typeface="Aptos" pitchFamily="34" charset="-120"/>
              </a:rPr>
              <a:t>INPUT</a:t>
            </a:r>
            <a:endParaRPr lang="en-US" sz="800" dirty="0"/>
          </a:p>
        </p:txBody>
      </p:sp>
      <p:sp>
        <p:nvSpPr>
          <p:cNvPr id="13" name="Text 11"/>
          <p:cNvSpPr/>
          <p:nvPr/>
        </p:nvSpPr>
        <p:spPr>
          <a:xfrm>
            <a:off x="850392" y="2688336"/>
            <a:ext cx="1207008" cy="201168"/>
          </a:xfrm>
          <a:prstGeom prst="rect">
            <a:avLst/>
          </a:prstGeom>
          <a:noFill/>
        </p:spPr>
        <p:txBody>
          <a:bodyPr wrap="square" lIns="0" tIns="0" rIns="0" bIns="0" rtlCol="0" anchor="ctr">
            <a:normAutofit/>
          </a:bodyPr>
          <a:lstStyle/>
          <a:p>
            <a:pPr marL="0" indent="0" algn="ctr">
              <a:buNone/>
            </a:pPr>
            <a:r>
              <a:rPr lang="en-US" sz="1020" b="1" dirty="0">
                <a:solidFill>
                  <a:srgbClr val="0F172A"/>
                </a:solidFill>
                <a:latin typeface="Aptos" pitchFamily="34" charset="0"/>
                <a:ea typeface="Aptos" pitchFamily="34" charset="-122"/>
                <a:cs typeface="Aptos" pitchFamily="34" charset="-120"/>
              </a:rPr>
              <a:t>1 × 32 × 32</a:t>
            </a:r>
            <a:endParaRPr lang="en-US" sz="1020" dirty="0"/>
          </a:p>
        </p:txBody>
      </p:sp>
      <p:sp>
        <p:nvSpPr>
          <p:cNvPr id="14" name="Shape 12"/>
          <p:cNvSpPr/>
          <p:nvPr/>
        </p:nvSpPr>
        <p:spPr>
          <a:xfrm>
            <a:off x="2258568" y="2331720"/>
            <a:ext cx="1353312" cy="822960"/>
          </a:xfrm>
          <a:prstGeom prst="roundRect">
            <a:avLst>
              <a:gd name="adj" fmla="val 8889"/>
            </a:avLst>
          </a:prstGeom>
          <a:solidFill>
            <a:srgbClr val="F1F5F9"/>
          </a:solidFill>
          <a:ln w="12700">
            <a:solidFill>
              <a:srgbClr val="E2E8F0">
                <a:alpha val="90000"/>
              </a:srgbClr>
            </a:solidFill>
            <a:prstDash val="solid"/>
          </a:ln>
        </p:spPr>
        <p:txBody>
          <a:bodyPr/>
          <a:p/>
        </p:txBody>
      </p:sp>
      <p:sp>
        <p:nvSpPr>
          <p:cNvPr id="15" name="Text 13"/>
          <p:cNvSpPr/>
          <p:nvPr/>
        </p:nvSpPr>
        <p:spPr>
          <a:xfrm>
            <a:off x="2331720" y="2441448"/>
            <a:ext cx="1207008" cy="164592"/>
          </a:xfrm>
          <a:prstGeom prst="rect">
            <a:avLst/>
          </a:prstGeom>
          <a:noFill/>
        </p:spPr>
        <p:txBody>
          <a:bodyPr wrap="square" lIns="0" tIns="0" rIns="0" bIns="0" rtlCol="0" anchor="ctr"/>
          <a:lstStyle/>
          <a:p>
            <a:pPr marL="0" indent="0" algn="ctr">
              <a:buNone/>
            </a:pPr>
            <a:r>
              <a:rPr lang="en-US" sz="800" b="1" dirty="0">
                <a:solidFill>
                  <a:srgbClr val="0E7490"/>
                </a:solidFill>
                <a:latin typeface="Aptos" pitchFamily="34" charset="0"/>
                <a:ea typeface="Aptos" pitchFamily="34" charset="-122"/>
                <a:cs typeface="Aptos" pitchFamily="34" charset="-120"/>
              </a:rPr>
              <a:t>CONV</a:t>
            </a:r>
            <a:endParaRPr lang="en-US" sz="800" dirty="0"/>
          </a:p>
        </p:txBody>
      </p:sp>
      <p:sp>
        <p:nvSpPr>
          <p:cNvPr id="16" name="Text 14"/>
          <p:cNvSpPr/>
          <p:nvPr/>
        </p:nvSpPr>
        <p:spPr>
          <a:xfrm>
            <a:off x="2331720" y="2688336"/>
            <a:ext cx="1207008" cy="201168"/>
          </a:xfrm>
          <a:prstGeom prst="rect">
            <a:avLst/>
          </a:prstGeom>
          <a:noFill/>
        </p:spPr>
        <p:txBody>
          <a:bodyPr wrap="square" lIns="0" tIns="0" rIns="0" bIns="0" rtlCol="0" anchor="ctr">
            <a:normAutofit/>
          </a:bodyPr>
          <a:lstStyle/>
          <a:p>
            <a:pPr marL="0" indent="0" algn="ctr">
              <a:buNone/>
            </a:pPr>
            <a:r>
              <a:rPr lang="en-US" sz="1020" b="1" dirty="0">
                <a:solidFill>
                  <a:srgbClr val="0F172A"/>
                </a:solidFill>
                <a:latin typeface="Aptos" pitchFamily="34" charset="0"/>
                <a:ea typeface="Aptos" pitchFamily="34" charset="-122"/>
                <a:cs typeface="Aptos" pitchFamily="34" charset="-120"/>
              </a:rPr>
              <a:t>6 × 28 × 28</a:t>
            </a:r>
            <a:endParaRPr lang="en-US" sz="1020" dirty="0"/>
          </a:p>
        </p:txBody>
      </p:sp>
      <p:sp>
        <p:nvSpPr>
          <p:cNvPr id="17" name="Shape 15"/>
          <p:cNvSpPr/>
          <p:nvPr/>
        </p:nvSpPr>
        <p:spPr>
          <a:xfrm>
            <a:off x="3739896" y="2331720"/>
            <a:ext cx="1353312" cy="822960"/>
          </a:xfrm>
          <a:prstGeom prst="roundRect">
            <a:avLst>
              <a:gd name="adj" fmla="val 8889"/>
            </a:avLst>
          </a:prstGeom>
          <a:solidFill>
            <a:srgbClr val="F1F5F9"/>
          </a:solidFill>
          <a:ln w="12700">
            <a:solidFill>
              <a:srgbClr val="E2E8F0">
                <a:alpha val="90000"/>
              </a:srgbClr>
            </a:solidFill>
            <a:prstDash val="solid"/>
          </a:ln>
        </p:spPr>
        <p:txBody>
          <a:bodyPr/>
          <a:p/>
        </p:txBody>
      </p:sp>
      <p:sp>
        <p:nvSpPr>
          <p:cNvPr id="18" name="Text 16"/>
          <p:cNvSpPr/>
          <p:nvPr/>
        </p:nvSpPr>
        <p:spPr>
          <a:xfrm>
            <a:off x="3813048" y="2441448"/>
            <a:ext cx="1207008" cy="164592"/>
          </a:xfrm>
          <a:prstGeom prst="rect">
            <a:avLst/>
          </a:prstGeom>
          <a:noFill/>
        </p:spPr>
        <p:txBody>
          <a:bodyPr wrap="square" lIns="0" tIns="0" rIns="0" bIns="0" rtlCol="0" anchor="ctr"/>
          <a:lstStyle/>
          <a:p>
            <a:pPr marL="0" indent="0" algn="ctr">
              <a:buNone/>
            </a:pPr>
            <a:r>
              <a:rPr lang="en-US" sz="800" b="1" dirty="0">
                <a:solidFill>
                  <a:srgbClr val="0E7490"/>
                </a:solidFill>
                <a:latin typeface="Aptos" pitchFamily="34" charset="0"/>
                <a:ea typeface="Aptos" pitchFamily="34" charset="-122"/>
                <a:cs typeface="Aptos" pitchFamily="34" charset="-120"/>
              </a:rPr>
              <a:t>POOL</a:t>
            </a:r>
            <a:endParaRPr lang="en-US" sz="800" dirty="0"/>
          </a:p>
        </p:txBody>
      </p:sp>
      <p:sp>
        <p:nvSpPr>
          <p:cNvPr id="19" name="Text 17"/>
          <p:cNvSpPr/>
          <p:nvPr/>
        </p:nvSpPr>
        <p:spPr>
          <a:xfrm>
            <a:off x="3813048" y="2688336"/>
            <a:ext cx="1207008" cy="201168"/>
          </a:xfrm>
          <a:prstGeom prst="rect">
            <a:avLst/>
          </a:prstGeom>
          <a:noFill/>
        </p:spPr>
        <p:txBody>
          <a:bodyPr wrap="square" lIns="0" tIns="0" rIns="0" bIns="0" rtlCol="0" anchor="ctr">
            <a:normAutofit/>
          </a:bodyPr>
          <a:lstStyle/>
          <a:p>
            <a:pPr marL="0" indent="0" algn="ctr">
              <a:buNone/>
            </a:pPr>
            <a:r>
              <a:rPr lang="en-US" sz="1020" b="1" dirty="0">
                <a:solidFill>
                  <a:srgbClr val="0F172A"/>
                </a:solidFill>
                <a:latin typeface="Aptos" pitchFamily="34" charset="0"/>
                <a:ea typeface="Aptos" pitchFamily="34" charset="-122"/>
                <a:cs typeface="Aptos" pitchFamily="34" charset="-120"/>
              </a:rPr>
              <a:t>6 × 14 × 14</a:t>
            </a:r>
            <a:endParaRPr lang="en-US" sz="1020" dirty="0"/>
          </a:p>
        </p:txBody>
      </p:sp>
      <p:sp>
        <p:nvSpPr>
          <p:cNvPr id="20" name="Shape 18"/>
          <p:cNvSpPr/>
          <p:nvPr/>
        </p:nvSpPr>
        <p:spPr>
          <a:xfrm>
            <a:off x="5221224" y="2331720"/>
            <a:ext cx="1353312" cy="822960"/>
          </a:xfrm>
          <a:prstGeom prst="roundRect">
            <a:avLst>
              <a:gd name="adj" fmla="val 8889"/>
            </a:avLst>
          </a:prstGeom>
          <a:solidFill>
            <a:srgbClr val="F1F5F9"/>
          </a:solidFill>
          <a:ln w="12700">
            <a:solidFill>
              <a:srgbClr val="E2E8F0">
                <a:alpha val="90000"/>
              </a:srgbClr>
            </a:solidFill>
            <a:prstDash val="solid"/>
          </a:ln>
        </p:spPr>
        <p:txBody>
          <a:bodyPr/>
          <a:p/>
        </p:txBody>
      </p:sp>
      <p:sp>
        <p:nvSpPr>
          <p:cNvPr id="21" name="Text 19"/>
          <p:cNvSpPr/>
          <p:nvPr/>
        </p:nvSpPr>
        <p:spPr>
          <a:xfrm>
            <a:off x="5294376" y="2441448"/>
            <a:ext cx="1207008" cy="164592"/>
          </a:xfrm>
          <a:prstGeom prst="rect">
            <a:avLst/>
          </a:prstGeom>
          <a:noFill/>
        </p:spPr>
        <p:txBody>
          <a:bodyPr wrap="square" lIns="0" tIns="0" rIns="0" bIns="0" rtlCol="0" anchor="ctr"/>
          <a:lstStyle/>
          <a:p>
            <a:pPr marL="0" indent="0" algn="ctr">
              <a:buNone/>
            </a:pPr>
            <a:r>
              <a:rPr lang="en-US" sz="800" b="1" dirty="0">
                <a:solidFill>
                  <a:srgbClr val="0E7490"/>
                </a:solidFill>
                <a:latin typeface="Aptos" pitchFamily="34" charset="0"/>
                <a:ea typeface="Aptos" pitchFamily="34" charset="-122"/>
                <a:cs typeface="Aptos" pitchFamily="34" charset="-120"/>
              </a:rPr>
              <a:t>CONV</a:t>
            </a:r>
            <a:endParaRPr lang="en-US" sz="800" dirty="0"/>
          </a:p>
        </p:txBody>
      </p:sp>
      <p:sp>
        <p:nvSpPr>
          <p:cNvPr id="22" name="Text 20"/>
          <p:cNvSpPr/>
          <p:nvPr/>
        </p:nvSpPr>
        <p:spPr>
          <a:xfrm>
            <a:off x="5294376" y="2688336"/>
            <a:ext cx="1207008" cy="201168"/>
          </a:xfrm>
          <a:prstGeom prst="rect">
            <a:avLst/>
          </a:prstGeom>
          <a:noFill/>
        </p:spPr>
        <p:txBody>
          <a:bodyPr wrap="square" lIns="0" tIns="0" rIns="0" bIns="0" rtlCol="0" anchor="ctr">
            <a:normAutofit/>
          </a:bodyPr>
          <a:lstStyle/>
          <a:p>
            <a:pPr marL="0" indent="0" algn="ctr">
              <a:buNone/>
            </a:pPr>
            <a:r>
              <a:rPr lang="en-US" sz="1020" b="1" dirty="0">
                <a:solidFill>
                  <a:srgbClr val="0F172A"/>
                </a:solidFill>
                <a:latin typeface="Aptos" pitchFamily="34" charset="0"/>
                <a:ea typeface="Aptos" pitchFamily="34" charset="-122"/>
                <a:cs typeface="Aptos" pitchFamily="34" charset="-120"/>
              </a:rPr>
              <a:t>16 × 10 × 10</a:t>
            </a:r>
            <a:endParaRPr lang="en-US" sz="1020" dirty="0"/>
          </a:p>
        </p:txBody>
      </p:sp>
      <p:sp>
        <p:nvSpPr>
          <p:cNvPr id="23" name="Shape 21"/>
          <p:cNvSpPr/>
          <p:nvPr/>
        </p:nvSpPr>
        <p:spPr>
          <a:xfrm>
            <a:off x="777240" y="3474720"/>
            <a:ext cx="1353312" cy="822960"/>
          </a:xfrm>
          <a:prstGeom prst="roundRect">
            <a:avLst>
              <a:gd name="adj" fmla="val 8889"/>
            </a:avLst>
          </a:prstGeom>
          <a:solidFill>
            <a:srgbClr val="F1F5F9"/>
          </a:solidFill>
          <a:ln w="12700">
            <a:solidFill>
              <a:srgbClr val="E2E8F0">
                <a:alpha val="90000"/>
              </a:srgbClr>
            </a:solidFill>
            <a:prstDash val="solid"/>
          </a:ln>
        </p:spPr>
        <p:txBody>
          <a:bodyPr/>
          <a:p/>
        </p:txBody>
      </p:sp>
      <p:sp>
        <p:nvSpPr>
          <p:cNvPr id="24" name="Text 22"/>
          <p:cNvSpPr/>
          <p:nvPr/>
        </p:nvSpPr>
        <p:spPr>
          <a:xfrm>
            <a:off x="850392" y="3584448"/>
            <a:ext cx="1207008" cy="164592"/>
          </a:xfrm>
          <a:prstGeom prst="rect">
            <a:avLst/>
          </a:prstGeom>
          <a:noFill/>
        </p:spPr>
        <p:txBody>
          <a:bodyPr wrap="square" lIns="0" tIns="0" rIns="0" bIns="0" rtlCol="0" anchor="ctr"/>
          <a:lstStyle/>
          <a:p>
            <a:pPr marL="0" indent="0" algn="ctr">
              <a:buNone/>
            </a:pPr>
            <a:r>
              <a:rPr lang="en-US" sz="800" b="1" dirty="0">
                <a:solidFill>
                  <a:srgbClr val="0E7490"/>
                </a:solidFill>
                <a:latin typeface="Aptos" pitchFamily="34" charset="0"/>
                <a:ea typeface="Aptos" pitchFamily="34" charset="-122"/>
                <a:cs typeface="Aptos" pitchFamily="34" charset="-120"/>
              </a:rPr>
              <a:t>POOL</a:t>
            </a:r>
            <a:endParaRPr lang="en-US" sz="800" dirty="0"/>
          </a:p>
        </p:txBody>
      </p:sp>
      <p:sp>
        <p:nvSpPr>
          <p:cNvPr id="25" name="Text 23"/>
          <p:cNvSpPr/>
          <p:nvPr/>
        </p:nvSpPr>
        <p:spPr>
          <a:xfrm>
            <a:off x="850392" y="3831336"/>
            <a:ext cx="1207008" cy="201168"/>
          </a:xfrm>
          <a:prstGeom prst="rect">
            <a:avLst/>
          </a:prstGeom>
          <a:noFill/>
        </p:spPr>
        <p:txBody>
          <a:bodyPr wrap="square" lIns="0" tIns="0" rIns="0" bIns="0" rtlCol="0" anchor="ctr">
            <a:normAutofit/>
          </a:bodyPr>
          <a:lstStyle/>
          <a:p>
            <a:pPr marL="0" indent="0" algn="ctr">
              <a:buNone/>
            </a:pPr>
            <a:r>
              <a:rPr lang="en-US" sz="1020" b="1" dirty="0">
                <a:solidFill>
                  <a:srgbClr val="0F172A"/>
                </a:solidFill>
                <a:latin typeface="Aptos" pitchFamily="34" charset="0"/>
                <a:ea typeface="Aptos" pitchFamily="34" charset="-122"/>
                <a:cs typeface="Aptos" pitchFamily="34" charset="-120"/>
              </a:rPr>
              <a:t>16 × 5 × 5</a:t>
            </a:r>
            <a:endParaRPr lang="en-US" sz="1020" dirty="0"/>
          </a:p>
        </p:txBody>
      </p:sp>
      <p:sp>
        <p:nvSpPr>
          <p:cNvPr id="26" name="Shape 24"/>
          <p:cNvSpPr/>
          <p:nvPr/>
        </p:nvSpPr>
        <p:spPr>
          <a:xfrm>
            <a:off x="2258568" y="3474720"/>
            <a:ext cx="1353312" cy="822960"/>
          </a:xfrm>
          <a:prstGeom prst="roundRect">
            <a:avLst>
              <a:gd name="adj" fmla="val 8889"/>
            </a:avLst>
          </a:prstGeom>
          <a:solidFill>
            <a:srgbClr val="F1F5F9"/>
          </a:solidFill>
          <a:ln w="12700">
            <a:solidFill>
              <a:srgbClr val="E2E8F0">
                <a:alpha val="90000"/>
              </a:srgbClr>
            </a:solidFill>
            <a:prstDash val="solid"/>
          </a:ln>
        </p:spPr>
        <p:txBody>
          <a:bodyPr/>
          <a:p/>
        </p:txBody>
      </p:sp>
      <p:sp>
        <p:nvSpPr>
          <p:cNvPr id="27" name="Text 25"/>
          <p:cNvSpPr/>
          <p:nvPr/>
        </p:nvSpPr>
        <p:spPr>
          <a:xfrm>
            <a:off x="2331720" y="3584448"/>
            <a:ext cx="1207008" cy="164592"/>
          </a:xfrm>
          <a:prstGeom prst="rect">
            <a:avLst/>
          </a:prstGeom>
          <a:noFill/>
        </p:spPr>
        <p:txBody>
          <a:bodyPr wrap="square" lIns="0" tIns="0" rIns="0" bIns="0" rtlCol="0" anchor="ctr"/>
          <a:lstStyle/>
          <a:p>
            <a:pPr marL="0" indent="0" algn="ctr">
              <a:buNone/>
            </a:pPr>
            <a:r>
              <a:rPr lang="en-US" sz="800" b="1" dirty="0">
                <a:solidFill>
                  <a:srgbClr val="0E7490"/>
                </a:solidFill>
                <a:latin typeface="Aptos" pitchFamily="34" charset="0"/>
                <a:ea typeface="Aptos" pitchFamily="34" charset="-122"/>
                <a:cs typeface="Aptos" pitchFamily="34" charset="-120"/>
              </a:rPr>
              <a:t>CONV</a:t>
            </a:r>
            <a:endParaRPr lang="en-US" sz="800" dirty="0"/>
          </a:p>
        </p:txBody>
      </p:sp>
      <p:sp>
        <p:nvSpPr>
          <p:cNvPr id="28" name="Text 26"/>
          <p:cNvSpPr/>
          <p:nvPr/>
        </p:nvSpPr>
        <p:spPr>
          <a:xfrm>
            <a:off x="2331720" y="3831336"/>
            <a:ext cx="1207008" cy="201168"/>
          </a:xfrm>
          <a:prstGeom prst="rect">
            <a:avLst/>
          </a:prstGeom>
          <a:noFill/>
        </p:spPr>
        <p:txBody>
          <a:bodyPr wrap="square" lIns="0" tIns="0" rIns="0" bIns="0" rtlCol="0" anchor="ctr">
            <a:normAutofit/>
          </a:bodyPr>
          <a:lstStyle/>
          <a:p>
            <a:pPr marL="0" indent="0" algn="ctr">
              <a:buNone/>
            </a:pPr>
            <a:r>
              <a:rPr lang="en-US" sz="1020" b="1" dirty="0">
                <a:solidFill>
                  <a:srgbClr val="0F172A"/>
                </a:solidFill>
                <a:latin typeface="Aptos" pitchFamily="34" charset="0"/>
                <a:ea typeface="Aptos" pitchFamily="34" charset="-122"/>
                <a:cs typeface="Aptos" pitchFamily="34" charset="-120"/>
              </a:rPr>
              <a:t>120 × 1 × 1</a:t>
            </a:r>
            <a:endParaRPr lang="en-US" sz="1020" dirty="0"/>
          </a:p>
        </p:txBody>
      </p:sp>
      <p:sp>
        <p:nvSpPr>
          <p:cNvPr id="29" name="Shape 27"/>
          <p:cNvSpPr/>
          <p:nvPr/>
        </p:nvSpPr>
        <p:spPr>
          <a:xfrm>
            <a:off x="3739896" y="3474720"/>
            <a:ext cx="1353312" cy="822960"/>
          </a:xfrm>
          <a:prstGeom prst="roundRect">
            <a:avLst>
              <a:gd name="adj" fmla="val 8889"/>
            </a:avLst>
          </a:prstGeom>
          <a:solidFill>
            <a:srgbClr val="F1F5F9"/>
          </a:solidFill>
          <a:ln w="12700">
            <a:solidFill>
              <a:srgbClr val="E2E8F0">
                <a:alpha val="90000"/>
              </a:srgbClr>
            </a:solidFill>
            <a:prstDash val="solid"/>
          </a:ln>
        </p:spPr>
        <p:txBody>
          <a:bodyPr/>
          <a:p/>
        </p:txBody>
      </p:sp>
      <p:sp>
        <p:nvSpPr>
          <p:cNvPr id="30" name="Text 28"/>
          <p:cNvSpPr/>
          <p:nvPr/>
        </p:nvSpPr>
        <p:spPr>
          <a:xfrm>
            <a:off x="3813048" y="3584448"/>
            <a:ext cx="1207008" cy="164592"/>
          </a:xfrm>
          <a:prstGeom prst="rect">
            <a:avLst/>
          </a:prstGeom>
          <a:noFill/>
        </p:spPr>
        <p:txBody>
          <a:bodyPr wrap="square" lIns="0" tIns="0" rIns="0" bIns="0" rtlCol="0" anchor="ctr"/>
          <a:lstStyle/>
          <a:p>
            <a:pPr marL="0" indent="0" algn="ctr">
              <a:buNone/>
            </a:pPr>
            <a:r>
              <a:rPr lang="en-US" sz="800" b="1" dirty="0">
                <a:solidFill>
                  <a:srgbClr val="0E7490"/>
                </a:solidFill>
                <a:latin typeface="Aptos" pitchFamily="34" charset="0"/>
                <a:ea typeface="Aptos" pitchFamily="34" charset="-122"/>
                <a:cs typeface="Aptos" pitchFamily="34" charset="-120"/>
              </a:rPr>
              <a:t>FC</a:t>
            </a:r>
            <a:endParaRPr lang="en-US" sz="800" dirty="0"/>
          </a:p>
        </p:txBody>
      </p:sp>
      <p:sp>
        <p:nvSpPr>
          <p:cNvPr id="31" name="Text 29"/>
          <p:cNvSpPr/>
          <p:nvPr/>
        </p:nvSpPr>
        <p:spPr>
          <a:xfrm>
            <a:off x="3813048" y="3831336"/>
            <a:ext cx="1207008" cy="201168"/>
          </a:xfrm>
          <a:prstGeom prst="rect">
            <a:avLst/>
          </a:prstGeom>
          <a:noFill/>
        </p:spPr>
        <p:txBody>
          <a:bodyPr wrap="square" lIns="0" tIns="0" rIns="0" bIns="0" rtlCol="0" anchor="ctr">
            <a:normAutofit/>
          </a:bodyPr>
          <a:lstStyle/>
          <a:p>
            <a:pPr marL="0" indent="0" algn="ctr">
              <a:buNone/>
            </a:pPr>
            <a:r>
              <a:rPr lang="en-US" sz="1020" b="1" dirty="0">
                <a:solidFill>
                  <a:srgbClr val="0F172A"/>
                </a:solidFill>
                <a:latin typeface="Aptos" pitchFamily="34" charset="0"/>
                <a:ea typeface="Aptos" pitchFamily="34" charset="-122"/>
                <a:cs typeface="Aptos" pitchFamily="34" charset="-120"/>
              </a:rPr>
              <a:t>84</a:t>
            </a:r>
            <a:endParaRPr lang="en-US" sz="1020" dirty="0"/>
          </a:p>
        </p:txBody>
      </p:sp>
      <p:sp>
        <p:nvSpPr>
          <p:cNvPr id="32" name="Shape 30"/>
          <p:cNvSpPr/>
          <p:nvPr/>
        </p:nvSpPr>
        <p:spPr>
          <a:xfrm>
            <a:off x="5221224" y="3474720"/>
            <a:ext cx="1353312" cy="822960"/>
          </a:xfrm>
          <a:prstGeom prst="roundRect">
            <a:avLst>
              <a:gd name="adj" fmla="val 8889"/>
            </a:avLst>
          </a:prstGeom>
          <a:solidFill>
            <a:srgbClr val="F1F5F9"/>
          </a:solidFill>
          <a:ln w="12700">
            <a:solidFill>
              <a:srgbClr val="E2E8F0">
                <a:alpha val="90000"/>
              </a:srgbClr>
            </a:solidFill>
            <a:prstDash val="solid"/>
          </a:ln>
        </p:spPr>
        <p:txBody>
          <a:bodyPr/>
          <a:p/>
        </p:txBody>
      </p:sp>
      <p:sp>
        <p:nvSpPr>
          <p:cNvPr id="33" name="Text 31"/>
          <p:cNvSpPr/>
          <p:nvPr/>
        </p:nvSpPr>
        <p:spPr>
          <a:xfrm>
            <a:off x="5294376" y="3584448"/>
            <a:ext cx="1207008" cy="164592"/>
          </a:xfrm>
          <a:prstGeom prst="rect">
            <a:avLst/>
          </a:prstGeom>
          <a:noFill/>
        </p:spPr>
        <p:txBody>
          <a:bodyPr wrap="square" lIns="0" tIns="0" rIns="0" bIns="0" rtlCol="0" anchor="ctr"/>
          <a:lstStyle/>
          <a:p>
            <a:pPr marL="0" indent="0" algn="ctr">
              <a:buNone/>
            </a:pPr>
            <a:r>
              <a:rPr lang="en-US" sz="800" b="1" dirty="0">
                <a:solidFill>
                  <a:srgbClr val="0E7490"/>
                </a:solidFill>
                <a:latin typeface="Aptos" pitchFamily="34" charset="0"/>
                <a:ea typeface="Aptos" pitchFamily="34" charset="-122"/>
                <a:cs typeface="Aptos" pitchFamily="34" charset="-120"/>
              </a:rPr>
              <a:t>OUTPUT</a:t>
            </a:r>
            <a:endParaRPr lang="en-US" sz="800" dirty="0"/>
          </a:p>
        </p:txBody>
      </p:sp>
      <p:sp>
        <p:nvSpPr>
          <p:cNvPr id="34" name="Text 32"/>
          <p:cNvSpPr/>
          <p:nvPr/>
        </p:nvSpPr>
        <p:spPr>
          <a:xfrm>
            <a:off x="5294376" y="3831336"/>
            <a:ext cx="1207008" cy="201168"/>
          </a:xfrm>
          <a:prstGeom prst="rect">
            <a:avLst/>
          </a:prstGeom>
          <a:noFill/>
        </p:spPr>
        <p:txBody>
          <a:bodyPr wrap="square" lIns="0" tIns="0" rIns="0" bIns="0" rtlCol="0" anchor="ctr">
            <a:normAutofit/>
          </a:bodyPr>
          <a:lstStyle/>
          <a:p>
            <a:pPr marL="0" indent="0" algn="ctr">
              <a:buNone/>
            </a:pPr>
            <a:r>
              <a:rPr lang="en-US" sz="1020" b="1" dirty="0">
                <a:solidFill>
                  <a:srgbClr val="0F172A"/>
                </a:solidFill>
                <a:latin typeface="Aptos" pitchFamily="34" charset="0"/>
                <a:ea typeface="Aptos" pitchFamily="34" charset="-122"/>
                <a:cs typeface="Aptos" pitchFamily="34" charset="-120"/>
              </a:rPr>
              <a:t>10 classes</a:t>
            </a:r>
            <a:endParaRPr lang="en-US" sz="1020" dirty="0"/>
          </a:p>
        </p:txBody>
      </p:sp>
      <p:sp>
        <p:nvSpPr>
          <p:cNvPr id="35" name="Text 33"/>
          <p:cNvSpPr/>
          <p:nvPr/>
        </p:nvSpPr>
        <p:spPr>
          <a:xfrm>
            <a:off x="804672" y="5440680"/>
            <a:ext cx="5943600" cy="274320"/>
          </a:xfrm>
          <a:prstGeom prst="rect">
            <a:avLst/>
          </a:prstGeom>
          <a:noFill/>
        </p:spPr>
        <p:txBody>
          <a:bodyPr wrap="square" lIns="0" tIns="0" rIns="0" bIns="0" rtlCol="0" anchor="ctr"/>
          <a:lstStyle/>
          <a:p>
            <a:pPr marL="0" indent="0">
              <a:buNone/>
            </a:pPr>
            <a:r>
              <a:rPr lang="en-US" sz="1000" dirty="0">
                <a:solidFill>
                  <a:srgbClr val="64748B"/>
                </a:solidFill>
                <a:latin typeface="Aptos" pitchFamily="34" charset="0"/>
                <a:ea typeface="Aptos" pitchFamily="34" charset="-122"/>
                <a:cs typeface="Aptos" pitchFamily="34" charset="-120"/>
              </a:rPr>
              <a:t>61,706 parameters • PyTorch • 10 outputs • LogSoftmax</a:t>
            </a:r>
            <a:endParaRPr lang="en-US" sz="1000" dirty="0"/>
          </a:p>
        </p:txBody>
      </p:sp>
      <p:sp>
        <p:nvSpPr>
          <p:cNvPr id="36" name="Shape 34"/>
          <p:cNvSpPr/>
          <p:nvPr/>
        </p:nvSpPr>
        <p:spPr>
          <a:xfrm>
            <a:off x="7424928" y="1572768"/>
            <a:ext cx="4233672" cy="4526280"/>
          </a:xfrm>
          <a:prstGeom prst="roundRect">
            <a:avLst>
              <a:gd name="adj" fmla="val 1728"/>
            </a:avLst>
          </a:prstGeom>
          <a:solidFill>
            <a:srgbClr val="F1F5F9"/>
          </a:solidFill>
          <a:ln w="12700">
            <a:solidFill>
              <a:srgbClr val="E2E8F0">
                <a:alpha val="90000"/>
              </a:srgbClr>
            </a:solidFill>
            <a:prstDash val="solid"/>
          </a:ln>
        </p:spPr>
        <p:txBody>
          <a:bodyPr/>
          <a:p/>
        </p:txBody>
      </p:sp>
      <p:sp>
        <p:nvSpPr>
          <p:cNvPr id="37" name="Shape 35"/>
          <p:cNvSpPr/>
          <p:nvPr/>
        </p:nvSpPr>
        <p:spPr>
          <a:xfrm>
            <a:off x="7644384" y="1828800"/>
            <a:ext cx="45720" cy="274320"/>
          </a:xfrm>
          <a:prstGeom prst="rect">
            <a:avLst/>
          </a:prstGeom>
          <a:solidFill>
            <a:srgbClr val="59D68C"/>
          </a:solidFill>
          <a:ln w="12700">
            <a:solidFill>
              <a:srgbClr val="15803D"/>
            </a:solidFill>
            <a:prstDash val="solid"/>
          </a:ln>
        </p:spPr>
        <p:txBody>
          <a:bodyPr/>
          <a:p/>
        </p:txBody>
      </p:sp>
      <p:sp>
        <p:nvSpPr>
          <p:cNvPr id="38" name="Text 36"/>
          <p:cNvSpPr/>
          <p:nvPr/>
        </p:nvSpPr>
        <p:spPr>
          <a:xfrm>
            <a:off x="7772400" y="1824228"/>
            <a:ext cx="3529584" cy="274320"/>
          </a:xfrm>
          <a:prstGeom prst="rect">
            <a:avLst/>
          </a:prstGeom>
          <a:noFill/>
        </p:spPr>
        <p:txBody>
          <a:bodyPr wrap="square" lIns="0" tIns="0" rIns="0" bIns="0" rtlCol="0" anchor="ctr">
            <a:normAutofit/>
          </a:bodyPr>
          <a:lstStyle/>
          <a:p>
            <a:pPr marL="0" indent="0">
              <a:buNone/>
            </a:pPr>
            <a:r>
              <a:rPr lang="en-US" sz="1250" b="1" dirty="0">
                <a:solidFill>
                  <a:srgbClr val="0F172A"/>
                </a:solidFill>
                <a:latin typeface="Aptos" pitchFamily="34" charset="0"/>
                <a:ea typeface="Aptos" pitchFamily="34" charset="-122"/>
                <a:cs typeface="Aptos" pitchFamily="34" charset="-120"/>
              </a:rPr>
              <a:t>Checkpoint verification</a:t>
            </a:r>
            <a:endParaRPr lang="en-US" sz="1250" dirty="0"/>
          </a:p>
        </p:txBody>
      </p:sp>
      <p:sp>
        <p:nvSpPr>
          <p:cNvPr id="39" name="Shape 37"/>
          <p:cNvSpPr/>
          <p:nvPr/>
        </p:nvSpPr>
        <p:spPr>
          <a:xfrm>
            <a:off x="7662672" y="2286000"/>
            <a:ext cx="1325880" cy="292608"/>
          </a:xfrm>
          <a:prstGeom prst="roundRect">
            <a:avLst>
              <a:gd name="adj" fmla="val 25000"/>
            </a:avLst>
          </a:prstGeom>
          <a:solidFill>
            <a:srgbClr val="59D68C">
              <a:alpha val="14000"/>
            </a:srgbClr>
          </a:solidFill>
          <a:ln w="12700">
            <a:solidFill>
              <a:srgbClr val="15803D">
                <a:alpha val="0"/>
              </a:srgbClr>
            </a:solidFill>
            <a:prstDash val="solid"/>
          </a:ln>
        </p:spPr>
        <p:txBody>
          <a:bodyPr/>
          <a:p/>
        </p:txBody>
      </p:sp>
      <p:sp>
        <p:nvSpPr>
          <p:cNvPr id="40" name="Text 38"/>
          <p:cNvSpPr/>
          <p:nvPr/>
        </p:nvSpPr>
        <p:spPr>
          <a:xfrm>
            <a:off x="7735824" y="2336292"/>
            <a:ext cx="1179576" cy="146304"/>
          </a:xfrm>
          <a:prstGeom prst="rect">
            <a:avLst/>
          </a:prstGeom>
          <a:noFill/>
        </p:spPr>
        <p:txBody>
          <a:bodyPr wrap="square" lIns="0" tIns="0" rIns="0" bIns="0" rtlCol="0" anchor="ctr">
            <a:normAutofit/>
          </a:bodyPr>
          <a:lstStyle/>
          <a:p>
            <a:pPr marL="0" indent="0" algn="ctr">
              <a:buNone/>
            </a:pPr>
            <a:r>
              <a:rPr lang="en-US" sz="850" b="1" dirty="0">
                <a:solidFill>
                  <a:srgbClr val="15803D"/>
                </a:solidFill>
                <a:latin typeface="Aptos" pitchFamily="34" charset="0"/>
                <a:ea typeface="Aptos" pitchFamily="34" charset="-122"/>
                <a:cs typeface="Aptos" pitchFamily="34" charset="-120"/>
              </a:rPr>
              <a:t>LOAD PASS</a:t>
            </a:r>
            <a:endParaRPr lang="en-US" sz="850" dirty="0"/>
          </a:p>
        </p:txBody>
      </p:sp>
      <p:sp>
        <p:nvSpPr>
          <p:cNvPr id="41" name="Shape 39"/>
          <p:cNvSpPr/>
          <p:nvPr/>
        </p:nvSpPr>
        <p:spPr>
          <a:xfrm>
            <a:off x="7662672" y="2953512"/>
            <a:ext cx="68580" cy="68580"/>
          </a:xfrm>
          <a:prstGeom prst="ellipse">
            <a:avLst/>
          </a:prstGeom>
          <a:solidFill>
            <a:srgbClr val="56E0FF"/>
          </a:solidFill>
          <a:ln w="12700">
            <a:solidFill>
              <a:srgbClr val="0E7490"/>
            </a:solidFill>
            <a:prstDash val="solid"/>
          </a:ln>
        </p:spPr>
        <p:txBody>
          <a:bodyPr/>
          <a:p/>
        </p:txBody>
      </p:sp>
      <p:sp>
        <p:nvSpPr>
          <p:cNvPr id="42" name="Text 40"/>
          <p:cNvSpPr/>
          <p:nvPr/>
        </p:nvSpPr>
        <p:spPr>
          <a:xfrm>
            <a:off x="7808976" y="2852928"/>
            <a:ext cx="3465576" cy="384048"/>
          </a:xfrm>
          <a:prstGeom prst="rect">
            <a:avLst/>
          </a:prstGeom>
          <a:noFill/>
        </p:spPr>
        <p:txBody>
          <a:bodyPr wrap="square" lIns="0" tIns="0" rIns="0" bIns="0" rtlCol="0" anchor="ctr">
            <a:normAutofit/>
          </a:bodyPr>
          <a:lstStyle/>
          <a:p>
            <a:pPr marL="0" indent="0">
              <a:buNone/>
            </a:pPr>
            <a:r>
              <a:rPr lang="en-US" sz="1070" dirty="0">
                <a:solidFill>
                  <a:srgbClr val="334155"/>
                </a:solidFill>
                <a:latin typeface="Aptos" pitchFamily="34" charset="0"/>
                <a:ea typeface="Aptos" pitchFamily="34" charset="-122"/>
                <a:cs typeface="Aptos" pitchFamily="34" charset="-120"/>
              </a:rPr>
              <a:t>Checkpoint: model/redmnist.pth</a:t>
            </a:r>
            <a:endParaRPr lang="en-US" sz="1070" dirty="0"/>
          </a:p>
        </p:txBody>
      </p:sp>
      <p:sp>
        <p:nvSpPr>
          <p:cNvPr id="43" name="Shape 41"/>
          <p:cNvSpPr/>
          <p:nvPr/>
        </p:nvSpPr>
        <p:spPr>
          <a:xfrm>
            <a:off x="7662672" y="3538728"/>
            <a:ext cx="68580" cy="68580"/>
          </a:xfrm>
          <a:prstGeom prst="ellipse">
            <a:avLst/>
          </a:prstGeom>
          <a:solidFill>
            <a:srgbClr val="56E0FF"/>
          </a:solidFill>
          <a:ln w="12700">
            <a:solidFill>
              <a:srgbClr val="0E7490"/>
            </a:solidFill>
            <a:prstDash val="solid"/>
          </a:ln>
        </p:spPr>
        <p:txBody>
          <a:bodyPr/>
          <a:p/>
        </p:txBody>
      </p:sp>
      <p:sp>
        <p:nvSpPr>
          <p:cNvPr id="44" name="Text 42"/>
          <p:cNvSpPr/>
          <p:nvPr/>
        </p:nvSpPr>
        <p:spPr>
          <a:xfrm>
            <a:off x="7808976" y="3438144"/>
            <a:ext cx="3465576" cy="384048"/>
          </a:xfrm>
          <a:prstGeom prst="rect">
            <a:avLst/>
          </a:prstGeom>
          <a:noFill/>
        </p:spPr>
        <p:txBody>
          <a:bodyPr wrap="square" lIns="0" tIns="0" rIns="0" bIns="0" rtlCol="0" anchor="ctr">
            <a:normAutofit/>
          </a:bodyPr>
          <a:lstStyle/>
          <a:p>
            <a:pPr marL="0" indent="0">
              <a:buNone/>
            </a:pPr>
            <a:r>
              <a:rPr lang="en-US" sz="1070" dirty="0">
                <a:solidFill>
                  <a:srgbClr val="334155"/>
                </a:solidFill>
                <a:latin typeface="Aptos" pitchFamily="34" charset="0"/>
                <a:ea typeface="Aptos" pitchFamily="34" charset="-122"/>
                <a:cs typeface="Aptos" pitchFamily="34" charset="-120"/>
              </a:rPr>
              <a:t>No missing state-dictionary keys.</a:t>
            </a:r>
            <a:endParaRPr lang="en-US" sz="1070" dirty="0"/>
          </a:p>
        </p:txBody>
      </p:sp>
      <p:sp>
        <p:nvSpPr>
          <p:cNvPr id="45" name="Shape 43"/>
          <p:cNvSpPr/>
          <p:nvPr/>
        </p:nvSpPr>
        <p:spPr>
          <a:xfrm>
            <a:off x="7662672" y="4123944"/>
            <a:ext cx="68580" cy="68580"/>
          </a:xfrm>
          <a:prstGeom prst="ellipse">
            <a:avLst/>
          </a:prstGeom>
          <a:solidFill>
            <a:srgbClr val="56E0FF"/>
          </a:solidFill>
          <a:ln w="12700">
            <a:solidFill>
              <a:srgbClr val="0E7490"/>
            </a:solidFill>
            <a:prstDash val="solid"/>
          </a:ln>
        </p:spPr>
        <p:txBody>
          <a:bodyPr/>
          <a:p/>
        </p:txBody>
      </p:sp>
      <p:sp>
        <p:nvSpPr>
          <p:cNvPr id="46" name="Text 44"/>
          <p:cNvSpPr/>
          <p:nvPr/>
        </p:nvSpPr>
        <p:spPr>
          <a:xfrm>
            <a:off x="7808976" y="4023360"/>
            <a:ext cx="3465576" cy="384048"/>
          </a:xfrm>
          <a:prstGeom prst="rect">
            <a:avLst/>
          </a:prstGeom>
          <a:noFill/>
        </p:spPr>
        <p:txBody>
          <a:bodyPr wrap="square" lIns="0" tIns="0" rIns="0" bIns="0" rtlCol="0" anchor="ctr">
            <a:normAutofit/>
          </a:bodyPr>
          <a:lstStyle/>
          <a:p>
            <a:pPr marL="0" indent="0">
              <a:buNone/>
            </a:pPr>
            <a:r>
              <a:rPr lang="en-US" sz="1070" dirty="0">
                <a:solidFill>
                  <a:srgbClr val="334155"/>
                </a:solidFill>
                <a:latin typeface="Aptos" pitchFamily="34" charset="0"/>
                <a:ea typeface="Aptos" pitchFamily="34" charset="-122"/>
                <a:cs typeface="Aptos" pitchFamily="34" charset="-120"/>
              </a:rPr>
              <a:t>No unexpected state-dictionary keys.</a:t>
            </a:r>
            <a:endParaRPr lang="en-US" sz="1070" dirty="0"/>
          </a:p>
        </p:txBody>
      </p:sp>
      <p:sp>
        <p:nvSpPr>
          <p:cNvPr id="47" name="Shape 45"/>
          <p:cNvSpPr/>
          <p:nvPr/>
        </p:nvSpPr>
        <p:spPr>
          <a:xfrm>
            <a:off x="7662672" y="4709160"/>
            <a:ext cx="68580" cy="68580"/>
          </a:xfrm>
          <a:prstGeom prst="ellipse">
            <a:avLst/>
          </a:prstGeom>
          <a:solidFill>
            <a:srgbClr val="56E0FF"/>
          </a:solidFill>
          <a:ln w="12700">
            <a:solidFill>
              <a:srgbClr val="0E7490"/>
            </a:solidFill>
            <a:prstDash val="solid"/>
          </a:ln>
        </p:spPr>
        <p:txBody>
          <a:bodyPr/>
          <a:p/>
        </p:txBody>
      </p:sp>
      <p:sp>
        <p:nvSpPr>
          <p:cNvPr id="48" name="Text 46"/>
          <p:cNvSpPr/>
          <p:nvPr/>
        </p:nvSpPr>
        <p:spPr>
          <a:xfrm>
            <a:off x="7808976" y="4608576"/>
            <a:ext cx="3465576" cy="384048"/>
          </a:xfrm>
          <a:prstGeom prst="rect">
            <a:avLst/>
          </a:prstGeom>
          <a:noFill/>
        </p:spPr>
        <p:txBody>
          <a:bodyPr wrap="square" lIns="0" tIns="0" rIns="0" bIns="0" rtlCol="0" anchor="ctr">
            <a:normAutofit/>
          </a:bodyPr>
          <a:lstStyle/>
          <a:p>
            <a:pPr marL="0" indent="0">
              <a:buNone/>
            </a:pPr>
            <a:r>
              <a:rPr lang="en-US" sz="1070" dirty="0">
                <a:solidFill>
                  <a:srgbClr val="334155"/>
                </a:solidFill>
                <a:latin typeface="Aptos" pitchFamily="34" charset="0"/>
                <a:ea typeface="Aptos" pitchFamily="34" charset="-122"/>
                <a:cs typeface="Aptos" pitchFamily="34" charset="-120"/>
              </a:rPr>
              <a:t>Clean sample: true 7 → predicted 7.</a:t>
            </a:r>
            <a:endParaRPr lang="en-US" sz="1070" dirty="0"/>
          </a:p>
        </p:txBody>
      </p:sp>
      <p:sp>
        <p:nvSpPr>
          <p:cNvPr id="49" name="Text 47"/>
          <p:cNvSpPr/>
          <p:nvPr/>
        </p:nvSpPr>
        <p:spPr>
          <a:xfrm>
            <a:off x="11109960" y="6556248"/>
            <a:ext cx="457200" cy="164592"/>
          </a:xfrm>
          <a:prstGeom prst="rect">
            <a:avLst/>
          </a:prstGeom>
          <a:noFill/>
        </p:spPr>
        <p:txBody>
          <a:bodyPr wrap="square" lIns="0" tIns="0" rIns="0" bIns="0" rtlCol="0" anchor="ctr"/>
          <a:lstStyle/>
          <a:p>
            <a:pPr marL="0" indent="0" algn="r">
              <a:buNone/>
            </a:pPr>
            <a:r>
              <a:rPr lang="en-US" sz="800" dirty="0">
                <a:solidFill>
                  <a:srgbClr val="64748B"/>
                </a:solidFill>
                <a:latin typeface="Aptos" pitchFamily="34" charset="0"/>
                <a:ea typeface="Aptos" pitchFamily="34" charset="-122"/>
                <a:cs typeface="Aptos"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320040"/>
            <a:ext cx="11365992" cy="0"/>
          </a:xfrm>
          <a:prstGeom prst="line">
            <a:avLst/>
          </a:prstGeom>
          <a:noFill/>
          <a:ln w="12700">
            <a:solidFill>
              <a:srgbClr val="E2E8F0"/>
            </a:solidFill>
            <a:prstDash val="solid"/>
          </a:ln>
        </p:spPr>
        <p:txBody>
          <a:bodyPr/>
          <a:p/>
        </p:txBody>
      </p:sp>
      <p:sp>
        <p:nvSpPr>
          <p:cNvPr id="3" name="Shape 1"/>
          <p:cNvSpPr/>
          <p:nvPr/>
        </p:nvSpPr>
        <p:spPr>
          <a:xfrm>
            <a:off x="411480" y="6492240"/>
            <a:ext cx="11365992" cy="0"/>
          </a:xfrm>
          <a:prstGeom prst="line">
            <a:avLst/>
          </a:prstGeom>
          <a:noFill/>
          <a:ln w="12700">
            <a:solidFill>
              <a:srgbClr val="E2E8F0"/>
            </a:solidFill>
            <a:prstDash val="solid"/>
          </a:ln>
        </p:spPr>
        <p:txBody>
          <a:bodyPr/>
          <a:p/>
        </p:txBody>
      </p:sp>
      <p:sp>
        <p:nvSpPr>
          <p:cNvPr id="4" name="Shape 2"/>
          <p:cNvSpPr/>
          <p:nvPr/>
        </p:nvSpPr>
        <p:spPr>
          <a:xfrm rot="1080000">
            <a:off x="10744200" y="-640080"/>
            <a:ext cx="1920240" cy="1920240"/>
          </a:xfrm>
          <a:prstGeom prst="arc">
            <a:avLst/>
          </a:prstGeom>
          <a:solidFill>
            <a:srgbClr val="FFFFFF">
              <a:alpha val="0"/>
            </a:srgbClr>
          </a:solidFill>
          <a:ln w="12700">
            <a:solidFill>
              <a:srgbClr val="E2E8F0">
                <a:alpha val="55000"/>
              </a:srgbClr>
            </a:solidFill>
            <a:prstDash val="solid"/>
          </a:ln>
        </p:spPr>
        <p:txBody>
          <a:bodyPr/>
          <a:p/>
        </p:txBody>
      </p:sp>
      <p:sp>
        <p:nvSpPr>
          <p:cNvPr id="5" name="Text 3"/>
          <p:cNvSpPr/>
          <p:nvPr/>
        </p:nvSpPr>
        <p:spPr>
          <a:xfrm>
            <a:off x="502920" y="73152"/>
            <a:ext cx="3840480" cy="182880"/>
          </a:xfrm>
          <a:prstGeom prst="rect">
            <a:avLst/>
          </a:prstGeom>
          <a:noFill/>
        </p:spPr>
        <p:txBody>
          <a:bodyPr wrap="square" lIns="0" tIns="0" rIns="0" bIns="0" rtlCol="0" anchor="ctr"/>
          <a:lstStyle/>
          <a:p>
            <a:pPr marL="0" indent="0">
              <a:buNone/>
            </a:pPr>
            <a:r>
              <a:rPr lang="en-US" sz="900" b="1" kern="0" spc="140" dirty="0">
                <a:solidFill>
                  <a:srgbClr val="0E7490"/>
                </a:solidFill>
                <a:latin typeface="Aptos" pitchFamily="34" charset="0"/>
                <a:ea typeface="Aptos" pitchFamily="34" charset="-122"/>
                <a:cs typeface="Aptos" pitchFamily="34" charset="-120"/>
              </a:rPr>
              <a:t>TESTS</a:t>
            </a:r>
            <a:endParaRPr lang="en-US" sz="900" dirty="0"/>
          </a:p>
        </p:txBody>
      </p:sp>
      <p:sp>
        <p:nvSpPr>
          <p:cNvPr id="6" name="Text 4"/>
          <p:cNvSpPr/>
          <p:nvPr/>
        </p:nvSpPr>
        <p:spPr>
          <a:xfrm>
            <a:off x="502920" y="530352"/>
            <a:ext cx="10561320" cy="502920"/>
          </a:xfrm>
          <a:prstGeom prst="rect">
            <a:avLst/>
          </a:prstGeom>
          <a:noFill/>
        </p:spPr>
        <p:txBody>
          <a:bodyPr wrap="square" lIns="0" tIns="0" rIns="0" bIns="0" rtlCol="0" anchor="ctr">
            <a:normAutofit/>
          </a:bodyP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05 • Step 1 — Baseline Tests</a:t>
            </a:r>
            <a:endParaRPr lang="en-US" sz="2500" dirty="0"/>
          </a:p>
        </p:txBody>
      </p:sp>
      <p:sp>
        <p:nvSpPr>
          <p:cNvPr id="7" name="Text 5"/>
          <p:cNvSpPr/>
          <p:nvPr/>
        </p:nvSpPr>
        <p:spPr>
          <a:xfrm>
            <a:off x="530352" y="1060704"/>
            <a:ext cx="10332720" cy="347472"/>
          </a:xfrm>
          <a:prstGeom prst="rect">
            <a:avLst/>
          </a:prstGeom>
          <a:noFill/>
        </p:spPr>
        <p:txBody>
          <a:bodyPr wrap="square" lIns="0" tIns="0" rIns="0" bIns="0" rtlCol="0" anchor="ctr">
            <a:normAutofit/>
          </a:bodyPr>
          <a:lstStyle/>
          <a:p>
            <a:pPr marL="0" indent="0">
              <a:buNone/>
            </a:pPr>
            <a:r>
              <a:rPr lang="en-US" sz="1150" dirty="0">
                <a:solidFill>
                  <a:srgbClr val="64748B"/>
                </a:solidFill>
                <a:latin typeface="Aptos" pitchFamily="34" charset="0"/>
                <a:ea typeface="Aptos" pitchFamily="34" charset="-122"/>
                <a:cs typeface="Aptos" pitchFamily="34" charset="-120"/>
              </a:rPr>
              <a:t>Two tests established trust in the baseline before security testing.</a:t>
            </a:r>
            <a:endParaRPr lang="en-US" sz="1150" dirty="0"/>
          </a:p>
        </p:txBody>
      </p:sp>
      <p:sp>
        <p:nvSpPr>
          <p:cNvPr id="8" name="Shape 6"/>
          <p:cNvSpPr/>
          <p:nvPr/>
        </p:nvSpPr>
        <p:spPr>
          <a:xfrm>
            <a:off x="530352" y="1572768"/>
            <a:ext cx="5440680" cy="4526280"/>
          </a:xfrm>
          <a:prstGeom prst="roundRect">
            <a:avLst>
              <a:gd name="adj" fmla="val 1616"/>
            </a:avLst>
          </a:prstGeom>
          <a:solidFill>
            <a:srgbClr val="F8FAFC"/>
          </a:solidFill>
          <a:ln w="12700">
            <a:solidFill>
              <a:srgbClr val="E2E8F0">
                <a:alpha val="90000"/>
              </a:srgbClr>
            </a:solidFill>
            <a:prstDash val="solid"/>
          </a:ln>
        </p:spPr>
        <p:txBody>
          <a:bodyPr/>
          <a:p/>
        </p:txBody>
      </p:sp>
      <p:sp>
        <p:nvSpPr>
          <p:cNvPr id="9" name="Shape 7"/>
          <p:cNvSpPr/>
          <p:nvPr/>
        </p:nvSpPr>
        <p:spPr>
          <a:xfrm>
            <a:off x="749808" y="1828800"/>
            <a:ext cx="45720" cy="274320"/>
          </a:xfrm>
          <a:prstGeom prst="rect">
            <a:avLst/>
          </a:prstGeom>
          <a:solidFill>
            <a:srgbClr val="56E0FF"/>
          </a:solidFill>
          <a:ln w="12700">
            <a:solidFill>
              <a:srgbClr val="0E7490"/>
            </a:solidFill>
            <a:prstDash val="solid"/>
          </a:ln>
        </p:spPr>
        <p:txBody>
          <a:bodyPr/>
          <a:p/>
        </p:txBody>
      </p:sp>
      <p:sp>
        <p:nvSpPr>
          <p:cNvPr id="10" name="Text 8"/>
          <p:cNvSpPr/>
          <p:nvPr/>
        </p:nvSpPr>
        <p:spPr>
          <a:xfrm>
            <a:off x="877824" y="1824228"/>
            <a:ext cx="4855464" cy="274320"/>
          </a:xfrm>
          <a:prstGeom prst="rect">
            <a:avLst/>
          </a:prstGeom>
          <a:noFill/>
        </p:spPr>
        <p:txBody>
          <a:bodyPr wrap="square" lIns="0" tIns="0" rIns="0" bIns="0" rtlCol="0" anchor="ctr">
            <a:normAutofit/>
          </a:bodyPr>
          <a:lstStyle/>
          <a:p>
            <a:pPr marL="0" indent="0">
              <a:buNone/>
            </a:pPr>
            <a:r>
              <a:rPr lang="en-US" sz="1250" b="1" dirty="0">
                <a:solidFill>
                  <a:srgbClr val="0F172A"/>
                </a:solidFill>
                <a:latin typeface="Aptos" pitchFamily="34" charset="0"/>
                <a:ea typeface="Aptos" pitchFamily="34" charset="-122"/>
                <a:cs typeface="Aptos" pitchFamily="34" charset="-120"/>
              </a:rPr>
              <a:t>Test 1 — load_check.py</a:t>
            </a:r>
            <a:endParaRPr lang="en-US" sz="1250" dirty="0"/>
          </a:p>
        </p:txBody>
      </p:sp>
      <p:sp>
        <p:nvSpPr>
          <p:cNvPr id="11" name="Shape 9"/>
          <p:cNvSpPr/>
          <p:nvPr/>
        </p:nvSpPr>
        <p:spPr>
          <a:xfrm>
            <a:off x="749808" y="2267712"/>
            <a:ext cx="4983480" cy="1143000"/>
          </a:xfrm>
          <a:prstGeom prst="roundRect">
            <a:avLst>
              <a:gd name="adj" fmla="val 6400"/>
            </a:avLst>
          </a:prstGeom>
          <a:solidFill>
            <a:srgbClr val="FFFFFF"/>
          </a:solidFill>
          <a:ln w="12700">
            <a:solidFill>
              <a:srgbClr val="E2E8F0">
                <a:alpha val="90000"/>
              </a:srgbClr>
            </a:solidFill>
            <a:prstDash val="solid"/>
          </a:ln>
        </p:spPr>
        <p:txBody>
          <a:bodyPr/>
          <a:p/>
        </p:txBody>
      </p:sp>
      <p:sp>
        <p:nvSpPr>
          <p:cNvPr id="12" name="Text 10"/>
          <p:cNvSpPr/>
          <p:nvPr/>
        </p:nvSpPr>
        <p:spPr>
          <a:xfrm>
            <a:off x="914400" y="2432304"/>
            <a:ext cx="4654296" cy="813816"/>
          </a:xfrm>
          <a:prstGeom prst="rect">
            <a:avLst/>
          </a:prstGeom>
          <a:noFill/>
        </p:spPr>
        <p:txBody>
          <a:bodyPr wrap="square" lIns="0" tIns="0" rIns="0" bIns="0" rtlCol="0" anchor="ctr">
            <a:normAutofit/>
          </a:bodyPr>
          <a:lstStyle/>
          <a:p>
            <a:pPr marL="0" indent="0">
              <a:buNone/>
            </a:pPr>
            <a:r>
              <a:rPr lang="en-US" sz="1000" dirty="0">
                <a:solidFill>
                  <a:srgbClr val="CFE7F4"/>
                </a:solidFill>
                <a:latin typeface="Consolas" panose="020B0609020204030204" pitchFamily="34" charset="0"/>
                <a:ea typeface="Consolas" panose="020B0609020204030204" pitchFamily="34" charset="-122"/>
                <a:cs typeface="Consolas" panose="020B0609020204030204" pitchFamily="34" charset="-120"/>
              </a:rPr>
              <a:t>true_label = 7</a:t>
            </a:r>
            <a:endParaRPr lang="en-US" sz="1000" dirty="0"/>
          </a:p>
          <a:p>
            <a:pPr marL="0" indent="0">
              <a:buNone/>
            </a:pPr>
            <a:r>
              <a:rPr lang="en-US" sz="1000" dirty="0">
                <a:solidFill>
                  <a:srgbClr val="CFE7F4"/>
                </a:solidFill>
                <a:latin typeface="Consolas" panose="020B0609020204030204" pitchFamily="34" charset="0"/>
                <a:ea typeface="Consolas" panose="020B0609020204030204" pitchFamily="34" charset="-122"/>
                <a:cs typeface="Consolas" panose="020B0609020204030204" pitchFamily="34" charset="-120"/>
              </a:rPr>
              <a:t>prediction  = 7</a:t>
            </a:r>
            <a:endParaRPr lang="en-US" sz="1000" dirty="0"/>
          </a:p>
          <a:p>
            <a:pPr marL="0" indent="0">
              <a:buNone/>
            </a:pPr>
            <a:r>
              <a:rPr lang="en-US" sz="1000" dirty="0">
                <a:solidFill>
                  <a:srgbClr val="CFE7F4"/>
                </a:solidFill>
                <a:latin typeface="Consolas" panose="020B0609020204030204" pitchFamily="34" charset="0"/>
                <a:ea typeface="Consolas" panose="020B0609020204030204" pitchFamily="34" charset="-122"/>
                <a:cs typeface="Consolas" panose="020B0609020204030204" pitchFamily="34" charset="-120"/>
              </a:rPr>
              <a:t>output_shape = [1, 10]</a:t>
            </a:r>
            <a:endParaRPr lang="en-US" sz="1000" dirty="0"/>
          </a:p>
        </p:txBody>
      </p:sp>
      <p:sp>
        <p:nvSpPr>
          <p:cNvPr id="13" name="Shape 11"/>
          <p:cNvSpPr/>
          <p:nvPr/>
        </p:nvSpPr>
        <p:spPr>
          <a:xfrm>
            <a:off x="749808" y="3657600"/>
            <a:ext cx="1078992" cy="292608"/>
          </a:xfrm>
          <a:prstGeom prst="roundRect">
            <a:avLst>
              <a:gd name="adj" fmla="val 25000"/>
            </a:avLst>
          </a:prstGeom>
          <a:solidFill>
            <a:srgbClr val="59D68C">
              <a:alpha val="14000"/>
            </a:srgbClr>
          </a:solidFill>
          <a:ln w="12700">
            <a:solidFill>
              <a:srgbClr val="15803D">
                <a:alpha val="0"/>
              </a:srgbClr>
            </a:solidFill>
            <a:prstDash val="solid"/>
          </a:ln>
        </p:spPr>
        <p:txBody>
          <a:bodyPr/>
          <a:p/>
        </p:txBody>
      </p:sp>
      <p:sp>
        <p:nvSpPr>
          <p:cNvPr id="14" name="Text 12"/>
          <p:cNvSpPr/>
          <p:nvPr/>
        </p:nvSpPr>
        <p:spPr>
          <a:xfrm>
            <a:off x="822960" y="3707892"/>
            <a:ext cx="932688" cy="146304"/>
          </a:xfrm>
          <a:prstGeom prst="rect">
            <a:avLst/>
          </a:prstGeom>
          <a:noFill/>
        </p:spPr>
        <p:txBody>
          <a:bodyPr wrap="square" lIns="0" tIns="0" rIns="0" bIns="0" rtlCol="0" anchor="ctr">
            <a:normAutofit/>
          </a:bodyPr>
          <a:lstStyle/>
          <a:p>
            <a:pPr marL="0" indent="0" algn="ctr">
              <a:buNone/>
            </a:pPr>
            <a:r>
              <a:rPr lang="en-US" sz="850" b="1" dirty="0">
                <a:solidFill>
                  <a:srgbClr val="15803D"/>
                </a:solidFill>
                <a:latin typeface="Aptos" pitchFamily="34" charset="0"/>
                <a:ea typeface="Aptos" pitchFamily="34" charset="-122"/>
                <a:cs typeface="Aptos" pitchFamily="34" charset="-120"/>
              </a:rPr>
              <a:t>PASS</a:t>
            </a:r>
            <a:endParaRPr lang="en-US" sz="850" dirty="0"/>
          </a:p>
        </p:txBody>
      </p:sp>
      <p:sp>
        <p:nvSpPr>
          <p:cNvPr id="15" name="Shape 13"/>
          <p:cNvSpPr/>
          <p:nvPr/>
        </p:nvSpPr>
        <p:spPr>
          <a:xfrm>
            <a:off x="749808" y="4261104"/>
            <a:ext cx="68580" cy="68580"/>
          </a:xfrm>
          <a:prstGeom prst="ellipse">
            <a:avLst/>
          </a:prstGeom>
          <a:solidFill>
            <a:srgbClr val="56E0FF"/>
          </a:solidFill>
          <a:ln w="12700">
            <a:solidFill>
              <a:srgbClr val="0E7490"/>
            </a:solidFill>
            <a:prstDash val="solid"/>
          </a:ln>
        </p:spPr>
        <p:txBody>
          <a:bodyPr/>
          <a:p/>
        </p:txBody>
      </p:sp>
      <p:sp>
        <p:nvSpPr>
          <p:cNvPr id="16" name="Text 14"/>
          <p:cNvSpPr/>
          <p:nvPr/>
        </p:nvSpPr>
        <p:spPr>
          <a:xfrm>
            <a:off x="896112" y="4160520"/>
            <a:ext cx="4288536" cy="384048"/>
          </a:xfrm>
          <a:prstGeom prst="rect">
            <a:avLst/>
          </a:prstGeom>
          <a:noFill/>
        </p:spPr>
        <p:txBody>
          <a:bodyPr wrap="square" lIns="0" tIns="0" rIns="0" bIns="0" rtlCol="0" anchor="ctr">
            <a:normAutofit/>
          </a:bodyPr>
          <a:lstStyle/>
          <a:p>
            <a:pPr marL="0" indent="0">
              <a:buNone/>
            </a:pPr>
            <a:r>
              <a:rPr lang="en-US" sz="1070" dirty="0">
                <a:solidFill>
                  <a:srgbClr val="334155"/>
                </a:solidFill>
                <a:latin typeface="Aptos" pitchFamily="34" charset="0"/>
                <a:ea typeface="Aptos" pitchFamily="34" charset="-122"/>
                <a:cs typeface="Aptos" pitchFamily="34" charset="-120"/>
              </a:rPr>
              <a:t>The checkpoint loads.</a:t>
            </a:r>
            <a:endParaRPr lang="en-US" sz="1070" dirty="0"/>
          </a:p>
        </p:txBody>
      </p:sp>
      <p:sp>
        <p:nvSpPr>
          <p:cNvPr id="17" name="Shape 15"/>
          <p:cNvSpPr/>
          <p:nvPr/>
        </p:nvSpPr>
        <p:spPr>
          <a:xfrm>
            <a:off x="749808" y="4828032"/>
            <a:ext cx="68580" cy="68580"/>
          </a:xfrm>
          <a:prstGeom prst="ellipse">
            <a:avLst/>
          </a:prstGeom>
          <a:solidFill>
            <a:srgbClr val="56E0FF"/>
          </a:solidFill>
          <a:ln w="12700">
            <a:solidFill>
              <a:srgbClr val="0E7490"/>
            </a:solidFill>
            <a:prstDash val="solid"/>
          </a:ln>
        </p:spPr>
        <p:txBody>
          <a:bodyPr/>
          <a:p/>
        </p:txBody>
      </p:sp>
      <p:sp>
        <p:nvSpPr>
          <p:cNvPr id="18" name="Text 16"/>
          <p:cNvSpPr/>
          <p:nvPr/>
        </p:nvSpPr>
        <p:spPr>
          <a:xfrm>
            <a:off x="896112" y="4727448"/>
            <a:ext cx="4288536" cy="384048"/>
          </a:xfrm>
          <a:prstGeom prst="rect">
            <a:avLst/>
          </a:prstGeom>
          <a:noFill/>
        </p:spPr>
        <p:txBody>
          <a:bodyPr wrap="square" lIns="0" tIns="0" rIns="0" bIns="0" rtlCol="0" anchor="ctr">
            <a:normAutofit/>
          </a:bodyPr>
          <a:lstStyle/>
          <a:p>
            <a:pPr marL="0" indent="0">
              <a:buNone/>
            </a:pPr>
            <a:r>
              <a:rPr lang="en-US" sz="1070" dirty="0">
                <a:solidFill>
                  <a:srgbClr val="334155"/>
                </a:solidFill>
                <a:latin typeface="Aptos" pitchFamily="34" charset="0"/>
                <a:ea typeface="Aptos" pitchFamily="34" charset="-122"/>
                <a:cs typeface="Aptos" pitchFamily="34" charset="-120"/>
              </a:rPr>
              <a:t>The model returns 10 class outputs.</a:t>
            </a:r>
            <a:endParaRPr lang="en-US" sz="1070" dirty="0"/>
          </a:p>
        </p:txBody>
      </p:sp>
      <p:sp>
        <p:nvSpPr>
          <p:cNvPr id="19" name="Shape 17"/>
          <p:cNvSpPr/>
          <p:nvPr/>
        </p:nvSpPr>
        <p:spPr>
          <a:xfrm>
            <a:off x="749808" y="5394960"/>
            <a:ext cx="68580" cy="68580"/>
          </a:xfrm>
          <a:prstGeom prst="ellipse">
            <a:avLst/>
          </a:prstGeom>
          <a:solidFill>
            <a:srgbClr val="56E0FF"/>
          </a:solidFill>
          <a:ln w="12700">
            <a:solidFill>
              <a:srgbClr val="0E7490"/>
            </a:solidFill>
            <a:prstDash val="solid"/>
          </a:ln>
        </p:spPr>
        <p:txBody>
          <a:bodyPr/>
          <a:p/>
        </p:txBody>
      </p:sp>
      <p:sp>
        <p:nvSpPr>
          <p:cNvPr id="20" name="Text 18"/>
          <p:cNvSpPr/>
          <p:nvPr/>
        </p:nvSpPr>
        <p:spPr>
          <a:xfrm>
            <a:off x="896112" y="5294376"/>
            <a:ext cx="4288536" cy="384048"/>
          </a:xfrm>
          <a:prstGeom prst="rect">
            <a:avLst/>
          </a:prstGeom>
          <a:noFill/>
        </p:spPr>
        <p:txBody>
          <a:bodyPr wrap="square" lIns="0" tIns="0" rIns="0" bIns="0" rtlCol="0" anchor="ctr">
            <a:normAutofit/>
          </a:bodyPr>
          <a:lstStyle/>
          <a:p>
            <a:pPr marL="0" indent="0">
              <a:buNone/>
            </a:pPr>
            <a:r>
              <a:rPr lang="en-US" sz="1070" dirty="0">
                <a:solidFill>
                  <a:srgbClr val="334155"/>
                </a:solidFill>
                <a:latin typeface="Aptos" pitchFamily="34" charset="0"/>
                <a:ea typeface="Aptos" pitchFamily="34" charset="-122"/>
                <a:cs typeface="Aptos" pitchFamily="34" charset="-120"/>
              </a:rPr>
              <a:t>The known sample is classified correctly.</a:t>
            </a:r>
            <a:endParaRPr lang="en-US" sz="1070" dirty="0"/>
          </a:p>
        </p:txBody>
      </p:sp>
      <p:sp>
        <p:nvSpPr>
          <p:cNvPr id="21" name="Shape 19"/>
          <p:cNvSpPr/>
          <p:nvPr/>
        </p:nvSpPr>
        <p:spPr>
          <a:xfrm>
            <a:off x="6199632" y="1572768"/>
            <a:ext cx="5458968" cy="4526280"/>
          </a:xfrm>
          <a:prstGeom prst="roundRect">
            <a:avLst>
              <a:gd name="adj" fmla="val 1616"/>
            </a:avLst>
          </a:prstGeom>
          <a:solidFill>
            <a:srgbClr val="F8FAFC"/>
          </a:solidFill>
          <a:ln w="12700">
            <a:solidFill>
              <a:srgbClr val="E2E8F0">
                <a:alpha val="90000"/>
              </a:srgbClr>
            </a:solidFill>
            <a:prstDash val="solid"/>
          </a:ln>
        </p:spPr>
        <p:txBody>
          <a:bodyPr/>
          <a:p/>
        </p:txBody>
      </p:sp>
      <p:sp>
        <p:nvSpPr>
          <p:cNvPr id="22" name="Shape 20"/>
          <p:cNvSpPr/>
          <p:nvPr/>
        </p:nvSpPr>
        <p:spPr>
          <a:xfrm>
            <a:off x="6419088" y="1828800"/>
            <a:ext cx="45720" cy="274320"/>
          </a:xfrm>
          <a:prstGeom prst="rect">
            <a:avLst/>
          </a:prstGeom>
          <a:solidFill>
            <a:srgbClr val="5C8DFF"/>
          </a:solidFill>
          <a:ln w="12700">
            <a:solidFill>
              <a:srgbClr val="2563EB"/>
            </a:solidFill>
            <a:prstDash val="solid"/>
          </a:ln>
        </p:spPr>
        <p:txBody>
          <a:bodyPr/>
          <a:p/>
        </p:txBody>
      </p:sp>
      <p:sp>
        <p:nvSpPr>
          <p:cNvPr id="23" name="Text 21"/>
          <p:cNvSpPr/>
          <p:nvPr/>
        </p:nvSpPr>
        <p:spPr>
          <a:xfrm>
            <a:off x="6547104" y="1824228"/>
            <a:ext cx="4837176" cy="274320"/>
          </a:xfrm>
          <a:prstGeom prst="rect">
            <a:avLst/>
          </a:prstGeom>
          <a:noFill/>
        </p:spPr>
        <p:txBody>
          <a:bodyPr wrap="square" lIns="0" tIns="0" rIns="0" bIns="0" rtlCol="0" anchor="ctr">
            <a:normAutofit/>
          </a:bodyPr>
          <a:lstStyle/>
          <a:p>
            <a:pPr marL="0" indent="0">
              <a:buNone/>
            </a:pPr>
            <a:r>
              <a:rPr lang="en-US" sz="1250" b="1" dirty="0">
                <a:solidFill>
                  <a:srgbClr val="0F172A"/>
                </a:solidFill>
                <a:latin typeface="Aptos" pitchFamily="34" charset="0"/>
                <a:ea typeface="Aptos" pitchFamily="34" charset="-122"/>
                <a:cs typeface="Aptos" pitchFamily="34" charset="-120"/>
              </a:rPr>
              <a:t>Test 2 — evaluate_model.py</a:t>
            </a:r>
            <a:endParaRPr lang="en-US" sz="1250" dirty="0"/>
          </a:p>
        </p:txBody>
      </p:sp>
      <p:sp>
        <p:nvSpPr>
          <p:cNvPr id="24" name="Shape 22"/>
          <p:cNvSpPr/>
          <p:nvPr/>
        </p:nvSpPr>
        <p:spPr>
          <a:xfrm>
            <a:off x="6419088" y="2286000"/>
            <a:ext cx="1828800" cy="1298448"/>
          </a:xfrm>
          <a:prstGeom prst="roundRect">
            <a:avLst>
              <a:gd name="adj" fmla="val 5634"/>
            </a:avLst>
          </a:prstGeom>
          <a:solidFill>
            <a:srgbClr val="F1F5F9"/>
          </a:solidFill>
          <a:ln w="12700">
            <a:solidFill>
              <a:srgbClr val="E2E8F0">
                <a:alpha val="90000"/>
              </a:srgbClr>
            </a:solidFill>
            <a:prstDash val="solid"/>
          </a:ln>
        </p:spPr>
        <p:txBody>
          <a:bodyPr/>
          <a:p/>
        </p:txBody>
      </p:sp>
      <p:sp>
        <p:nvSpPr>
          <p:cNvPr id="25" name="Text 23"/>
          <p:cNvSpPr/>
          <p:nvPr/>
        </p:nvSpPr>
        <p:spPr>
          <a:xfrm>
            <a:off x="6556248" y="2432304"/>
            <a:ext cx="1554480" cy="502920"/>
          </a:xfrm>
          <a:prstGeom prst="rect">
            <a:avLst/>
          </a:prstGeom>
          <a:noFill/>
        </p:spPr>
        <p:txBody>
          <a:bodyPr wrap="square" lIns="0" tIns="0" rIns="0" bIns="0" rtlCol="0" anchor="ctr">
            <a:normAutofit/>
          </a:bodyPr>
          <a:lstStyle/>
          <a:p>
            <a:pPr marL="0" indent="0" algn="l">
              <a:buNone/>
            </a:pPr>
            <a:r>
              <a:rPr lang="en-US" sz="2600" b="1" dirty="0">
                <a:solidFill>
                  <a:srgbClr val="15803D"/>
                </a:solidFill>
                <a:latin typeface="Aptos Display" pitchFamily="34" charset="0"/>
                <a:ea typeface="Aptos Display" pitchFamily="34" charset="-122"/>
                <a:cs typeface="Aptos Display" pitchFamily="34" charset="-120"/>
              </a:rPr>
              <a:t>9,907</a:t>
            </a:r>
            <a:endParaRPr lang="en-US" sz="2600" dirty="0"/>
          </a:p>
        </p:txBody>
      </p:sp>
      <p:sp>
        <p:nvSpPr>
          <p:cNvPr id="26" name="Text 24"/>
          <p:cNvSpPr/>
          <p:nvPr/>
        </p:nvSpPr>
        <p:spPr>
          <a:xfrm>
            <a:off x="6565392" y="2980944"/>
            <a:ext cx="1536192" cy="292608"/>
          </a:xfrm>
          <a:prstGeom prst="rect">
            <a:avLst/>
          </a:prstGeom>
          <a:noFill/>
        </p:spPr>
        <p:txBody>
          <a:bodyPr wrap="square" lIns="0" tIns="0" rIns="0" bIns="0" rtlCol="0" anchor="ctr">
            <a:normAutofit/>
          </a:bodyPr>
          <a:lstStyle/>
          <a:p>
            <a:pPr marL="0" indent="0">
              <a:buNone/>
            </a:pPr>
            <a:r>
              <a:rPr lang="en-US" sz="950" dirty="0">
                <a:solidFill>
                  <a:srgbClr val="64748B"/>
                </a:solidFill>
                <a:latin typeface="Aptos" pitchFamily="34" charset="0"/>
                <a:ea typeface="Aptos" pitchFamily="34" charset="-122"/>
                <a:cs typeface="Aptos" pitchFamily="34" charset="-120"/>
              </a:rPr>
              <a:t>correct</a:t>
            </a:r>
            <a:endParaRPr lang="en-US" sz="950" dirty="0"/>
          </a:p>
        </p:txBody>
      </p:sp>
      <p:sp>
        <p:nvSpPr>
          <p:cNvPr id="27" name="Shape 25"/>
          <p:cNvSpPr/>
          <p:nvPr/>
        </p:nvSpPr>
        <p:spPr>
          <a:xfrm>
            <a:off x="8385048" y="2286000"/>
            <a:ext cx="1783080" cy="1298448"/>
          </a:xfrm>
          <a:prstGeom prst="roundRect">
            <a:avLst>
              <a:gd name="adj" fmla="val 5634"/>
            </a:avLst>
          </a:prstGeom>
          <a:solidFill>
            <a:srgbClr val="F1F5F9"/>
          </a:solidFill>
          <a:ln w="12700">
            <a:solidFill>
              <a:srgbClr val="E2E8F0">
                <a:alpha val="90000"/>
              </a:srgbClr>
            </a:solidFill>
            <a:prstDash val="solid"/>
          </a:ln>
        </p:spPr>
        <p:txBody>
          <a:bodyPr/>
          <a:p/>
        </p:txBody>
      </p:sp>
      <p:sp>
        <p:nvSpPr>
          <p:cNvPr id="28" name="Text 26"/>
          <p:cNvSpPr/>
          <p:nvPr/>
        </p:nvSpPr>
        <p:spPr>
          <a:xfrm>
            <a:off x="8522208" y="2432304"/>
            <a:ext cx="1508760" cy="502920"/>
          </a:xfrm>
          <a:prstGeom prst="rect">
            <a:avLst/>
          </a:prstGeom>
          <a:noFill/>
        </p:spPr>
        <p:txBody>
          <a:bodyPr wrap="square" lIns="0" tIns="0" rIns="0" bIns="0" rtlCol="0" anchor="ctr">
            <a:normAutofit/>
          </a:bodyPr>
          <a:lstStyle/>
          <a:p>
            <a:pPr marL="0" indent="0" algn="l">
              <a:buNone/>
            </a:pPr>
            <a:r>
              <a:rPr lang="en-US" sz="2600" b="1" dirty="0">
                <a:solidFill>
                  <a:srgbClr val="B91C1C"/>
                </a:solidFill>
                <a:latin typeface="Aptos Display" pitchFamily="34" charset="0"/>
                <a:ea typeface="Aptos Display" pitchFamily="34" charset="-122"/>
                <a:cs typeface="Aptos Display" pitchFamily="34" charset="-120"/>
              </a:rPr>
              <a:t>93</a:t>
            </a:r>
            <a:endParaRPr lang="en-US" sz="2600" dirty="0"/>
          </a:p>
        </p:txBody>
      </p:sp>
      <p:sp>
        <p:nvSpPr>
          <p:cNvPr id="29" name="Text 27"/>
          <p:cNvSpPr/>
          <p:nvPr/>
        </p:nvSpPr>
        <p:spPr>
          <a:xfrm>
            <a:off x="8531352" y="2980944"/>
            <a:ext cx="1490472" cy="292608"/>
          </a:xfrm>
          <a:prstGeom prst="rect">
            <a:avLst/>
          </a:prstGeom>
          <a:noFill/>
        </p:spPr>
        <p:txBody>
          <a:bodyPr wrap="square" lIns="0" tIns="0" rIns="0" bIns="0" rtlCol="0" anchor="ctr">
            <a:normAutofit/>
          </a:bodyPr>
          <a:lstStyle/>
          <a:p>
            <a:pPr marL="0" indent="0">
              <a:buNone/>
            </a:pPr>
            <a:r>
              <a:rPr lang="en-US" sz="950" dirty="0">
                <a:solidFill>
                  <a:srgbClr val="64748B"/>
                </a:solidFill>
                <a:latin typeface="Aptos" pitchFamily="34" charset="0"/>
                <a:ea typeface="Aptos" pitchFamily="34" charset="-122"/>
                <a:cs typeface="Aptos" pitchFamily="34" charset="-120"/>
              </a:rPr>
              <a:t>incorrect</a:t>
            </a:r>
            <a:endParaRPr lang="en-US" sz="950" dirty="0"/>
          </a:p>
        </p:txBody>
      </p:sp>
      <p:sp>
        <p:nvSpPr>
          <p:cNvPr id="30" name="Shape 28"/>
          <p:cNvSpPr/>
          <p:nvPr/>
        </p:nvSpPr>
        <p:spPr>
          <a:xfrm>
            <a:off x="10305288" y="2286000"/>
            <a:ext cx="1143000" cy="1298448"/>
          </a:xfrm>
          <a:prstGeom prst="roundRect">
            <a:avLst>
              <a:gd name="adj" fmla="val 6400"/>
            </a:avLst>
          </a:prstGeom>
          <a:solidFill>
            <a:srgbClr val="F1F5F9"/>
          </a:solidFill>
          <a:ln w="12700">
            <a:solidFill>
              <a:srgbClr val="E2E8F0">
                <a:alpha val="90000"/>
              </a:srgbClr>
            </a:solidFill>
            <a:prstDash val="solid"/>
          </a:ln>
        </p:spPr>
        <p:txBody>
          <a:bodyPr/>
          <a:p/>
        </p:txBody>
      </p:sp>
      <p:sp>
        <p:nvSpPr>
          <p:cNvPr id="31" name="Text 29"/>
          <p:cNvSpPr/>
          <p:nvPr/>
        </p:nvSpPr>
        <p:spPr>
          <a:xfrm>
            <a:off x="10442448" y="2432304"/>
            <a:ext cx="868680" cy="502920"/>
          </a:xfrm>
          <a:prstGeom prst="rect">
            <a:avLst/>
          </a:prstGeom>
          <a:noFill/>
        </p:spPr>
        <p:txBody>
          <a:bodyPr wrap="square" lIns="0" tIns="0" rIns="0" bIns="0" rtlCol="0" anchor="ctr">
            <a:normAutofit/>
          </a:bodyPr>
          <a:lstStyle/>
          <a:p>
            <a:pPr marL="0" indent="0" algn="l">
              <a:buNone/>
            </a:pPr>
            <a:r>
              <a:rPr lang="en-US" sz="2600" b="1" dirty="0">
                <a:solidFill>
                  <a:srgbClr val="0E7490"/>
                </a:solidFill>
                <a:latin typeface="Aptos Display" pitchFamily="34" charset="0"/>
                <a:ea typeface="Aptos Display" pitchFamily="34" charset="-122"/>
                <a:cs typeface="Aptos Display" pitchFamily="34" charset="-120"/>
              </a:rPr>
              <a:t>99.07%</a:t>
            </a:r>
            <a:endParaRPr lang="en-US" sz="2600" dirty="0"/>
          </a:p>
        </p:txBody>
      </p:sp>
      <p:sp>
        <p:nvSpPr>
          <p:cNvPr id="32" name="Text 30"/>
          <p:cNvSpPr/>
          <p:nvPr/>
        </p:nvSpPr>
        <p:spPr>
          <a:xfrm>
            <a:off x="10451592" y="2980944"/>
            <a:ext cx="850392" cy="292608"/>
          </a:xfrm>
          <a:prstGeom prst="rect">
            <a:avLst/>
          </a:prstGeom>
          <a:noFill/>
        </p:spPr>
        <p:txBody>
          <a:bodyPr wrap="square" lIns="0" tIns="0" rIns="0" bIns="0" rtlCol="0" anchor="ctr">
            <a:normAutofit/>
          </a:bodyPr>
          <a:lstStyle/>
          <a:p>
            <a:pPr marL="0" indent="0">
              <a:buNone/>
            </a:pPr>
            <a:r>
              <a:rPr lang="en-US" sz="950" dirty="0">
                <a:solidFill>
                  <a:srgbClr val="64748B"/>
                </a:solidFill>
                <a:latin typeface="Aptos" pitchFamily="34" charset="0"/>
                <a:ea typeface="Aptos" pitchFamily="34" charset="-122"/>
                <a:cs typeface="Aptos" pitchFamily="34" charset="-120"/>
              </a:rPr>
              <a:t>accuracy</a:t>
            </a:r>
            <a:endParaRPr lang="en-US" sz="950" dirty="0"/>
          </a:p>
        </p:txBody>
      </p:sp>
      <p:sp>
        <p:nvSpPr>
          <p:cNvPr id="33" name="Shape 31"/>
          <p:cNvSpPr/>
          <p:nvPr/>
        </p:nvSpPr>
        <p:spPr>
          <a:xfrm>
            <a:off x="6419088" y="3904488"/>
            <a:ext cx="1874520" cy="292608"/>
          </a:xfrm>
          <a:prstGeom prst="roundRect">
            <a:avLst>
              <a:gd name="adj" fmla="val 25000"/>
            </a:avLst>
          </a:prstGeom>
          <a:solidFill>
            <a:srgbClr val="5C8DFF">
              <a:alpha val="14000"/>
            </a:srgbClr>
          </a:solidFill>
          <a:ln w="12700">
            <a:solidFill>
              <a:srgbClr val="2563EB">
                <a:alpha val="0"/>
              </a:srgbClr>
            </a:solidFill>
            <a:prstDash val="solid"/>
          </a:ln>
        </p:spPr>
        <p:txBody>
          <a:bodyPr/>
          <a:p/>
        </p:txBody>
      </p:sp>
      <p:sp>
        <p:nvSpPr>
          <p:cNvPr id="34" name="Text 32"/>
          <p:cNvSpPr/>
          <p:nvPr/>
        </p:nvSpPr>
        <p:spPr>
          <a:xfrm>
            <a:off x="6492240" y="3954780"/>
            <a:ext cx="1728216" cy="146304"/>
          </a:xfrm>
          <a:prstGeom prst="rect">
            <a:avLst/>
          </a:prstGeom>
          <a:noFill/>
        </p:spPr>
        <p:txBody>
          <a:bodyPr wrap="square" lIns="0" tIns="0" rIns="0" bIns="0" rtlCol="0" anchor="ctr">
            <a:normAutofit/>
          </a:bodyPr>
          <a:lstStyle/>
          <a:p>
            <a:pPr marL="0" indent="0" algn="ctr">
              <a:buNone/>
            </a:pPr>
            <a:r>
              <a:rPr lang="en-US" sz="850" b="1" dirty="0">
                <a:solidFill>
                  <a:srgbClr val="2563EB"/>
                </a:solidFill>
                <a:latin typeface="Aptos" pitchFamily="34" charset="0"/>
                <a:ea typeface="Aptos" pitchFamily="34" charset="-122"/>
                <a:cs typeface="Aptos" pitchFamily="34" charset="-120"/>
              </a:rPr>
              <a:t>10,000 TEST IMAGES</a:t>
            </a:r>
            <a:endParaRPr lang="en-US" sz="850" dirty="0"/>
          </a:p>
        </p:txBody>
      </p:sp>
      <p:sp>
        <p:nvSpPr>
          <p:cNvPr id="35" name="Shape 33"/>
          <p:cNvSpPr/>
          <p:nvPr/>
        </p:nvSpPr>
        <p:spPr>
          <a:xfrm>
            <a:off x="6419088" y="4626864"/>
            <a:ext cx="68580" cy="68580"/>
          </a:xfrm>
          <a:prstGeom prst="ellipse">
            <a:avLst/>
          </a:prstGeom>
          <a:solidFill>
            <a:srgbClr val="56E0FF"/>
          </a:solidFill>
          <a:ln w="12700">
            <a:solidFill>
              <a:srgbClr val="0E7490"/>
            </a:solidFill>
            <a:prstDash val="solid"/>
          </a:ln>
        </p:spPr>
        <p:txBody>
          <a:bodyPr/>
          <a:p/>
        </p:txBody>
      </p:sp>
      <p:sp>
        <p:nvSpPr>
          <p:cNvPr id="36" name="Text 34"/>
          <p:cNvSpPr/>
          <p:nvPr/>
        </p:nvSpPr>
        <p:spPr>
          <a:xfrm>
            <a:off x="6565392" y="4526280"/>
            <a:ext cx="4471416" cy="384048"/>
          </a:xfrm>
          <a:prstGeom prst="rect">
            <a:avLst/>
          </a:prstGeom>
          <a:noFill/>
        </p:spPr>
        <p:txBody>
          <a:bodyPr wrap="square" lIns="0" tIns="0" rIns="0" bIns="0" rtlCol="0" anchor="ctr">
            <a:normAutofit/>
          </a:bodyPr>
          <a:lstStyle/>
          <a:p>
            <a:pPr marL="0" indent="0">
              <a:buNone/>
            </a:pPr>
            <a:r>
              <a:rPr lang="en-US" sz="1070" dirty="0">
                <a:solidFill>
                  <a:srgbClr val="334155"/>
                </a:solidFill>
                <a:latin typeface="Aptos" pitchFamily="34" charset="0"/>
                <a:ea typeface="Aptos" pitchFamily="34" charset="-122"/>
                <a:cs typeface="Aptos" pitchFamily="34" charset="-120"/>
              </a:rPr>
              <a:t>This is the normal-performance baseline.</a:t>
            </a:r>
            <a:endParaRPr lang="en-US" sz="1070" dirty="0"/>
          </a:p>
        </p:txBody>
      </p:sp>
      <p:sp>
        <p:nvSpPr>
          <p:cNvPr id="37" name="Shape 35"/>
          <p:cNvSpPr/>
          <p:nvPr/>
        </p:nvSpPr>
        <p:spPr>
          <a:xfrm>
            <a:off x="6419088" y="5202936"/>
            <a:ext cx="68580" cy="68580"/>
          </a:xfrm>
          <a:prstGeom prst="ellipse">
            <a:avLst/>
          </a:prstGeom>
          <a:solidFill>
            <a:srgbClr val="FFC857"/>
          </a:solidFill>
          <a:ln w="12700">
            <a:solidFill>
              <a:srgbClr val="A16207"/>
            </a:solidFill>
            <a:prstDash val="solid"/>
          </a:ln>
        </p:spPr>
        <p:txBody>
          <a:bodyPr/>
          <a:p/>
        </p:txBody>
      </p:sp>
      <p:sp>
        <p:nvSpPr>
          <p:cNvPr id="38" name="Text 36"/>
          <p:cNvSpPr/>
          <p:nvPr/>
        </p:nvSpPr>
        <p:spPr>
          <a:xfrm>
            <a:off x="6565392" y="5102352"/>
            <a:ext cx="4471416" cy="384048"/>
          </a:xfrm>
          <a:prstGeom prst="rect">
            <a:avLst/>
          </a:prstGeom>
          <a:noFill/>
        </p:spPr>
        <p:txBody>
          <a:bodyPr wrap="square" lIns="0" tIns="0" rIns="0" bIns="0" rtlCol="0" anchor="ctr">
            <a:normAutofit/>
          </a:bodyPr>
          <a:lstStyle/>
          <a:p>
            <a:pPr marL="0" indent="0">
              <a:buNone/>
            </a:pPr>
            <a:r>
              <a:rPr lang="en-US" sz="1070" dirty="0">
                <a:solidFill>
                  <a:srgbClr val="334155"/>
                </a:solidFill>
                <a:latin typeface="Aptos" pitchFamily="34" charset="0"/>
                <a:ea typeface="Aptos" pitchFamily="34" charset="-122"/>
                <a:cs typeface="Aptos" pitchFamily="34" charset="-120"/>
              </a:rPr>
              <a:t>High accuracy does not prove adversarial robustness.</a:t>
            </a:r>
            <a:endParaRPr lang="en-US" sz="1070" dirty="0"/>
          </a:p>
        </p:txBody>
      </p:sp>
      <p:sp>
        <p:nvSpPr>
          <p:cNvPr id="39" name="Text 37"/>
          <p:cNvSpPr/>
          <p:nvPr/>
        </p:nvSpPr>
        <p:spPr>
          <a:xfrm>
            <a:off x="11109960" y="6556248"/>
            <a:ext cx="457200" cy="164592"/>
          </a:xfrm>
          <a:prstGeom prst="rect">
            <a:avLst/>
          </a:prstGeom>
          <a:noFill/>
        </p:spPr>
        <p:txBody>
          <a:bodyPr wrap="square" lIns="0" tIns="0" rIns="0" bIns="0" rtlCol="0" anchor="ctr"/>
          <a:lstStyle/>
          <a:p>
            <a:pPr marL="0" indent="0" algn="r">
              <a:buNone/>
            </a:pPr>
            <a:r>
              <a:rPr lang="en-US" sz="800" dirty="0">
                <a:solidFill>
                  <a:srgbClr val="64748B"/>
                </a:solidFill>
                <a:latin typeface="Aptos" pitchFamily="34" charset="0"/>
                <a:ea typeface="Aptos" pitchFamily="34" charset="-122"/>
                <a:cs typeface="Aptos" pitchFamily="34" charset="-120"/>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320040"/>
            <a:ext cx="11365992" cy="0"/>
          </a:xfrm>
          <a:prstGeom prst="line">
            <a:avLst/>
          </a:prstGeom>
          <a:noFill/>
          <a:ln w="12700">
            <a:solidFill>
              <a:srgbClr val="E2E8F0"/>
            </a:solidFill>
            <a:prstDash val="solid"/>
          </a:ln>
        </p:spPr>
        <p:txBody>
          <a:bodyPr/>
          <a:p/>
        </p:txBody>
      </p:sp>
      <p:sp>
        <p:nvSpPr>
          <p:cNvPr id="3" name="Shape 1"/>
          <p:cNvSpPr/>
          <p:nvPr/>
        </p:nvSpPr>
        <p:spPr>
          <a:xfrm>
            <a:off x="411480" y="6492240"/>
            <a:ext cx="11365992" cy="0"/>
          </a:xfrm>
          <a:prstGeom prst="line">
            <a:avLst/>
          </a:prstGeom>
          <a:noFill/>
          <a:ln w="12700">
            <a:solidFill>
              <a:srgbClr val="E2E8F0"/>
            </a:solidFill>
            <a:prstDash val="solid"/>
          </a:ln>
        </p:spPr>
        <p:txBody>
          <a:bodyPr/>
          <a:p/>
        </p:txBody>
      </p:sp>
      <p:sp>
        <p:nvSpPr>
          <p:cNvPr id="4" name="Shape 2"/>
          <p:cNvSpPr/>
          <p:nvPr/>
        </p:nvSpPr>
        <p:spPr>
          <a:xfrm rot="1080000">
            <a:off x="10744200" y="-640080"/>
            <a:ext cx="1920240" cy="1920240"/>
          </a:xfrm>
          <a:prstGeom prst="arc">
            <a:avLst/>
          </a:prstGeom>
          <a:solidFill>
            <a:srgbClr val="FFFFFF">
              <a:alpha val="0"/>
            </a:srgbClr>
          </a:solidFill>
          <a:ln w="12700">
            <a:solidFill>
              <a:srgbClr val="E2E8F0">
                <a:alpha val="55000"/>
              </a:srgbClr>
            </a:solidFill>
            <a:prstDash val="solid"/>
          </a:ln>
        </p:spPr>
        <p:txBody>
          <a:bodyPr/>
          <a:p/>
        </p:txBody>
      </p:sp>
      <p:sp>
        <p:nvSpPr>
          <p:cNvPr id="5" name="Text 3"/>
          <p:cNvSpPr/>
          <p:nvPr/>
        </p:nvSpPr>
        <p:spPr>
          <a:xfrm>
            <a:off x="502920" y="73152"/>
            <a:ext cx="3840480" cy="182880"/>
          </a:xfrm>
          <a:prstGeom prst="rect">
            <a:avLst/>
          </a:prstGeom>
          <a:noFill/>
        </p:spPr>
        <p:txBody>
          <a:bodyPr wrap="square" lIns="0" tIns="0" rIns="0" bIns="0" rtlCol="0" anchor="ctr"/>
          <a:lstStyle/>
          <a:p>
            <a:pPr marL="0" indent="0">
              <a:buNone/>
            </a:pPr>
            <a:r>
              <a:rPr lang="en-US" sz="900" b="1" kern="0" spc="140" dirty="0">
                <a:solidFill>
                  <a:srgbClr val="0E7490"/>
                </a:solidFill>
                <a:latin typeface="Aptos" pitchFamily="34" charset="0"/>
                <a:ea typeface="Aptos" pitchFamily="34" charset="-122"/>
                <a:cs typeface="Aptos" pitchFamily="34" charset="-120"/>
              </a:rPr>
              <a:t>ATTACKS</a:t>
            </a:r>
            <a:endParaRPr lang="en-US" sz="900" dirty="0"/>
          </a:p>
        </p:txBody>
      </p:sp>
      <p:sp>
        <p:nvSpPr>
          <p:cNvPr id="6" name="Text 4"/>
          <p:cNvSpPr/>
          <p:nvPr/>
        </p:nvSpPr>
        <p:spPr>
          <a:xfrm>
            <a:off x="502920" y="530352"/>
            <a:ext cx="10561320" cy="502920"/>
          </a:xfrm>
          <a:prstGeom prst="rect">
            <a:avLst/>
          </a:prstGeom>
          <a:noFill/>
        </p:spPr>
        <p:txBody>
          <a:bodyPr wrap="square" lIns="0" tIns="0" rIns="0" bIns="0" rtlCol="0" anchor="ctr">
            <a:normAutofit/>
          </a:bodyP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06 • Step 2 — Adversarial Testing</a:t>
            </a:r>
            <a:endParaRPr lang="en-US" sz="2500" dirty="0"/>
          </a:p>
        </p:txBody>
      </p:sp>
      <p:sp>
        <p:nvSpPr>
          <p:cNvPr id="7" name="Text 5"/>
          <p:cNvSpPr/>
          <p:nvPr/>
        </p:nvSpPr>
        <p:spPr>
          <a:xfrm>
            <a:off x="530352" y="1060704"/>
            <a:ext cx="10332720" cy="347472"/>
          </a:xfrm>
          <a:prstGeom prst="rect">
            <a:avLst/>
          </a:prstGeom>
          <a:noFill/>
        </p:spPr>
        <p:txBody>
          <a:bodyPr wrap="square" lIns="0" tIns="0" rIns="0" bIns="0" rtlCol="0" anchor="ctr">
            <a:normAutofit/>
          </a:bodyPr>
          <a:lstStyle/>
          <a:p>
            <a:pPr marL="0" indent="0">
              <a:buNone/>
            </a:pPr>
            <a:r>
              <a:rPr lang="en-US" sz="1150" dirty="0">
                <a:solidFill>
                  <a:srgbClr val="64748B"/>
                </a:solidFill>
                <a:latin typeface="Aptos" pitchFamily="34" charset="0"/>
                <a:ea typeface="Aptos" pitchFamily="34" charset="-122"/>
                <a:cs typeface="Aptos" pitchFamily="34" charset="-120"/>
              </a:rPr>
              <a:t>Next, I tested whether a correctly classified image could be pushed into a wrong class.</a:t>
            </a:r>
            <a:endParaRPr lang="en-US" sz="1150" dirty="0"/>
          </a:p>
        </p:txBody>
      </p:sp>
      <p:sp>
        <p:nvSpPr>
          <p:cNvPr id="8" name="Shape 6"/>
          <p:cNvSpPr/>
          <p:nvPr/>
        </p:nvSpPr>
        <p:spPr>
          <a:xfrm>
            <a:off x="530352" y="1645920"/>
            <a:ext cx="11128248" cy="1115568"/>
          </a:xfrm>
          <a:prstGeom prst="roundRect">
            <a:avLst>
              <a:gd name="adj" fmla="val 6557"/>
            </a:avLst>
          </a:prstGeom>
          <a:solidFill>
            <a:srgbClr val="F8FAFC"/>
          </a:solidFill>
          <a:ln w="12700">
            <a:solidFill>
              <a:srgbClr val="E2E8F0">
                <a:alpha val="90000"/>
              </a:srgbClr>
            </a:solidFill>
            <a:prstDash val="solid"/>
          </a:ln>
        </p:spPr>
        <p:txBody>
          <a:bodyPr/>
          <a:p/>
        </p:txBody>
      </p:sp>
      <p:sp>
        <p:nvSpPr>
          <p:cNvPr id="9" name="Text 7"/>
          <p:cNvSpPr/>
          <p:nvPr/>
        </p:nvSpPr>
        <p:spPr>
          <a:xfrm>
            <a:off x="804672" y="1892808"/>
            <a:ext cx="1143000" cy="182880"/>
          </a:xfrm>
          <a:prstGeom prst="rect">
            <a:avLst/>
          </a:prstGeom>
          <a:noFill/>
        </p:spPr>
        <p:txBody>
          <a:bodyPr wrap="square" lIns="0" tIns="0" rIns="0" bIns="0" rtlCol="0" anchor="ctr"/>
          <a:lstStyle/>
          <a:p>
            <a:pPr marL="0" indent="0" algn="ctr">
              <a:buNone/>
            </a:pPr>
            <a:r>
              <a:rPr lang="en-US" sz="900" b="1" dirty="0">
                <a:solidFill>
                  <a:srgbClr val="64748B"/>
                </a:solidFill>
                <a:latin typeface="Aptos" pitchFamily="34" charset="0"/>
                <a:ea typeface="Aptos" pitchFamily="34" charset="-122"/>
                <a:cs typeface="Aptos" pitchFamily="34" charset="-120"/>
              </a:rPr>
              <a:t>CLEAN INPUT</a:t>
            </a:r>
            <a:endParaRPr lang="en-US" sz="900" dirty="0"/>
          </a:p>
        </p:txBody>
      </p:sp>
      <p:sp>
        <p:nvSpPr>
          <p:cNvPr id="10" name="Text 8"/>
          <p:cNvSpPr/>
          <p:nvPr/>
        </p:nvSpPr>
        <p:spPr>
          <a:xfrm>
            <a:off x="1874520" y="1764792"/>
            <a:ext cx="594360" cy="502920"/>
          </a:xfrm>
          <a:prstGeom prst="rect">
            <a:avLst/>
          </a:prstGeom>
          <a:noFill/>
        </p:spPr>
        <p:txBody>
          <a:bodyPr wrap="square" lIns="0" tIns="0" rIns="0" bIns="0" rtlCol="0" anchor="ctr"/>
          <a:lstStyle/>
          <a:p>
            <a:pPr marL="0" indent="0" algn="ctr">
              <a:buNone/>
            </a:pPr>
            <a:r>
              <a:rPr lang="en-US" sz="2900" b="1" dirty="0">
                <a:solidFill>
                  <a:srgbClr val="0E7490"/>
                </a:solidFill>
                <a:latin typeface="Aptos Display" pitchFamily="34" charset="0"/>
                <a:ea typeface="Aptos Display" pitchFamily="34" charset="-122"/>
                <a:cs typeface="Aptos Display" pitchFamily="34" charset="-120"/>
              </a:rPr>
              <a:t>7</a:t>
            </a:r>
            <a:endParaRPr lang="en-US" sz="2900" dirty="0"/>
          </a:p>
        </p:txBody>
      </p:sp>
      <p:sp>
        <p:nvSpPr>
          <p:cNvPr id="11" name="Shape 9"/>
          <p:cNvSpPr/>
          <p:nvPr/>
        </p:nvSpPr>
        <p:spPr>
          <a:xfrm>
            <a:off x="2542032" y="1993392"/>
            <a:ext cx="1097280" cy="0"/>
          </a:xfrm>
          <a:prstGeom prst="line">
            <a:avLst/>
          </a:prstGeom>
          <a:noFill/>
          <a:ln w="25400">
            <a:solidFill>
              <a:srgbClr val="0E7490"/>
            </a:solidFill>
            <a:prstDash val="solid"/>
            <a:headEnd type="none"/>
            <a:tailEnd type="triangle"/>
          </a:ln>
        </p:spPr>
        <p:txBody>
          <a:bodyPr/>
          <a:p/>
        </p:txBody>
      </p:sp>
      <p:sp>
        <p:nvSpPr>
          <p:cNvPr id="12" name="Text 10"/>
          <p:cNvSpPr/>
          <p:nvPr/>
        </p:nvSpPr>
        <p:spPr>
          <a:xfrm>
            <a:off x="3822192" y="1892808"/>
            <a:ext cx="1005840" cy="182880"/>
          </a:xfrm>
          <a:prstGeom prst="rect">
            <a:avLst/>
          </a:prstGeom>
          <a:noFill/>
        </p:spPr>
        <p:txBody>
          <a:bodyPr wrap="square" lIns="0" tIns="0" rIns="0" bIns="0" rtlCol="0" anchor="ctr"/>
          <a:lstStyle/>
          <a:p>
            <a:pPr marL="0" indent="0" algn="ctr">
              <a:buNone/>
            </a:pPr>
            <a:r>
              <a:rPr lang="en-US" sz="900" b="1" dirty="0">
                <a:solidFill>
                  <a:srgbClr val="64748B"/>
                </a:solidFill>
                <a:latin typeface="Aptos" pitchFamily="34" charset="0"/>
                <a:ea typeface="Aptos" pitchFamily="34" charset="-122"/>
                <a:cs typeface="Aptos" pitchFamily="34" charset="-120"/>
              </a:rPr>
              <a:t>GRADIENT</a:t>
            </a:r>
            <a:endParaRPr lang="en-US" sz="900" dirty="0"/>
          </a:p>
        </p:txBody>
      </p:sp>
      <p:sp>
        <p:nvSpPr>
          <p:cNvPr id="13" name="Shape 11"/>
          <p:cNvSpPr/>
          <p:nvPr/>
        </p:nvSpPr>
        <p:spPr>
          <a:xfrm>
            <a:off x="4983480" y="1993392"/>
            <a:ext cx="1097280" cy="0"/>
          </a:xfrm>
          <a:prstGeom prst="line">
            <a:avLst/>
          </a:prstGeom>
          <a:noFill/>
          <a:ln w="25400">
            <a:solidFill>
              <a:srgbClr val="6D28D9"/>
            </a:solidFill>
            <a:prstDash val="solid"/>
            <a:headEnd type="none"/>
            <a:tailEnd type="triangle"/>
          </a:ln>
        </p:spPr>
        <p:txBody>
          <a:bodyPr/>
          <a:p/>
        </p:txBody>
      </p:sp>
      <p:sp>
        <p:nvSpPr>
          <p:cNvPr id="14" name="Text 12"/>
          <p:cNvSpPr/>
          <p:nvPr/>
        </p:nvSpPr>
        <p:spPr>
          <a:xfrm>
            <a:off x="6217920" y="1892808"/>
            <a:ext cx="1005840" cy="182880"/>
          </a:xfrm>
          <a:prstGeom prst="rect">
            <a:avLst/>
          </a:prstGeom>
          <a:noFill/>
        </p:spPr>
        <p:txBody>
          <a:bodyPr wrap="square" lIns="0" tIns="0" rIns="0" bIns="0" rtlCol="0" anchor="ctr"/>
          <a:lstStyle/>
          <a:p>
            <a:pPr marL="0" indent="0" algn="ctr">
              <a:buNone/>
            </a:pPr>
            <a:r>
              <a:rPr lang="en-US" sz="900" b="1" dirty="0">
                <a:solidFill>
                  <a:srgbClr val="64748B"/>
                </a:solidFill>
                <a:latin typeface="Aptos" pitchFamily="34" charset="0"/>
                <a:ea typeface="Aptos" pitchFamily="34" charset="-122"/>
                <a:cs typeface="Aptos" pitchFamily="34" charset="-120"/>
              </a:rPr>
              <a:t>PERTURB</a:t>
            </a:r>
            <a:endParaRPr lang="en-US" sz="900" dirty="0"/>
          </a:p>
        </p:txBody>
      </p:sp>
      <p:sp>
        <p:nvSpPr>
          <p:cNvPr id="15" name="Shape 13"/>
          <p:cNvSpPr/>
          <p:nvPr/>
        </p:nvSpPr>
        <p:spPr>
          <a:xfrm>
            <a:off x="7379208" y="1993392"/>
            <a:ext cx="1097280" cy="0"/>
          </a:xfrm>
          <a:prstGeom prst="line">
            <a:avLst/>
          </a:prstGeom>
          <a:noFill/>
          <a:ln w="25400">
            <a:solidFill>
              <a:srgbClr val="A16207"/>
            </a:solidFill>
            <a:prstDash val="solid"/>
            <a:headEnd type="none"/>
            <a:tailEnd type="triangle"/>
          </a:ln>
        </p:spPr>
        <p:txBody>
          <a:bodyPr/>
          <a:p/>
        </p:txBody>
      </p:sp>
      <p:sp>
        <p:nvSpPr>
          <p:cNvPr id="16" name="Text 14"/>
          <p:cNvSpPr/>
          <p:nvPr/>
        </p:nvSpPr>
        <p:spPr>
          <a:xfrm>
            <a:off x="8641080" y="1892808"/>
            <a:ext cx="1143000" cy="182880"/>
          </a:xfrm>
          <a:prstGeom prst="rect">
            <a:avLst/>
          </a:prstGeom>
          <a:noFill/>
        </p:spPr>
        <p:txBody>
          <a:bodyPr wrap="square" lIns="0" tIns="0" rIns="0" bIns="0" rtlCol="0" anchor="ctr"/>
          <a:lstStyle/>
          <a:p>
            <a:pPr marL="0" indent="0" algn="ctr">
              <a:buNone/>
            </a:pPr>
            <a:r>
              <a:rPr lang="en-US" sz="900" b="1" dirty="0">
                <a:solidFill>
                  <a:srgbClr val="64748B"/>
                </a:solidFill>
                <a:latin typeface="Aptos" pitchFamily="34" charset="0"/>
                <a:ea typeface="Aptos" pitchFamily="34" charset="-122"/>
                <a:cs typeface="Aptos" pitchFamily="34" charset="-120"/>
              </a:rPr>
              <a:t>WRONG CLASS</a:t>
            </a:r>
            <a:endParaRPr lang="en-US" sz="900" dirty="0"/>
          </a:p>
        </p:txBody>
      </p:sp>
      <p:sp>
        <p:nvSpPr>
          <p:cNvPr id="17" name="Text 15"/>
          <p:cNvSpPr/>
          <p:nvPr/>
        </p:nvSpPr>
        <p:spPr>
          <a:xfrm>
            <a:off x="9829800" y="1764792"/>
            <a:ext cx="914400" cy="502920"/>
          </a:xfrm>
          <a:prstGeom prst="rect">
            <a:avLst/>
          </a:prstGeom>
          <a:noFill/>
        </p:spPr>
        <p:txBody>
          <a:bodyPr wrap="square" lIns="0" tIns="0" rIns="0" bIns="0" rtlCol="0" anchor="ctr"/>
          <a:lstStyle/>
          <a:p>
            <a:pPr marL="0" indent="0" algn="ctr">
              <a:buNone/>
            </a:pPr>
            <a:r>
              <a:rPr lang="en-US" sz="2800" b="1" dirty="0">
                <a:solidFill>
                  <a:srgbClr val="B91C1C"/>
                </a:solidFill>
                <a:latin typeface="Aptos Display" pitchFamily="34" charset="0"/>
                <a:ea typeface="Aptos Display" pitchFamily="34" charset="-122"/>
                <a:cs typeface="Aptos Display" pitchFamily="34" charset="-120"/>
              </a:rPr>
              <a:t>2 / 3</a:t>
            </a:r>
            <a:endParaRPr lang="en-US" sz="2800" dirty="0"/>
          </a:p>
        </p:txBody>
      </p:sp>
      <p:sp>
        <p:nvSpPr>
          <p:cNvPr id="18" name="Shape 16"/>
          <p:cNvSpPr/>
          <p:nvPr/>
        </p:nvSpPr>
        <p:spPr>
          <a:xfrm>
            <a:off x="530352" y="3090672"/>
            <a:ext cx="5394960" cy="2560320"/>
          </a:xfrm>
          <a:prstGeom prst="roundRect">
            <a:avLst>
              <a:gd name="adj" fmla="val 2857"/>
            </a:avLst>
          </a:prstGeom>
          <a:solidFill>
            <a:srgbClr val="F8FAFC"/>
          </a:solidFill>
          <a:ln w="12700">
            <a:solidFill>
              <a:srgbClr val="E2E8F0">
                <a:alpha val="90000"/>
              </a:srgbClr>
            </a:solidFill>
            <a:prstDash val="solid"/>
          </a:ln>
        </p:spPr>
        <p:txBody>
          <a:bodyPr/>
          <a:p/>
        </p:txBody>
      </p:sp>
      <p:sp>
        <p:nvSpPr>
          <p:cNvPr id="19" name="Shape 17"/>
          <p:cNvSpPr/>
          <p:nvPr/>
        </p:nvSpPr>
        <p:spPr>
          <a:xfrm>
            <a:off x="749808" y="3346704"/>
            <a:ext cx="45720" cy="274320"/>
          </a:xfrm>
          <a:prstGeom prst="rect">
            <a:avLst/>
          </a:prstGeom>
          <a:solidFill>
            <a:srgbClr val="FF6B6B"/>
          </a:solidFill>
          <a:ln w="12700">
            <a:solidFill>
              <a:srgbClr val="B91C1C"/>
            </a:solidFill>
            <a:prstDash val="solid"/>
          </a:ln>
        </p:spPr>
        <p:txBody>
          <a:bodyPr/>
          <a:p/>
        </p:txBody>
      </p:sp>
      <p:sp>
        <p:nvSpPr>
          <p:cNvPr id="20" name="Text 18"/>
          <p:cNvSpPr/>
          <p:nvPr/>
        </p:nvSpPr>
        <p:spPr>
          <a:xfrm>
            <a:off x="877824" y="3342132"/>
            <a:ext cx="4809744" cy="274320"/>
          </a:xfrm>
          <a:prstGeom prst="rect">
            <a:avLst/>
          </a:prstGeom>
          <a:noFill/>
        </p:spPr>
        <p:txBody>
          <a:bodyPr wrap="square" lIns="0" tIns="0" rIns="0" bIns="0" rtlCol="0" anchor="ctr">
            <a:normAutofit/>
          </a:bodyPr>
          <a:lstStyle/>
          <a:p>
            <a:pPr marL="0" indent="0">
              <a:buNone/>
            </a:pPr>
            <a:r>
              <a:rPr lang="en-US" sz="1250" b="1" dirty="0">
                <a:solidFill>
                  <a:srgbClr val="0F172A"/>
                </a:solidFill>
                <a:latin typeface="Aptos" pitchFamily="34" charset="0"/>
                <a:ea typeface="Aptos" pitchFamily="34" charset="-122"/>
                <a:cs typeface="Aptos" pitchFamily="34" charset="-120"/>
              </a:rPr>
              <a:t>FGSM — one gradient step</a:t>
            </a:r>
            <a:endParaRPr lang="en-US" sz="1250" dirty="0"/>
          </a:p>
        </p:txBody>
      </p:sp>
      <p:sp>
        <p:nvSpPr>
          <p:cNvPr id="21" name="Shape 19"/>
          <p:cNvSpPr/>
          <p:nvPr/>
        </p:nvSpPr>
        <p:spPr>
          <a:xfrm>
            <a:off x="749808" y="3895344"/>
            <a:ext cx="68580" cy="68580"/>
          </a:xfrm>
          <a:prstGeom prst="ellipse">
            <a:avLst/>
          </a:prstGeom>
          <a:solidFill>
            <a:srgbClr val="56E0FF"/>
          </a:solidFill>
          <a:ln w="12700">
            <a:solidFill>
              <a:srgbClr val="0E7490"/>
            </a:solidFill>
            <a:prstDash val="solid"/>
          </a:ln>
        </p:spPr>
        <p:txBody>
          <a:bodyPr/>
          <a:p/>
        </p:txBody>
      </p:sp>
      <p:sp>
        <p:nvSpPr>
          <p:cNvPr id="22" name="Text 20"/>
          <p:cNvSpPr/>
          <p:nvPr/>
        </p:nvSpPr>
        <p:spPr>
          <a:xfrm>
            <a:off x="896112" y="3794760"/>
            <a:ext cx="4425696" cy="384048"/>
          </a:xfrm>
          <a:prstGeom prst="rect">
            <a:avLst/>
          </a:prstGeom>
          <a:noFill/>
        </p:spPr>
        <p:txBody>
          <a:bodyPr wrap="square" lIns="0" tIns="0" rIns="0" bIns="0" rtlCol="0" anchor="ctr">
            <a:normAutofit/>
          </a:bodyPr>
          <a:lstStyle/>
          <a:p>
            <a:pPr marL="0" indent="0">
              <a:buNone/>
            </a:pPr>
            <a:r>
              <a:rPr lang="en-US" sz="1090" dirty="0">
                <a:solidFill>
                  <a:srgbClr val="334155"/>
                </a:solidFill>
                <a:latin typeface="Aptos" pitchFamily="34" charset="0"/>
                <a:ea typeface="Aptos" pitchFamily="34" charset="-122"/>
                <a:cs typeface="Aptos" pitchFamily="34" charset="-120"/>
              </a:rPr>
              <a:t>Fast Gradient Sign Method.</a:t>
            </a:r>
            <a:endParaRPr lang="en-US" sz="1090" dirty="0"/>
          </a:p>
        </p:txBody>
      </p:sp>
      <p:sp>
        <p:nvSpPr>
          <p:cNvPr id="23" name="Shape 21"/>
          <p:cNvSpPr/>
          <p:nvPr/>
        </p:nvSpPr>
        <p:spPr>
          <a:xfrm>
            <a:off x="749808" y="4434840"/>
            <a:ext cx="68580" cy="68580"/>
          </a:xfrm>
          <a:prstGeom prst="ellipse">
            <a:avLst/>
          </a:prstGeom>
          <a:solidFill>
            <a:srgbClr val="56E0FF"/>
          </a:solidFill>
          <a:ln w="12700">
            <a:solidFill>
              <a:srgbClr val="0E7490"/>
            </a:solidFill>
            <a:prstDash val="solid"/>
          </a:ln>
        </p:spPr>
        <p:txBody>
          <a:bodyPr/>
          <a:p/>
        </p:txBody>
      </p:sp>
      <p:sp>
        <p:nvSpPr>
          <p:cNvPr id="24" name="Text 22"/>
          <p:cNvSpPr/>
          <p:nvPr/>
        </p:nvSpPr>
        <p:spPr>
          <a:xfrm>
            <a:off x="896112" y="4334256"/>
            <a:ext cx="4425696" cy="384048"/>
          </a:xfrm>
          <a:prstGeom prst="rect">
            <a:avLst/>
          </a:prstGeom>
          <a:noFill/>
        </p:spPr>
        <p:txBody>
          <a:bodyPr wrap="square" lIns="0" tIns="0" rIns="0" bIns="0" rtlCol="0" anchor="ctr">
            <a:normAutofit/>
          </a:bodyPr>
          <a:lstStyle/>
          <a:p>
            <a:pPr marL="0" indent="0">
              <a:buNone/>
            </a:pPr>
            <a:r>
              <a:rPr lang="en-US" sz="1090" dirty="0">
                <a:solidFill>
                  <a:srgbClr val="334155"/>
                </a:solidFill>
                <a:latin typeface="Aptos" pitchFamily="34" charset="0"/>
                <a:ea typeface="Aptos" pitchFamily="34" charset="-122"/>
                <a:cs typeface="Aptos" pitchFamily="34" charset="-120"/>
              </a:rPr>
              <a:t>Budget: epsilon = 0.5.</a:t>
            </a:r>
            <a:endParaRPr lang="en-US" sz="1090" dirty="0"/>
          </a:p>
        </p:txBody>
      </p:sp>
      <p:sp>
        <p:nvSpPr>
          <p:cNvPr id="25" name="Shape 23"/>
          <p:cNvSpPr/>
          <p:nvPr/>
        </p:nvSpPr>
        <p:spPr>
          <a:xfrm>
            <a:off x="749808" y="4974336"/>
            <a:ext cx="68580" cy="68580"/>
          </a:xfrm>
          <a:prstGeom prst="ellipse">
            <a:avLst/>
          </a:prstGeom>
          <a:solidFill>
            <a:srgbClr val="FF6B6B"/>
          </a:solidFill>
          <a:ln w="12700">
            <a:solidFill>
              <a:srgbClr val="B91C1C"/>
            </a:solidFill>
            <a:prstDash val="solid"/>
          </a:ln>
        </p:spPr>
        <p:txBody>
          <a:bodyPr/>
          <a:p/>
        </p:txBody>
      </p:sp>
      <p:sp>
        <p:nvSpPr>
          <p:cNvPr id="26" name="Text 24"/>
          <p:cNvSpPr/>
          <p:nvPr/>
        </p:nvSpPr>
        <p:spPr>
          <a:xfrm>
            <a:off x="896112" y="4873752"/>
            <a:ext cx="4425696" cy="384048"/>
          </a:xfrm>
          <a:prstGeom prst="rect">
            <a:avLst/>
          </a:prstGeom>
          <a:noFill/>
        </p:spPr>
        <p:txBody>
          <a:bodyPr wrap="square" lIns="0" tIns="0" rIns="0" bIns="0" rtlCol="0" anchor="ctr">
            <a:normAutofit/>
          </a:bodyPr>
          <a:lstStyle/>
          <a:p>
            <a:pPr marL="0" indent="0">
              <a:buNone/>
            </a:pPr>
            <a:r>
              <a:rPr lang="en-US" sz="1090" dirty="0">
                <a:solidFill>
                  <a:srgbClr val="334155"/>
                </a:solidFill>
                <a:latin typeface="Aptos" pitchFamily="34" charset="0"/>
                <a:ea typeface="Aptos" pitchFamily="34" charset="-122"/>
                <a:cs typeface="Aptos" pitchFamily="34" charset="-120"/>
              </a:rPr>
              <a:t>Observed: 7 → 2.</a:t>
            </a:r>
            <a:endParaRPr lang="en-US" sz="1090" dirty="0"/>
          </a:p>
        </p:txBody>
      </p:sp>
      <p:sp>
        <p:nvSpPr>
          <p:cNvPr id="27" name="Shape 25"/>
          <p:cNvSpPr/>
          <p:nvPr/>
        </p:nvSpPr>
        <p:spPr>
          <a:xfrm>
            <a:off x="749808" y="5513832"/>
            <a:ext cx="68580" cy="68580"/>
          </a:xfrm>
          <a:prstGeom prst="ellipse">
            <a:avLst/>
          </a:prstGeom>
          <a:solidFill>
            <a:srgbClr val="56E0FF"/>
          </a:solidFill>
          <a:ln w="12700">
            <a:solidFill>
              <a:srgbClr val="0E7490"/>
            </a:solidFill>
            <a:prstDash val="solid"/>
          </a:ln>
        </p:spPr>
        <p:txBody>
          <a:bodyPr/>
          <a:p/>
        </p:txBody>
      </p:sp>
      <p:sp>
        <p:nvSpPr>
          <p:cNvPr id="28" name="Text 26"/>
          <p:cNvSpPr/>
          <p:nvPr/>
        </p:nvSpPr>
        <p:spPr>
          <a:xfrm>
            <a:off x="896112" y="5413248"/>
            <a:ext cx="4425696" cy="384048"/>
          </a:xfrm>
          <a:prstGeom prst="rect">
            <a:avLst/>
          </a:prstGeom>
          <a:noFill/>
        </p:spPr>
        <p:txBody>
          <a:bodyPr wrap="square" lIns="0" tIns="0" rIns="0" bIns="0" rtlCol="0" anchor="ctr">
            <a:normAutofit/>
          </a:bodyPr>
          <a:lstStyle/>
          <a:p>
            <a:pPr marL="0" indent="0">
              <a:buNone/>
            </a:pPr>
            <a:r>
              <a:rPr lang="en-US" sz="1020" dirty="0">
                <a:solidFill>
                  <a:srgbClr val="334155"/>
                </a:solidFill>
                <a:latin typeface="Aptos" pitchFamily="34" charset="0"/>
                <a:ea typeface="Aptos" pitchFamily="34" charset="-122"/>
                <a:cs typeface="Aptos" pitchFamily="34" charset="-120"/>
              </a:rPr>
              <a:t>White-box: model gradients were available.</a:t>
            </a:r>
            <a:endParaRPr lang="en-US" sz="1020" dirty="0"/>
          </a:p>
        </p:txBody>
      </p:sp>
      <p:sp>
        <p:nvSpPr>
          <p:cNvPr id="29" name="Shape 27"/>
          <p:cNvSpPr/>
          <p:nvPr/>
        </p:nvSpPr>
        <p:spPr>
          <a:xfrm>
            <a:off x="6263640" y="3090672"/>
            <a:ext cx="5394960" cy="2560320"/>
          </a:xfrm>
          <a:prstGeom prst="roundRect">
            <a:avLst>
              <a:gd name="adj" fmla="val 2857"/>
            </a:avLst>
          </a:prstGeom>
          <a:solidFill>
            <a:srgbClr val="F8FAFC"/>
          </a:solidFill>
          <a:ln w="12700">
            <a:solidFill>
              <a:srgbClr val="E2E8F0">
                <a:alpha val="90000"/>
              </a:srgbClr>
            </a:solidFill>
            <a:prstDash val="solid"/>
          </a:ln>
        </p:spPr>
        <p:txBody>
          <a:bodyPr/>
          <a:p/>
        </p:txBody>
      </p:sp>
      <p:sp>
        <p:nvSpPr>
          <p:cNvPr id="30" name="Shape 28"/>
          <p:cNvSpPr/>
          <p:nvPr/>
        </p:nvSpPr>
        <p:spPr>
          <a:xfrm>
            <a:off x="6483096" y="3346704"/>
            <a:ext cx="45720" cy="274320"/>
          </a:xfrm>
          <a:prstGeom prst="rect">
            <a:avLst/>
          </a:prstGeom>
          <a:solidFill>
            <a:srgbClr val="FFC857"/>
          </a:solidFill>
          <a:ln w="12700">
            <a:solidFill>
              <a:srgbClr val="A16207"/>
            </a:solidFill>
            <a:prstDash val="solid"/>
          </a:ln>
        </p:spPr>
        <p:txBody>
          <a:bodyPr/>
          <a:p/>
        </p:txBody>
      </p:sp>
      <p:sp>
        <p:nvSpPr>
          <p:cNvPr id="31" name="Text 29"/>
          <p:cNvSpPr/>
          <p:nvPr/>
        </p:nvSpPr>
        <p:spPr>
          <a:xfrm>
            <a:off x="6611112" y="3342132"/>
            <a:ext cx="4809744" cy="274320"/>
          </a:xfrm>
          <a:prstGeom prst="rect">
            <a:avLst/>
          </a:prstGeom>
          <a:noFill/>
        </p:spPr>
        <p:txBody>
          <a:bodyPr wrap="square" lIns="0" tIns="0" rIns="0" bIns="0" rtlCol="0" anchor="ctr">
            <a:normAutofit/>
          </a:bodyPr>
          <a:lstStyle/>
          <a:p>
            <a:pPr marL="0" indent="0">
              <a:buNone/>
            </a:pPr>
            <a:r>
              <a:rPr lang="en-US" sz="1250" b="1" dirty="0">
                <a:solidFill>
                  <a:srgbClr val="0F172A"/>
                </a:solidFill>
                <a:latin typeface="Aptos" pitchFamily="34" charset="0"/>
                <a:ea typeface="Aptos" pitchFamily="34" charset="-122"/>
                <a:cs typeface="Aptos" pitchFamily="34" charset="-120"/>
              </a:rPr>
              <a:t>PGD — repeated gradient steps</a:t>
            </a:r>
            <a:endParaRPr lang="en-US" sz="1250" dirty="0"/>
          </a:p>
        </p:txBody>
      </p:sp>
      <p:sp>
        <p:nvSpPr>
          <p:cNvPr id="32" name="Shape 30"/>
          <p:cNvSpPr/>
          <p:nvPr/>
        </p:nvSpPr>
        <p:spPr>
          <a:xfrm>
            <a:off x="6483096" y="3895344"/>
            <a:ext cx="68580" cy="68580"/>
          </a:xfrm>
          <a:prstGeom prst="ellipse">
            <a:avLst/>
          </a:prstGeom>
          <a:solidFill>
            <a:srgbClr val="56E0FF"/>
          </a:solidFill>
          <a:ln w="12700">
            <a:solidFill>
              <a:srgbClr val="0E7490"/>
            </a:solidFill>
            <a:prstDash val="solid"/>
          </a:ln>
        </p:spPr>
        <p:txBody>
          <a:bodyPr/>
          <a:p/>
        </p:txBody>
      </p:sp>
      <p:sp>
        <p:nvSpPr>
          <p:cNvPr id="33" name="Text 31"/>
          <p:cNvSpPr/>
          <p:nvPr/>
        </p:nvSpPr>
        <p:spPr>
          <a:xfrm>
            <a:off x="6629400" y="3794760"/>
            <a:ext cx="4425696" cy="384048"/>
          </a:xfrm>
          <a:prstGeom prst="rect">
            <a:avLst/>
          </a:prstGeom>
          <a:noFill/>
        </p:spPr>
        <p:txBody>
          <a:bodyPr wrap="square" lIns="0" tIns="0" rIns="0" bIns="0" rtlCol="0" anchor="ctr">
            <a:normAutofit/>
          </a:bodyPr>
          <a:lstStyle/>
          <a:p>
            <a:pPr marL="0" indent="0">
              <a:buNone/>
            </a:pPr>
            <a:r>
              <a:rPr lang="en-US" sz="1090" dirty="0">
                <a:solidFill>
                  <a:srgbClr val="334155"/>
                </a:solidFill>
                <a:latin typeface="Aptos" pitchFamily="34" charset="0"/>
                <a:ea typeface="Aptos" pitchFamily="34" charset="-122"/>
                <a:cs typeface="Aptos" pitchFamily="34" charset="-120"/>
              </a:rPr>
              <a:t>Projected Gradient Descent.</a:t>
            </a:r>
            <a:endParaRPr lang="en-US" sz="1090" dirty="0"/>
          </a:p>
        </p:txBody>
      </p:sp>
      <p:sp>
        <p:nvSpPr>
          <p:cNvPr id="34" name="Shape 32"/>
          <p:cNvSpPr/>
          <p:nvPr/>
        </p:nvSpPr>
        <p:spPr>
          <a:xfrm>
            <a:off x="6483096" y="4434840"/>
            <a:ext cx="68580" cy="68580"/>
          </a:xfrm>
          <a:prstGeom prst="ellipse">
            <a:avLst/>
          </a:prstGeom>
          <a:solidFill>
            <a:srgbClr val="56E0FF"/>
          </a:solidFill>
          <a:ln w="12700">
            <a:solidFill>
              <a:srgbClr val="0E7490"/>
            </a:solidFill>
            <a:prstDash val="solid"/>
          </a:ln>
        </p:spPr>
        <p:txBody>
          <a:bodyPr/>
          <a:p/>
        </p:txBody>
      </p:sp>
      <p:sp>
        <p:nvSpPr>
          <p:cNvPr id="35" name="Text 33"/>
          <p:cNvSpPr/>
          <p:nvPr/>
        </p:nvSpPr>
        <p:spPr>
          <a:xfrm>
            <a:off x="6629400" y="4334256"/>
            <a:ext cx="4425696" cy="384048"/>
          </a:xfrm>
          <a:prstGeom prst="rect">
            <a:avLst/>
          </a:prstGeom>
          <a:noFill/>
        </p:spPr>
        <p:txBody>
          <a:bodyPr wrap="square" lIns="0" tIns="0" rIns="0" bIns="0" rtlCol="0" anchor="ctr">
            <a:normAutofit/>
          </a:bodyPr>
          <a:lstStyle/>
          <a:p>
            <a:pPr marL="0" indent="0">
              <a:buNone/>
            </a:pPr>
            <a:r>
              <a:rPr lang="en-US" sz="1050" dirty="0">
                <a:solidFill>
                  <a:srgbClr val="334155"/>
                </a:solidFill>
                <a:latin typeface="Aptos" pitchFamily="34" charset="0"/>
                <a:ea typeface="Aptos" pitchFamily="34" charset="-122"/>
                <a:cs typeface="Aptos" pitchFamily="34" charset="-120"/>
              </a:rPr>
              <a:t>epsilon = 0.2 • alpha = 0.01 • 40 steps.</a:t>
            </a:r>
            <a:endParaRPr lang="en-US" sz="1050" dirty="0"/>
          </a:p>
        </p:txBody>
      </p:sp>
      <p:sp>
        <p:nvSpPr>
          <p:cNvPr id="36" name="Shape 34"/>
          <p:cNvSpPr/>
          <p:nvPr/>
        </p:nvSpPr>
        <p:spPr>
          <a:xfrm>
            <a:off x="6483096" y="4974336"/>
            <a:ext cx="68580" cy="68580"/>
          </a:xfrm>
          <a:prstGeom prst="ellipse">
            <a:avLst/>
          </a:prstGeom>
          <a:solidFill>
            <a:srgbClr val="FFC857"/>
          </a:solidFill>
          <a:ln w="12700">
            <a:solidFill>
              <a:srgbClr val="A16207"/>
            </a:solidFill>
            <a:prstDash val="solid"/>
          </a:ln>
        </p:spPr>
        <p:txBody>
          <a:bodyPr/>
          <a:p/>
        </p:txBody>
      </p:sp>
      <p:sp>
        <p:nvSpPr>
          <p:cNvPr id="37" name="Text 35"/>
          <p:cNvSpPr/>
          <p:nvPr/>
        </p:nvSpPr>
        <p:spPr>
          <a:xfrm>
            <a:off x="6629400" y="4873752"/>
            <a:ext cx="4425696" cy="384048"/>
          </a:xfrm>
          <a:prstGeom prst="rect">
            <a:avLst/>
          </a:prstGeom>
          <a:noFill/>
        </p:spPr>
        <p:txBody>
          <a:bodyPr wrap="square" lIns="0" tIns="0" rIns="0" bIns="0" rtlCol="0" anchor="ctr">
            <a:normAutofit/>
          </a:bodyPr>
          <a:lstStyle/>
          <a:p>
            <a:pPr marL="0" indent="0">
              <a:buNone/>
            </a:pPr>
            <a:r>
              <a:rPr lang="en-US" sz="1090" dirty="0">
                <a:solidFill>
                  <a:srgbClr val="334155"/>
                </a:solidFill>
                <a:latin typeface="Aptos" pitchFamily="34" charset="0"/>
                <a:ea typeface="Aptos" pitchFamily="34" charset="-122"/>
                <a:cs typeface="Aptos" pitchFamily="34" charset="-120"/>
              </a:rPr>
              <a:t>Observed: 7 → 3.</a:t>
            </a:r>
            <a:endParaRPr lang="en-US" sz="1090" dirty="0"/>
          </a:p>
        </p:txBody>
      </p:sp>
      <p:sp>
        <p:nvSpPr>
          <p:cNvPr id="38" name="Shape 36"/>
          <p:cNvSpPr/>
          <p:nvPr/>
        </p:nvSpPr>
        <p:spPr>
          <a:xfrm>
            <a:off x="6483096" y="5513832"/>
            <a:ext cx="68580" cy="68580"/>
          </a:xfrm>
          <a:prstGeom prst="ellipse">
            <a:avLst/>
          </a:prstGeom>
          <a:solidFill>
            <a:srgbClr val="56E0FF"/>
          </a:solidFill>
          <a:ln w="12700">
            <a:solidFill>
              <a:srgbClr val="0E7490"/>
            </a:solidFill>
            <a:prstDash val="solid"/>
          </a:ln>
        </p:spPr>
        <p:txBody>
          <a:bodyPr/>
          <a:p/>
        </p:txBody>
      </p:sp>
      <p:sp>
        <p:nvSpPr>
          <p:cNvPr id="39" name="Text 37"/>
          <p:cNvSpPr/>
          <p:nvPr/>
        </p:nvSpPr>
        <p:spPr>
          <a:xfrm>
            <a:off x="6629400" y="5413248"/>
            <a:ext cx="4425696" cy="384048"/>
          </a:xfrm>
          <a:prstGeom prst="rect">
            <a:avLst/>
          </a:prstGeom>
          <a:noFill/>
        </p:spPr>
        <p:txBody>
          <a:bodyPr wrap="square" lIns="0" tIns="0" rIns="0" bIns="0" rtlCol="0" anchor="ctr">
            <a:normAutofit/>
          </a:bodyPr>
          <a:lstStyle/>
          <a:p>
            <a:pPr marL="0" indent="0">
              <a:buNone/>
            </a:pPr>
            <a:r>
              <a:rPr lang="en-US" sz="1020" dirty="0">
                <a:solidFill>
                  <a:srgbClr val="334155"/>
                </a:solidFill>
                <a:latin typeface="Aptos" pitchFamily="34" charset="0"/>
                <a:ea typeface="Aptos" pitchFamily="34" charset="-122"/>
                <a:cs typeface="Aptos" pitchFamily="34" charset="-120"/>
              </a:rPr>
              <a:t>Projection keeps the perturbation bounded.</a:t>
            </a:r>
            <a:endParaRPr lang="en-US" sz="1020" dirty="0"/>
          </a:p>
        </p:txBody>
      </p:sp>
      <p:sp>
        <p:nvSpPr>
          <p:cNvPr id="40" name="Text 38"/>
          <p:cNvSpPr/>
          <p:nvPr/>
        </p:nvSpPr>
        <p:spPr>
          <a:xfrm>
            <a:off x="11109960" y="6556248"/>
            <a:ext cx="457200" cy="164592"/>
          </a:xfrm>
          <a:prstGeom prst="rect">
            <a:avLst/>
          </a:prstGeom>
          <a:noFill/>
        </p:spPr>
        <p:txBody>
          <a:bodyPr wrap="square" lIns="0" tIns="0" rIns="0" bIns="0" rtlCol="0" anchor="ctr"/>
          <a:lstStyle/>
          <a:p>
            <a:pPr marL="0" indent="0" algn="r">
              <a:buNone/>
            </a:pPr>
            <a:r>
              <a:rPr lang="en-US" sz="800" dirty="0">
                <a:solidFill>
                  <a:srgbClr val="64748B"/>
                </a:solidFill>
                <a:latin typeface="Aptos" pitchFamily="34" charset="0"/>
                <a:ea typeface="Aptos" pitchFamily="34" charset="-122"/>
                <a:cs typeface="Aptos" pitchFamily="34" charset="-120"/>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320040"/>
            <a:ext cx="11365992" cy="0"/>
          </a:xfrm>
          <a:prstGeom prst="line">
            <a:avLst/>
          </a:prstGeom>
          <a:noFill/>
          <a:ln w="12700">
            <a:solidFill>
              <a:srgbClr val="E2E8F0"/>
            </a:solidFill>
            <a:prstDash val="solid"/>
          </a:ln>
        </p:spPr>
        <p:txBody>
          <a:bodyPr/>
          <a:p/>
        </p:txBody>
      </p:sp>
      <p:sp>
        <p:nvSpPr>
          <p:cNvPr id="3" name="Shape 1"/>
          <p:cNvSpPr/>
          <p:nvPr/>
        </p:nvSpPr>
        <p:spPr>
          <a:xfrm>
            <a:off x="411480" y="6492240"/>
            <a:ext cx="11365992" cy="0"/>
          </a:xfrm>
          <a:prstGeom prst="line">
            <a:avLst/>
          </a:prstGeom>
          <a:noFill/>
          <a:ln w="12700">
            <a:solidFill>
              <a:srgbClr val="E2E8F0"/>
            </a:solidFill>
            <a:prstDash val="solid"/>
          </a:ln>
        </p:spPr>
        <p:txBody>
          <a:bodyPr/>
          <a:p/>
        </p:txBody>
      </p:sp>
      <p:sp>
        <p:nvSpPr>
          <p:cNvPr id="4" name="Shape 2"/>
          <p:cNvSpPr/>
          <p:nvPr/>
        </p:nvSpPr>
        <p:spPr>
          <a:xfrm rot="1080000">
            <a:off x="10744200" y="-640080"/>
            <a:ext cx="1920240" cy="1920240"/>
          </a:xfrm>
          <a:prstGeom prst="arc">
            <a:avLst/>
          </a:prstGeom>
          <a:solidFill>
            <a:srgbClr val="FFFFFF">
              <a:alpha val="0"/>
            </a:srgbClr>
          </a:solidFill>
          <a:ln w="12700">
            <a:solidFill>
              <a:srgbClr val="E2E8F0">
                <a:alpha val="55000"/>
              </a:srgbClr>
            </a:solidFill>
            <a:prstDash val="solid"/>
          </a:ln>
        </p:spPr>
        <p:txBody>
          <a:bodyPr/>
          <a:p/>
        </p:txBody>
      </p:sp>
      <p:sp>
        <p:nvSpPr>
          <p:cNvPr id="5" name="Text 3"/>
          <p:cNvSpPr/>
          <p:nvPr/>
        </p:nvSpPr>
        <p:spPr>
          <a:xfrm>
            <a:off x="502920" y="73152"/>
            <a:ext cx="3840480" cy="182880"/>
          </a:xfrm>
          <a:prstGeom prst="rect">
            <a:avLst/>
          </a:prstGeom>
          <a:noFill/>
        </p:spPr>
        <p:txBody>
          <a:bodyPr wrap="square" lIns="0" tIns="0" rIns="0" bIns="0" rtlCol="0" anchor="ctr"/>
          <a:lstStyle/>
          <a:p>
            <a:pPr marL="0" indent="0">
              <a:buNone/>
            </a:pPr>
            <a:r>
              <a:rPr lang="en-US" sz="900" b="1" kern="0" spc="140" dirty="0">
                <a:solidFill>
                  <a:srgbClr val="0E7490"/>
                </a:solidFill>
                <a:latin typeface="Aptos" pitchFamily="34" charset="0"/>
                <a:ea typeface="Aptos" pitchFamily="34" charset="-122"/>
                <a:cs typeface="Aptos" pitchFamily="34" charset="-120"/>
              </a:rPr>
              <a:t>FGSM</a:t>
            </a:r>
            <a:endParaRPr lang="en-US" sz="900" dirty="0"/>
          </a:p>
        </p:txBody>
      </p:sp>
      <p:sp>
        <p:nvSpPr>
          <p:cNvPr id="6" name="Text 4"/>
          <p:cNvSpPr/>
          <p:nvPr/>
        </p:nvSpPr>
        <p:spPr>
          <a:xfrm>
            <a:off x="502920" y="530352"/>
            <a:ext cx="10561320" cy="502920"/>
          </a:xfrm>
          <a:prstGeom prst="rect">
            <a:avLst/>
          </a:prstGeom>
          <a:noFill/>
        </p:spPr>
        <p:txBody>
          <a:bodyPr wrap="square" lIns="0" tIns="0" rIns="0" bIns="0" rtlCol="0" anchor="ctr">
            <a:normAutofit/>
          </a:bodyP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07 • Attack Result — FGSM</a:t>
            </a:r>
            <a:endParaRPr lang="en-US" sz="2500" dirty="0"/>
          </a:p>
        </p:txBody>
      </p:sp>
      <p:sp>
        <p:nvSpPr>
          <p:cNvPr id="7" name="Text 5"/>
          <p:cNvSpPr/>
          <p:nvPr/>
        </p:nvSpPr>
        <p:spPr>
          <a:xfrm>
            <a:off x="530352" y="1060704"/>
            <a:ext cx="10332720" cy="347472"/>
          </a:xfrm>
          <a:prstGeom prst="rect">
            <a:avLst/>
          </a:prstGeom>
          <a:noFill/>
        </p:spPr>
        <p:txBody>
          <a:bodyPr wrap="square" lIns="0" tIns="0" rIns="0" bIns="0" rtlCol="0" anchor="ctr">
            <a:normAutofit/>
          </a:bodyPr>
          <a:lstStyle/>
          <a:p>
            <a:pPr marL="0" indent="0">
              <a:buNone/>
            </a:pPr>
            <a:r>
              <a:rPr lang="en-US" sz="1150" dirty="0">
                <a:solidFill>
                  <a:srgbClr val="64748B"/>
                </a:solidFill>
                <a:latin typeface="Aptos" pitchFamily="34" charset="0"/>
                <a:ea typeface="Aptos" pitchFamily="34" charset="-122"/>
                <a:cs typeface="Aptos" pitchFamily="34" charset="-120"/>
              </a:rPr>
              <a:t>A clean 7 was changed into a confident wrong class.</a:t>
            </a:r>
            <a:endParaRPr lang="en-US" sz="1150" dirty="0"/>
          </a:p>
        </p:txBody>
      </p:sp>
      <p:sp>
        <p:nvSpPr>
          <p:cNvPr id="8" name="Shape 6"/>
          <p:cNvSpPr/>
          <p:nvPr/>
        </p:nvSpPr>
        <p:spPr>
          <a:xfrm>
            <a:off x="530352" y="1627632"/>
            <a:ext cx="3657600" cy="4480560"/>
          </a:xfrm>
          <a:prstGeom prst="roundRect">
            <a:avLst>
              <a:gd name="adj" fmla="val 2000"/>
            </a:avLst>
          </a:prstGeom>
          <a:solidFill>
            <a:srgbClr val="F8FAFC"/>
          </a:solidFill>
          <a:ln w="12700">
            <a:solidFill>
              <a:srgbClr val="E2E8F0">
                <a:alpha val="90000"/>
              </a:srgbClr>
            </a:solidFill>
            <a:prstDash val="solid"/>
          </a:ln>
        </p:spPr>
        <p:txBody>
          <a:bodyPr/>
          <a:p/>
        </p:txBody>
      </p:sp>
      <p:sp>
        <p:nvSpPr>
          <p:cNvPr id="9" name="Text 7"/>
          <p:cNvSpPr/>
          <p:nvPr/>
        </p:nvSpPr>
        <p:spPr>
          <a:xfrm>
            <a:off x="822960" y="1920240"/>
            <a:ext cx="1051560" cy="182880"/>
          </a:xfrm>
          <a:prstGeom prst="rect">
            <a:avLst/>
          </a:prstGeom>
          <a:noFill/>
        </p:spPr>
        <p:txBody>
          <a:bodyPr wrap="square" lIns="0" tIns="0" rIns="0" bIns="0" rtlCol="0" anchor="ctr"/>
          <a:lstStyle/>
          <a:p>
            <a:pPr marL="0" indent="0" algn="ctr">
              <a:buNone/>
            </a:pPr>
            <a:r>
              <a:rPr lang="en-US" sz="900" b="1" dirty="0">
                <a:solidFill>
                  <a:srgbClr val="64748B"/>
                </a:solidFill>
                <a:latin typeface="Aptos" pitchFamily="34" charset="0"/>
                <a:ea typeface="Aptos" pitchFamily="34" charset="-122"/>
                <a:cs typeface="Aptos" pitchFamily="34" charset="-120"/>
              </a:rPr>
              <a:t>TRUE LABEL</a:t>
            </a:r>
            <a:endParaRPr lang="en-US" sz="900" dirty="0"/>
          </a:p>
        </p:txBody>
      </p:sp>
      <p:sp>
        <p:nvSpPr>
          <p:cNvPr id="10" name="Text 8"/>
          <p:cNvSpPr/>
          <p:nvPr/>
        </p:nvSpPr>
        <p:spPr>
          <a:xfrm>
            <a:off x="1280160" y="2194560"/>
            <a:ext cx="1828800" cy="1280160"/>
          </a:xfrm>
          <a:prstGeom prst="rect">
            <a:avLst/>
          </a:prstGeom>
          <a:noFill/>
        </p:spPr>
        <p:txBody>
          <a:bodyPr wrap="square" lIns="0" tIns="0" rIns="0" bIns="0" rtlCol="0" anchor="ctr"/>
          <a:lstStyle/>
          <a:p>
            <a:pPr marL="0" indent="0" algn="ctr">
              <a:buNone/>
            </a:pPr>
            <a:r>
              <a:rPr lang="en-US" sz="8200" b="1" dirty="0">
                <a:solidFill>
                  <a:srgbClr val="0E7490"/>
                </a:solidFill>
                <a:latin typeface="Aptos Display" pitchFamily="34" charset="0"/>
                <a:ea typeface="Aptos Display" pitchFamily="34" charset="-122"/>
                <a:cs typeface="Aptos Display" pitchFamily="34" charset="-120"/>
              </a:rPr>
              <a:t>7</a:t>
            </a:r>
            <a:endParaRPr lang="en-US" sz="8200" dirty="0"/>
          </a:p>
        </p:txBody>
      </p:sp>
      <p:sp>
        <p:nvSpPr>
          <p:cNvPr id="11" name="Shape 9"/>
          <p:cNvSpPr/>
          <p:nvPr/>
        </p:nvSpPr>
        <p:spPr>
          <a:xfrm>
            <a:off x="1143000" y="3840480"/>
            <a:ext cx="2057400" cy="0"/>
          </a:xfrm>
          <a:prstGeom prst="line">
            <a:avLst/>
          </a:prstGeom>
          <a:noFill/>
          <a:ln w="19050">
            <a:solidFill>
              <a:srgbClr val="E2E8F0"/>
            </a:solidFill>
            <a:prstDash val="solid"/>
          </a:ln>
        </p:spPr>
        <p:txBody>
          <a:bodyPr/>
          <a:p/>
        </p:txBody>
      </p:sp>
      <p:sp>
        <p:nvSpPr>
          <p:cNvPr id="12" name="Text 10"/>
          <p:cNvSpPr/>
          <p:nvPr/>
        </p:nvSpPr>
        <p:spPr>
          <a:xfrm>
            <a:off x="1143000" y="4096512"/>
            <a:ext cx="2103120" cy="228600"/>
          </a:xfrm>
          <a:prstGeom prst="rect">
            <a:avLst/>
          </a:prstGeom>
          <a:noFill/>
        </p:spPr>
        <p:txBody>
          <a:bodyPr wrap="square" lIns="0" tIns="0" rIns="0" bIns="0" rtlCol="0" anchor="ctr"/>
          <a:lstStyle/>
          <a:p>
            <a:pPr marL="0" indent="0" algn="ctr">
              <a:buNone/>
            </a:pPr>
            <a:r>
              <a:rPr lang="en-US" sz="1000" b="1" dirty="0">
                <a:solidFill>
                  <a:srgbClr val="B91C1C"/>
                </a:solidFill>
                <a:latin typeface="Aptos" pitchFamily="34" charset="0"/>
                <a:ea typeface="Aptos" pitchFamily="34" charset="-122"/>
                <a:cs typeface="Aptos" pitchFamily="34" charset="-120"/>
              </a:rPr>
              <a:t>FGSM</a:t>
            </a:r>
            <a:endParaRPr lang="en-US" sz="1000" dirty="0"/>
          </a:p>
        </p:txBody>
      </p:sp>
      <p:sp>
        <p:nvSpPr>
          <p:cNvPr id="13" name="Text 11"/>
          <p:cNvSpPr/>
          <p:nvPr/>
        </p:nvSpPr>
        <p:spPr>
          <a:xfrm>
            <a:off x="914400" y="4480560"/>
            <a:ext cx="2560320" cy="548640"/>
          </a:xfrm>
          <a:prstGeom prst="rect">
            <a:avLst/>
          </a:prstGeom>
          <a:noFill/>
        </p:spPr>
        <p:txBody>
          <a:bodyPr wrap="square" lIns="0" tIns="0" rIns="0" bIns="0" rtlCol="0" anchor="ctr"/>
          <a:lstStyle/>
          <a:p>
            <a:pPr marL="0" indent="0" algn="ctr">
              <a:buNone/>
            </a:pPr>
            <a:r>
              <a:rPr lang="en-US" sz="3000" b="1" dirty="0">
                <a:solidFill>
                  <a:srgbClr val="0F172A"/>
                </a:solidFill>
                <a:latin typeface="Aptos Display" pitchFamily="34" charset="0"/>
                <a:ea typeface="Aptos Display" pitchFamily="34" charset="-122"/>
                <a:cs typeface="Aptos Display" pitchFamily="34" charset="-120"/>
              </a:rPr>
              <a:t>7  →  2</a:t>
            </a:r>
            <a:endParaRPr lang="en-US" sz="3000" dirty="0"/>
          </a:p>
        </p:txBody>
      </p:sp>
      <p:sp>
        <p:nvSpPr>
          <p:cNvPr id="14" name="Shape 12"/>
          <p:cNvSpPr/>
          <p:nvPr/>
        </p:nvSpPr>
        <p:spPr>
          <a:xfrm>
            <a:off x="1005840" y="5230368"/>
            <a:ext cx="2331720" cy="292608"/>
          </a:xfrm>
          <a:prstGeom prst="roundRect">
            <a:avLst>
              <a:gd name="adj" fmla="val 25000"/>
            </a:avLst>
          </a:prstGeom>
          <a:solidFill>
            <a:srgbClr val="FF6B6B">
              <a:alpha val="14000"/>
            </a:srgbClr>
          </a:solidFill>
          <a:ln w="12700">
            <a:solidFill>
              <a:srgbClr val="B91C1C">
                <a:alpha val="0"/>
              </a:srgbClr>
            </a:solidFill>
            <a:prstDash val="solid"/>
          </a:ln>
        </p:spPr>
        <p:txBody>
          <a:bodyPr/>
          <a:p/>
        </p:txBody>
      </p:sp>
      <p:sp>
        <p:nvSpPr>
          <p:cNvPr id="15" name="Text 13"/>
          <p:cNvSpPr/>
          <p:nvPr/>
        </p:nvSpPr>
        <p:spPr>
          <a:xfrm>
            <a:off x="1078992" y="5280660"/>
            <a:ext cx="2185416" cy="146304"/>
          </a:xfrm>
          <a:prstGeom prst="rect">
            <a:avLst/>
          </a:prstGeom>
          <a:noFill/>
        </p:spPr>
        <p:txBody>
          <a:bodyPr wrap="square" lIns="0" tIns="0" rIns="0" bIns="0" rtlCol="0" anchor="ctr">
            <a:normAutofit/>
          </a:bodyPr>
          <a:lstStyle/>
          <a:p>
            <a:pPr marL="0" indent="0" algn="ctr">
              <a:buNone/>
            </a:pPr>
            <a:r>
              <a:rPr lang="en-US" sz="850" b="1" dirty="0">
                <a:solidFill>
                  <a:srgbClr val="B91C1C"/>
                </a:solidFill>
                <a:latin typeface="Aptos" pitchFamily="34" charset="0"/>
                <a:ea typeface="Aptos" pitchFamily="34" charset="-122"/>
                <a:cs typeface="Aptos" pitchFamily="34" charset="-120"/>
              </a:rPr>
              <a:t>ATTACK SUCCEEDED</a:t>
            </a:r>
            <a:endParaRPr lang="en-US" sz="850" dirty="0"/>
          </a:p>
        </p:txBody>
      </p:sp>
      <p:sp>
        <p:nvSpPr>
          <p:cNvPr id="16" name="Shape 14"/>
          <p:cNvSpPr/>
          <p:nvPr/>
        </p:nvSpPr>
        <p:spPr>
          <a:xfrm>
            <a:off x="4443984" y="1627632"/>
            <a:ext cx="7214616" cy="4480560"/>
          </a:xfrm>
          <a:prstGeom prst="roundRect">
            <a:avLst>
              <a:gd name="adj" fmla="val 1633"/>
            </a:avLst>
          </a:prstGeom>
          <a:solidFill>
            <a:srgbClr val="F1F5F9"/>
          </a:solidFill>
          <a:ln w="12700">
            <a:solidFill>
              <a:srgbClr val="E2E8F0">
                <a:alpha val="90000"/>
              </a:srgbClr>
            </a:solidFill>
            <a:prstDash val="solid"/>
          </a:ln>
        </p:spPr>
        <p:txBody>
          <a:bodyPr/>
          <a:p/>
        </p:txBody>
      </p:sp>
      <p:sp>
        <p:nvSpPr>
          <p:cNvPr id="17" name="Shape 15"/>
          <p:cNvSpPr/>
          <p:nvPr/>
        </p:nvSpPr>
        <p:spPr>
          <a:xfrm>
            <a:off x="4736592" y="1956816"/>
            <a:ext cx="2011680" cy="1298448"/>
          </a:xfrm>
          <a:prstGeom prst="roundRect">
            <a:avLst>
              <a:gd name="adj" fmla="val 5634"/>
            </a:avLst>
          </a:prstGeom>
          <a:solidFill>
            <a:srgbClr val="F1F5F9"/>
          </a:solidFill>
          <a:ln w="12700">
            <a:solidFill>
              <a:srgbClr val="E2E8F0">
                <a:alpha val="90000"/>
              </a:srgbClr>
            </a:solidFill>
            <a:prstDash val="solid"/>
          </a:ln>
        </p:spPr>
        <p:txBody>
          <a:bodyPr/>
          <a:p/>
        </p:txBody>
      </p:sp>
      <p:sp>
        <p:nvSpPr>
          <p:cNvPr id="18" name="Text 16"/>
          <p:cNvSpPr/>
          <p:nvPr/>
        </p:nvSpPr>
        <p:spPr>
          <a:xfrm>
            <a:off x="4873752" y="2103120"/>
            <a:ext cx="1737360" cy="502920"/>
          </a:xfrm>
          <a:prstGeom prst="rect">
            <a:avLst/>
          </a:prstGeom>
          <a:noFill/>
        </p:spPr>
        <p:txBody>
          <a:bodyPr wrap="square" lIns="0" tIns="0" rIns="0" bIns="0" rtlCol="0" anchor="ctr">
            <a:normAutofit/>
          </a:bodyPr>
          <a:lstStyle/>
          <a:p>
            <a:pPr marL="0" indent="0" algn="l">
              <a:buNone/>
            </a:pPr>
            <a:r>
              <a:rPr lang="en-US" sz="2600" b="1" dirty="0">
                <a:solidFill>
                  <a:srgbClr val="0E7490"/>
                </a:solidFill>
                <a:latin typeface="Aptos Display" pitchFamily="34" charset="0"/>
                <a:ea typeface="Aptos Display" pitchFamily="34" charset="-122"/>
                <a:cs typeface="Aptos Display" pitchFamily="34" charset="-120"/>
              </a:rPr>
              <a:t>1.0000</a:t>
            </a:r>
            <a:endParaRPr lang="en-US" sz="2600" dirty="0"/>
          </a:p>
        </p:txBody>
      </p:sp>
      <p:sp>
        <p:nvSpPr>
          <p:cNvPr id="19" name="Text 17"/>
          <p:cNvSpPr/>
          <p:nvPr/>
        </p:nvSpPr>
        <p:spPr>
          <a:xfrm>
            <a:off x="4882896" y="2651760"/>
            <a:ext cx="1719072" cy="292608"/>
          </a:xfrm>
          <a:prstGeom prst="rect">
            <a:avLst/>
          </a:prstGeom>
          <a:noFill/>
        </p:spPr>
        <p:txBody>
          <a:bodyPr wrap="square" lIns="0" tIns="0" rIns="0" bIns="0" rtlCol="0" anchor="ctr">
            <a:normAutofit/>
          </a:bodyPr>
          <a:lstStyle/>
          <a:p>
            <a:pPr marL="0" indent="0">
              <a:buNone/>
            </a:pPr>
            <a:r>
              <a:rPr lang="en-US" sz="950" dirty="0">
                <a:solidFill>
                  <a:srgbClr val="64748B"/>
                </a:solidFill>
                <a:latin typeface="Aptos" pitchFamily="34" charset="0"/>
                <a:ea typeface="Aptos" pitchFamily="34" charset="-122"/>
                <a:cs typeface="Aptos" pitchFamily="34" charset="-120"/>
              </a:rPr>
              <a:t>original confidence</a:t>
            </a:r>
            <a:endParaRPr lang="en-US" sz="950" dirty="0"/>
          </a:p>
        </p:txBody>
      </p:sp>
      <p:sp>
        <p:nvSpPr>
          <p:cNvPr id="20" name="Shape 18"/>
          <p:cNvSpPr/>
          <p:nvPr/>
        </p:nvSpPr>
        <p:spPr>
          <a:xfrm>
            <a:off x="6949440" y="1956816"/>
            <a:ext cx="2011680" cy="1298448"/>
          </a:xfrm>
          <a:prstGeom prst="roundRect">
            <a:avLst>
              <a:gd name="adj" fmla="val 5634"/>
            </a:avLst>
          </a:prstGeom>
          <a:solidFill>
            <a:srgbClr val="F1F5F9"/>
          </a:solidFill>
          <a:ln w="12700">
            <a:solidFill>
              <a:srgbClr val="E2E8F0">
                <a:alpha val="90000"/>
              </a:srgbClr>
            </a:solidFill>
            <a:prstDash val="solid"/>
          </a:ln>
        </p:spPr>
        <p:txBody>
          <a:bodyPr/>
          <a:p/>
        </p:txBody>
      </p:sp>
      <p:sp>
        <p:nvSpPr>
          <p:cNvPr id="21" name="Text 19"/>
          <p:cNvSpPr/>
          <p:nvPr/>
        </p:nvSpPr>
        <p:spPr>
          <a:xfrm>
            <a:off x="7086600" y="2103120"/>
            <a:ext cx="1737360" cy="502920"/>
          </a:xfrm>
          <a:prstGeom prst="rect">
            <a:avLst/>
          </a:prstGeom>
          <a:noFill/>
        </p:spPr>
        <p:txBody>
          <a:bodyPr wrap="square" lIns="0" tIns="0" rIns="0" bIns="0" rtlCol="0" anchor="ctr">
            <a:normAutofit/>
          </a:bodyPr>
          <a:lstStyle/>
          <a:p>
            <a:pPr marL="0" indent="0" algn="l">
              <a:buNone/>
            </a:pPr>
            <a:r>
              <a:rPr lang="en-US" sz="2600" b="1" dirty="0">
                <a:solidFill>
                  <a:srgbClr val="B91C1C"/>
                </a:solidFill>
                <a:latin typeface="Aptos Display" pitchFamily="34" charset="0"/>
                <a:ea typeface="Aptos Display" pitchFamily="34" charset="-122"/>
                <a:cs typeface="Aptos Display" pitchFamily="34" charset="-120"/>
              </a:rPr>
              <a:t>0.5933</a:t>
            </a:r>
            <a:endParaRPr lang="en-US" sz="2600" dirty="0"/>
          </a:p>
        </p:txBody>
      </p:sp>
      <p:sp>
        <p:nvSpPr>
          <p:cNvPr id="22" name="Text 20"/>
          <p:cNvSpPr/>
          <p:nvPr/>
        </p:nvSpPr>
        <p:spPr>
          <a:xfrm>
            <a:off x="7095744" y="2651760"/>
            <a:ext cx="1719072" cy="292608"/>
          </a:xfrm>
          <a:prstGeom prst="rect">
            <a:avLst/>
          </a:prstGeom>
          <a:noFill/>
        </p:spPr>
        <p:txBody>
          <a:bodyPr wrap="square" lIns="0" tIns="0" rIns="0" bIns="0" rtlCol="0" anchor="ctr">
            <a:normAutofit/>
          </a:bodyPr>
          <a:lstStyle/>
          <a:p>
            <a:pPr marL="0" indent="0">
              <a:buNone/>
            </a:pPr>
            <a:r>
              <a:rPr lang="en-US" sz="950" dirty="0">
                <a:solidFill>
                  <a:srgbClr val="64748B"/>
                </a:solidFill>
                <a:latin typeface="Aptos" pitchFamily="34" charset="0"/>
                <a:ea typeface="Aptos" pitchFamily="34" charset="-122"/>
                <a:cs typeface="Aptos" pitchFamily="34" charset="-120"/>
              </a:rPr>
              <a:t>adversarial confidence</a:t>
            </a:r>
            <a:endParaRPr lang="en-US" sz="950" dirty="0"/>
          </a:p>
        </p:txBody>
      </p:sp>
      <p:sp>
        <p:nvSpPr>
          <p:cNvPr id="23" name="Shape 21"/>
          <p:cNvSpPr/>
          <p:nvPr/>
        </p:nvSpPr>
        <p:spPr>
          <a:xfrm>
            <a:off x="9162288" y="1956816"/>
            <a:ext cx="2148840" cy="1298448"/>
          </a:xfrm>
          <a:prstGeom prst="roundRect">
            <a:avLst>
              <a:gd name="adj" fmla="val 5634"/>
            </a:avLst>
          </a:prstGeom>
          <a:solidFill>
            <a:srgbClr val="F1F5F9"/>
          </a:solidFill>
          <a:ln w="12700">
            <a:solidFill>
              <a:srgbClr val="E2E8F0">
                <a:alpha val="90000"/>
              </a:srgbClr>
            </a:solidFill>
            <a:prstDash val="solid"/>
          </a:ln>
        </p:spPr>
        <p:txBody>
          <a:bodyPr/>
          <a:p/>
        </p:txBody>
      </p:sp>
      <p:sp>
        <p:nvSpPr>
          <p:cNvPr id="24" name="Text 22"/>
          <p:cNvSpPr/>
          <p:nvPr/>
        </p:nvSpPr>
        <p:spPr>
          <a:xfrm>
            <a:off x="9299448" y="2103120"/>
            <a:ext cx="1874520" cy="502920"/>
          </a:xfrm>
          <a:prstGeom prst="rect">
            <a:avLst/>
          </a:prstGeom>
          <a:noFill/>
        </p:spPr>
        <p:txBody>
          <a:bodyPr wrap="square" lIns="0" tIns="0" rIns="0" bIns="0" rtlCol="0" anchor="ctr">
            <a:normAutofit/>
          </a:bodyPr>
          <a:lstStyle/>
          <a:p>
            <a:pPr marL="0" indent="0" algn="l">
              <a:buNone/>
            </a:pPr>
            <a:r>
              <a:rPr lang="en-US" sz="2600" b="1" dirty="0">
                <a:solidFill>
                  <a:srgbClr val="A16207"/>
                </a:solidFill>
                <a:latin typeface="Aptos Display" pitchFamily="34" charset="0"/>
                <a:ea typeface="Aptos Display" pitchFamily="34" charset="-122"/>
                <a:cs typeface="Aptos Display" pitchFamily="34" charset="-120"/>
              </a:rPr>
              <a:t>0.5</a:t>
            </a:r>
            <a:endParaRPr lang="en-US" sz="2600" dirty="0"/>
          </a:p>
        </p:txBody>
      </p:sp>
      <p:sp>
        <p:nvSpPr>
          <p:cNvPr id="25" name="Text 23"/>
          <p:cNvSpPr/>
          <p:nvPr/>
        </p:nvSpPr>
        <p:spPr>
          <a:xfrm>
            <a:off x="9308592" y="2651760"/>
            <a:ext cx="1856232" cy="292608"/>
          </a:xfrm>
          <a:prstGeom prst="rect">
            <a:avLst/>
          </a:prstGeom>
          <a:noFill/>
        </p:spPr>
        <p:txBody>
          <a:bodyPr wrap="square" lIns="0" tIns="0" rIns="0" bIns="0" rtlCol="0" anchor="ctr">
            <a:normAutofit/>
          </a:bodyPr>
          <a:lstStyle/>
          <a:p>
            <a:pPr marL="0" indent="0">
              <a:buNone/>
            </a:pPr>
            <a:r>
              <a:rPr lang="en-US" sz="950" dirty="0">
                <a:solidFill>
                  <a:srgbClr val="64748B"/>
                </a:solidFill>
                <a:latin typeface="Aptos" pitchFamily="34" charset="0"/>
                <a:ea typeface="Aptos" pitchFamily="34" charset="-122"/>
                <a:cs typeface="Aptos" pitchFamily="34" charset="-120"/>
              </a:rPr>
              <a:t>epsilon</a:t>
            </a:r>
            <a:endParaRPr lang="en-US" sz="950" dirty="0"/>
          </a:p>
        </p:txBody>
      </p:sp>
      <p:sp>
        <p:nvSpPr>
          <p:cNvPr id="26" name="Shape 24"/>
          <p:cNvSpPr/>
          <p:nvPr/>
        </p:nvSpPr>
        <p:spPr>
          <a:xfrm>
            <a:off x="4736592" y="3611880"/>
            <a:ext cx="45720" cy="274320"/>
          </a:xfrm>
          <a:prstGeom prst="rect">
            <a:avLst/>
          </a:prstGeom>
          <a:solidFill>
            <a:srgbClr val="56E0FF"/>
          </a:solidFill>
          <a:ln w="12700">
            <a:solidFill>
              <a:srgbClr val="0E7490"/>
            </a:solidFill>
            <a:prstDash val="solid"/>
          </a:ln>
        </p:spPr>
        <p:txBody>
          <a:bodyPr/>
          <a:p/>
        </p:txBody>
      </p:sp>
      <p:sp>
        <p:nvSpPr>
          <p:cNvPr id="27" name="Text 25"/>
          <p:cNvSpPr/>
          <p:nvPr/>
        </p:nvSpPr>
        <p:spPr>
          <a:xfrm>
            <a:off x="4864608" y="3607308"/>
            <a:ext cx="5952744" cy="274320"/>
          </a:xfrm>
          <a:prstGeom prst="rect">
            <a:avLst/>
          </a:prstGeom>
          <a:noFill/>
        </p:spPr>
        <p:txBody>
          <a:bodyPr wrap="square" lIns="0" tIns="0" rIns="0" bIns="0" rtlCol="0" anchor="ctr">
            <a:normAutofit/>
          </a:bodyPr>
          <a:lstStyle/>
          <a:p>
            <a:pPr marL="0" indent="0">
              <a:buNone/>
            </a:pPr>
            <a:r>
              <a:rPr lang="en-US" sz="1250" b="1" dirty="0">
                <a:solidFill>
                  <a:srgbClr val="0F172A"/>
                </a:solidFill>
                <a:latin typeface="Aptos" pitchFamily="34" charset="0"/>
                <a:ea typeface="Aptos" pitchFamily="34" charset="-122"/>
                <a:cs typeface="Aptos" pitchFamily="34" charset="-120"/>
              </a:rPr>
              <a:t>What this proves</a:t>
            </a:r>
            <a:endParaRPr lang="en-US" sz="1250" dirty="0"/>
          </a:p>
        </p:txBody>
      </p:sp>
      <p:sp>
        <p:nvSpPr>
          <p:cNvPr id="28" name="Shape 26"/>
          <p:cNvSpPr/>
          <p:nvPr/>
        </p:nvSpPr>
        <p:spPr>
          <a:xfrm>
            <a:off x="4736592" y="4169664"/>
            <a:ext cx="68580" cy="68580"/>
          </a:xfrm>
          <a:prstGeom prst="ellipse">
            <a:avLst/>
          </a:prstGeom>
          <a:solidFill>
            <a:srgbClr val="56E0FF"/>
          </a:solidFill>
          <a:ln w="12700">
            <a:solidFill>
              <a:srgbClr val="0E7490"/>
            </a:solidFill>
            <a:prstDash val="solid"/>
          </a:ln>
        </p:spPr>
        <p:txBody>
          <a:bodyPr/>
          <a:p/>
        </p:txBody>
      </p:sp>
      <p:sp>
        <p:nvSpPr>
          <p:cNvPr id="29" name="Text 27"/>
          <p:cNvSpPr/>
          <p:nvPr/>
        </p:nvSpPr>
        <p:spPr>
          <a:xfrm>
            <a:off x="4882896" y="4069080"/>
            <a:ext cx="6025896" cy="384048"/>
          </a:xfrm>
          <a:prstGeom prst="rect">
            <a:avLst/>
          </a:prstGeom>
          <a:noFill/>
        </p:spPr>
        <p:txBody>
          <a:bodyPr wrap="square" lIns="0" tIns="0" rIns="0" bIns="0" rtlCol="0" anchor="ctr">
            <a:normAutofit/>
          </a:bodyPr>
          <a:lstStyle/>
          <a:p>
            <a:pPr marL="0" indent="0">
              <a:buNone/>
            </a:pPr>
            <a:r>
              <a:rPr lang="en-US" sz="1080" dirty="0">
                <a:solidFill>
                  <a:srgbClr val="334155"/>
                </a:solidFill>
                <a:latin typeface="Aptos" pitchFamily="34" charset="0"/>
                <a:ea typeface="Aptos" pitchFamily="34" charset="-122"/>
                <a:cs typeface="Aptos" pitchFamily="34" charset="-120"/>
              </a:rPr>
              <a:t>The clean input was classified correctly.</a:t>
            </a:r>
            <a:endParaRPr lang="en-US" sz="1080" dirty="0"/>
          </a:p>
        </p:txBody>
      </p:sp>
      <p:sp>
        <p:nvSpPr>
          <p:cNvPr id="30" name="Shape 28"/>
          <p:cNvSpPr/>
          <p:nvPr/>
        </p:nvSpPr>
        <p:spPr>
          <a:xfrm>
            <a:off x="4736592" y="4709160"/>
            <a:ext cx="68580" cy="68580"/>
          </a:xfrm>
          <a:prstGeom prst="ellipse">
            <a:avLst/>
          </a:prstGeom>
          <a:solidFill>
            <a:srgbClr val="56E0FF"/>
          </a:solidFill>
          <a:ln w="12700">
            <a:solidFill>
              <a:srgbClr val="0E7490"/>
            </a:solidFill>
            <a:prstDash val="solid"/>
          </a:ln>
        </p:spPr>
        <p:txBody>
          <a:bodyPr/>
          <a:p/>
        </p:txBody>
      </p:sp>
      <p:sp>
        <p:nvSpPr>
          <p:cNvPr id="31" name="Text 29"/>
          <p:cNvSpPr/>
          <p:nvPr/>
        </p:nvSpPr>
        <p:spPr>
          <a:xfrm>
            <a:off x="4882896" y="4608576"/>
            <a:ext cx="6025896" cy="384048"/>
          </a:xfrm>
          <a:prstGeom prst="rect">
            <a:avLst/>
          </a:prstGeom>
          <a:noFill/>
        </p:spPr>
        <p:txBody>
          <a:bodyPr wrap="square" lIns="0" tIns="0" rIns="0" bIns="0" rtlCol="0" anchor="ctr">
            <a:normAutofit/>
          </a:bodyPr>
          <a:lstStyle/>
          <a:p>
            <a:pPr marL="0" indent="0">
              <a:buNone/>
            </a:pPr>
            <a:r>
              <a:rPr lang="en-US" sz="1080" dirty="0">
                <a:solidFill>
                  <a:srgbClr val="334155"/>
                </a:solidFill>
                <a:latin typeface="Aptos" pitchFamily="34" charset="0"/>
                <a:ea typeface="Aptos" pitchFamily="34" charset="-122"/>
                <a:cs typeface="Aptos" pitchFamily="34" charset="-120"/>
              </a:rPr>
              <a:t>A gradient-based perturbation changed the class.</a:t>
            </a:r>
            <a:endParaRPr lang="en-US" sz="1080" dirty="0"/>
          </a:p>
        </p:txBody>
      </p:sp>
      <p:sp>
        <p:nvSpPr>
          <p:cNvPr id="32" name="Shape 30"/>
          <p:cNvSpPr/>
          <p:nvPr/>
        </p:nvSpPr>
        <p:spPr>
          <a:xfrm>
            <a:off x="4736592" y="5248656"/>
            <a:ext cx="68580" cy="68580"/>
          </a:xfrm>
          <a:prstGeom prst="ellipse">
            <a:avLst/>
          </a:prstGeom>
          <a:solidFill>
            <a:srgbClr val="56E0FF"/>
          </a:solidFill>
          <a:ln w="12700">
            <a:solidFill>
              <a:srgbClr val="0E7490"/>
            </a:solidFill>
            <a:prstDash val="solid"/>
          </a:ln>
        </p:spPr>
        <p:txBody>
          <a:bodyPr/>
          <a:p/>
        </p:txBody>
      </p:sp>
      <p:sp>
        <p:nvSpPr>
          <p:cNvPr id="33" name="Text 31"/>
          <p:cNvSpPr/>
          <p:nvPr/>
        </p:nvSpPr>
        <p:spPr>
          <a:xfrm>
            <a:off x="4882896" y="5148072"/>
            <a:ext cx="6025896" cy="384048"/>
          </a:xfrm>
          <a:prstGeom prst="rect">
            <a:avLst/>
          </a:prstGeom>
          <a:noFill/>
        </p:spPr>
        <p:txBody>
          <a:bodyPr wrap="square" lIns="0" tIns="0" rIns="0" bIns="0" rtlCol="0" anchor="ctr">
            <a:normAutofit/>
          </a:bodyPr>
          <a:lstStyle/>
          <a:p>
            <a:pPr marL="0" indent="0">
              <a:buNone/>
            </a:pPr>
            <a:r>
              <a:rPr lang="en-US" sz="1080" dirty="0">
                <a:solidFill>
                  <a:srgbClr val="334155"/>
                </a:solidFill>
                <a:latin typeface="Aptos" pitchFamily="34" charset="0"/>
                <a:ea typeface="Aptos" pitchFamily="34" charset="-122"/>
                <a:cs typeface="Aptos" pitchFamily="34" charset="-120"/>
              </a:rPr>
              <a:t>This is a model-level white-box evasion result.</a:t>
            </a:r>
            <a:endParaRPr lang="en-US" sz="1080" dirty="0"/>
          </a:p>
        </p:txBody>
      </p:sp>
      <p:sp>
        <p:nvSpPr>
          <p:cNvPr id="34" name="Text 32"/>
          <p:cNvSpPr/>
          <p:nvPr/>
        </p:nvSpPr>
        <p:spPr>
          <a:xfrm>
            <a:off x="4736592" y="5742432"/>
            <a:ext cx="6035040" cy="201168"/>
          </a:xfrm>
          <a:prstGeom prst="rect">
            <a:avLst/>
          </a:prstGeom>
          <a:noFill/>
        </p:spPr>
        <p:txBody>
          <a:bodyPr wrap="square" lIns="0" tIns="0" rIns="0" bIns="0" rtlCol="0" anchor="ctr">
            <a:normAutofit/>
          </a:bodyPr>
          <a:lstStyle/>
          <a:p>
            <a:pPr marL="0" indent="0">
              <a:buNone/>
            </a:pPr>
            <a:r>
              <a:rPr lang="en-US" sz="880" dirty="0">
                <a:solidFill>
                  <a:srgbClr val="64748B"/>
                </a:solidFill>
                <a:latin typeface="Consolas" panose="020B0609020204030204" pitchFamily="34" charset="0"/>
                <a:ea typeface="Consolas" panose="020B0609020204030204" pitchFamily="34" charset="-122"/>
                <a:cs typeface="Consolas" panose="020B0609020204030204" pitchFamily="34" charset="-120"/>
              </a:rPr>
              <a:t>Evidence: attacks/attacks.py • run_fgsm.py • results/fgsm/</a:t>
            </a:r>
            <a:endParaRPr lang="en-US" sz="880" dirty="0"/>
          </a:p>
        </p:txBody>
      </p:sp>
      <p:sp>
        <p:nvSpPr>
          <p:cNvPr id="35" name="Text 33"/>
          <p:cNvSpPr/>
          <p:nvPr/>
        </p:nvSpPr>
        <p:spPr>
          <a:xfrm>
            <a:off x="11109960" y="6556248"/>
            <a:ext cx="457200" cy="164592"/>
          </a:xfrm>
          <a:prstGeom prst="rect">
            <a:avLst/>
          </a:prstGeom>
          <a:noFill/>
        </p:spPr>
        <p:txBody>
          <a:bodyPr wrap="square" lIns="0" tIns="0" rIns="0" bIns="0" rtlCol="0" anchor="ctr"/>
          <a:lstStyle/>
          <a:p>
            <a:pPr marL="0" indent="0" algn="r">
              <a:buNone/>
            </a:pPr>
            <a:r>
              <a:rPr lang="en-US" sz="800" dirty="0">
                <a:solidFill>
                  <a:srgbClr val="64748B"/>
                </a:solidFill>
                <a:latin typeface="Aptos" pitchFamily="34" charset="0"/>
                <a:ea typeface="Aptos" pitchFamily="34" charset="-122"/>
                <a:cs typeface="Aptos" pitchFamily="34" charset="-120"/>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320040"/>
            <a:ext cx="11365992" cy="0"/>
          </a:xfrm>
          <a:prstGeom prst="line">
            <a:avLst/>
          </a:prstGeom>
          <a:noFill/>
          <a:ln w="12700">
            <a:solidFill>
              <a:srgbClr val="E2E8F0"/>
            </a:solidFill>
            <a:prstDash val="solid"/>
          </a:ln>
        </p:spPr>
        <p:txBody>
          <a:bodyPr/>
          <a:p/>
        </p:txBody>
      </p:sp>
      <p:sp>
        <p:nvSpPr>
          <p:cNvPr id="3" name="Shape 1"/>
          <p:cNvSpPr/>
          <p:nvPr/>
        </p:nvSpPr>
        <p:spPr>
          <a:xfrm>
            <a:off x="411480" y="6492240"/>
            <a:ext cx="11365992" cy="0"/>
          </a:xfrm>
          <a:prstGeom prst="line">
            <a:avLst/>
          </a:prstGeom>
          <a:noFill/>
          <a:ln w="12700">
            <a:solidFill>
              <a:srgbClr val="E2E8F0"/>
            </a:solidFill>
            <a:prstDash val="solid"/>
          </a:ln>
        </p:spPr>
        <p:txBody>
          <a:bodyPr/>
          <a:p/>
        </p:txBody>
      </p:sp>
      <p:sp>
        <p:nvSpPr>
          <p:cNvPr id="4" name="Shape 2"/>
          <p:cNvSpPr/>
          <p:nvPr/>
        </p:nvSpPr>
        <p:spPr>
          <a:xfrm rot="1080000">
            <a:off x="10744200" y="-640080"/>
            <a:ext cx="1920240" cy="1920240"/>
          </a:xfrm>
          <a:prstGeom prst="arc">
            <a:avLst/>
          </a:prstGeom>
          <a:solidFill>
            <a:srgbClr val="FFFFFF">
              <a:alpha val="0"/>
            </a:srgbClr>
          </a:solidFill>
          <a:ln w="12700">
            <a:solidFill>
              <a:srgbClr val="E2E8F0">
                <a:alpha val="55000"/>
              </a:srgbClr>
            </a:solidFill>
            <a:prstDash val="solid"/>
          </a:ln>
        </p:spPr>
        <p:txBody>
          <a:bodyPr/>
          <a:p/>
        </p:txBody>
      </p:sp>
      <p:sp>
        <p:nvSpPr>
          <p:cNvPr id="5" name="Text 3"/>
          <p:cNvSpPr/>
          <p:nvPr/>
        </p:nvSpPr>
        <p:spPr>
          <a:xfrm>
            <a:off x="502920" y="73152"/>
            <a:ext cx="3840480" cy="182880"/>
          </a:xfrm>
          <a:prstGeom prst="rect">
            <a:avLst/>
          </a:prstGeom>
          <a:noFill/>
        </p:spPr>
        <p:txBody>
          <a:bodyPr wrap="square" lIns="0" tIns="0" rIns="0" bIns="0" rtlCol="0" anchor="ctr"/>
          <a:lstStyle/>
          <a:p>
            <a:pPr marL="0" indent="0">
              <a:buNone/>
            </a:pPr>
            <a:r>
              <a:rPr lang="en-US" sz="900" b="1" kern="0" spc="140" dirty="0">
                <a:solidFill>
                  <a:srgbClr val="0E7490"/>
                </a:solidFill>
                <a:latin typeface="Aptos" pitchFamily="34" charset="0"/>
                <a:ea typeface="Aptos" pitchFamily="34" charset="-122"/>
                <a:cs typeface="Aptos" pitchFamily="34" charset="-120"/>
              </a:rPr>
              <a:t>PGD</a:t>
            </a:r>
            <a:endParaRPr lang="en-US" sz="900" dirty="0"/>
          </a:p>
        </p:txBody>
      </p:sp>
      <p:sp>
        <p:nvSpPr>
          <p:cNvPr id="6" name="Text 4"/>
          <p:cNvSpPr/>
          <p:nvPr/>
        </p:nvSpPr>
        <p:spPr>
          <a:xfrm>
            <a:off x="502920" y="530352"/>
            <a:ext cx="10561320" cy="502920"/>
          </a:xfrm>
          <a:prstGeom prst="rect">
            <a:avLst/>
          </a:prstGeom>
          <a:noFill/>
        </p:spPr>
        <p:txBody>
          <a:bodyPr wrap="square" lIns="0" tIns="0" rIns="0" bIns="0" rtlCol="0" anchor="ctr">
            <a:normAutofit/>
          </a:bodyP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08 • Attack Result — PGD</a:t>
            </a:r>
            <a:endParaRPr lang="en-US" sz="2500" dirty="0"/>
          </a:p>
        </p:txBody>
      </p:sp>
      <p:sp>
        <p:nvSpPr>
          <p:cNvPr id="7" name="Text 5"/>
          <p:cNvSpPr/>
          <p:nvPr/>
        </p:nvSpPr>
        <p:spPr>
          <a:xfrm>
            <a:off x="530352" y="1060704"/>
            <a:ext cx="10332720" cy="347472"/>
          </a:xfrm>
          <a:prstGeom prst="rect">
            <a:avLst/>
          </a:prstGeom>
          <a:noFill/>
        </p:spPr>
        <p:txBody>
          <a:bodyPr wrap="square" lIns="0" tIns="0" rIns="0" bIns="0" rtlCol="0" anchor="ctr">
            <a:normAutofit/>
          </a:bodyPr>
          <a:lstStyle/>
          <a:p>
            <a:pPr marL="0" indent="0">
              <a:buNone/>
            </a:pPr>
            <a:r>
              <a:rPr lang="en-US" sz="1150" dirty="0">
                <a:solidFill>
                  <a:srgbClr val="64748B"/>
                </a:solidFill>
                <a:latin typeface="Aptos" pitchFamily="34" charset="0"/>
                <a:ea typeface="Aptos" pitchFamily="34" charset="-122"/>
                <a:cs typeface="Aptos" pitchFamily="34" charset="-120"/>
              </a:rPr>
              <a:t>Repeated optimization produced a different, highly confident wrong class.</a:t>
            </a:r>
            <a:endParaRPr lang="en-US" sz="1150" dirty="0"/>
          </a:p>
        </p:txBody>
      </p:sp>
      <p:sp>
        <p:nvSpPr>
          <p:cNvPr id="8" name="Shape 6"/>
          <p:cNvSpPr/>
          <p:nvPr/>
        </p:nvSpPr>
        <p:spPr>
          <a:xfrm>
            <a:off x="530352" y="1627632"/>
            <a:ext cx="3657600" cy="4480560"/>
          </a:xfrm>
          <a:prstGeom prst="roundRect">
            <a:avLst>
              <a:gd name="adj" fmla="val 2000"/>
            </a:avLst>
          </a:prstGeom>
          <a:solidFill>
            <a:srgbClr val="F8FAFC"/>
          </a:solidFill>
          <a:ln w="12700">
            <a:solidFill>
              <a:srgbClr val="E2E8F0">
                <a:alpha val="90000"/>
              </a:srgbClr>
            </a:solidFill>
            <a:prstDash val="solid"/>
          </a:ln>
        </p:spPr>
        <p:txBody>
          <a:bodyPr/>
          <a:p/>
        </p:txBody>
      </p:sp>
      <p:sp>
        <p:nvSpPr>
          <p:cNvPr id="9" name="Text 7"/>
          <p:cNvSpPr/>
          <p:nvPr/>
        </p:nvSpPr>
        <p:spPr>
          <a:xfrm>
            <a:off x="822960" y="1920240"/>
            <a:ext cx="1051560" cy="182880"/>
          </a:xfrm>
          <a:prstGeom prst="rect">
            <a:avLst/>
          </a:prstGeom>
          <a:noFill/>
        </p:spPr>
        <p:txBody>
          <a:bodyPr wrap="square" lIns="0" tIns="0" rIns="0" bIns="0" rtlCol="0" anchor="ctr"/>
          <a:lstStyle/>
          <a:p>
            <a:pPr marL="0" indent="0" algn="ctr">
              <a:buNone/>
            </a:pPr>
            <a:r>
              <a:rPr lang="en-US" sz="900" b="1" dirty="0">
                <a:solidFill>
                  <a:srgbClr val="64748B"/>
                </a:solidFill>
                <a:latin typeface="Aptos" pitchFamily="34" charset="0"/>
                <a:ea typeface="Aptos" pitchFamily="34" charset="-122"/>
                <a:cs typeface="Aptos" pitchFamily="34" charset="-120"/>
              </a:rPr>
              <a:t>TRUE LABEL</a:t>
            </a:r>
            <a:endParaRPr lang="en-US" sz="900" dirty="0"/>
          </a:p>
        </p:txBody>
      </p:sp>
      <p:sp>
        <p:nvSpPr>
          <p:cNvPr id="10" name="Text 8"/>
          <p:cNvSpPr/>
          <p:nvPr/>
        </p:nvSpPr>
        <p:spPr>
          <a:xfrm>
            <a:off x="1280160" y="2194560"/>
            <a:ext cx="1828800" cy="1280160"/>
          </a:xfrm>
          <a:prstGeom prst="rect">
            <a:avLst/>
          </a:prstGeom>
          <a:noFill/>
        </p:spPr>
        <p:txBody>
          <a:bodyPr wrap="square" lIns="0" tIns="0" rIns="0" bIns="0" rtlCol="0" anchor="ctr"/>
          <a:lstStyle/>
          <a:p>
            <a:pPr marL="0" indent="0" algn="ctr">
              <a:buNone/>
            </a:pPr>
            <a:r>
              <a:rPr lang="en-US" sz="8200" b="1" dirty="0">
                <a:solidFill>
                  <a:srgbClr val="0E7490"/>
                </a:solidFill>
                <a:latin typeface="Aptos Display" pitchFamily="34" charset="0"/>
                <a:ea typeface="Aptos Display" pitchFamily="34" charset="-122"/>
                <a:cs typeface="Aptos Display" pitchFamily="34" charset="-120"/>
              </a:rPr>
              <a:t>7</a:t>
            </a:r>
            <a:endParaRPr lang="en-US" sz="8200" dirty="0"/>
          </a:p>
        </p:txBody>
      </p:sp>
      <p:sp>
        <p:nvSpPr>
          <p:cNvPr id="11" name="Shape 9"/>
          <p:cNvSpPr/>
          <p:nvPr/>
        </p:nvSpPr>
        <p:spPr>
          <a:xfrm>
            <a:off x="1143000" y="3840480"/>
            <a:ext cx="2057400" cy="0"/>
          </a:xfrm>
          <a:prstGeom prst="line">
            <a:avLst/>
          </a:prstGeom>
          <a:noFill/>
          <a:ln w="19050">
            <a:solidFill>
              <a:srgbClr val="E2E8F0"/>
            </a:solidFill>
            <a:prstDash val="solid"/>
          </a:ln>
        </p:spPr>
        <p:txBody>
          <a:bodyPr/>
          <a:p/>
        </p:txBody>
      </p:sp>
      <p:sp>
        <p:nvSpPr>
          <p:cNvPr id="12" name="Text 10"/>
          <p:cNvSpPr/>
          <p:nvPr/>
        </p:nvSpPr>
        <p:spPr>
          <a:xfrm>
            <a:off x="1143000" y="4096512"/>
            <a:ext cx="2103120" cy="228600"/>
          </a:xfrm>
          <a:prstGeom prst="rect">
            <a:avLst/>
          </a:prstGeom>
          <a:noFill/>
        </p:spPr>
        <p:txBody>
          <a:bodyPr wrap="square" lIns="0" tIns="0" rIns="0" bIns="0" rtlCol="0" anchor="ctr"/>
          <a:lstStyle/>
          <a:p>
            <a:pPr marL="0" indent="0" algn="ctr">
              <a:buNone/>
            </a:pPr>
            <a:r>
              <a:rPr lang="en-US" sz="1000" b="1" dirty="0">
                <a:solidFill>
                  <a:srgbClr val="A16207"/>
                </a:solidFill>
                <a:latin typeface="Aptos" pitchFamily="34" charset="0"/>
                <a:ea typeface="Aptos" pitchFamily="34" charset="-122"/>
                <a:cs typeface="Aptos" pitchFamily="34" charset="-120"/>
              </a:rPr>
              <a:t>PGD</a:t>
            </a:r>
            <a:endParaRPr lang="en-US" sz="1000" dirty="0"/>
          </a:p>
        </p:txBody>
      </p:sp>
      <p:sp>
        <p:nvSpPr>
          <p:cNvPr id="13" name="Text 11"/>
          <p:cNvSpPr/>
          <p:nvPr/>
        </p:nvSpPr>
        <p:spPr>
          <a:xfrm>
            <a:off x="914400" y="4480560"/>
            <a:ext cx="2560320" cy="548640"/>
          </a:xfrm>
          <a:prstGeom prst="rect">
            <a:avLst/>
          </a:prstGeom>
          <a:noFill/>
        </p:spPr>
        <p:txBody>
          <a:bodyPr wrap="square" lIns="0" tIns="0" rIns="0" bIns="0" rtlCol="0" anchor="ctr"/>
          <a:lstStyle/>
          <a:p>
            <a:pPr marL="0" indent="0" algn="ctr">
              <a:buNone/>
            </a:pPr>
            <a:r>
              <a:rPr lang="en-US" sz="3000" b="1" dirty="0">
                <a:solidFill>
                  <a:srgbClr val="0F172A"/>
                </a:solidFill>
                <a:latin typeface="Aptos Display" pitchFamily="34" charset="0"/>
                <a:ea typeface="Aptos Display" pitchFamily="34" charset="-122"/>
                <a:cs typeface="Aptos Display" pitchFamily="34" charset="-120"/>
              </a:rPr>
              <a:t>7  →  3</a:t>
            </a:r>
            <a:endParaRPr lang="en-US" sz="3000" dirty="0"/>
          </a:p>
        </p:txBody>
      </p:sp>
      <p:sp>
        <p:nvSpPr>
          <p:cNvPr id="14" name="Shape 12"/>
          <p:cNvSpPr/>
          <p:nvPr/>
        </p:nvSpPr>
        <p:spPr>
          <a:xfrm>
            <a:off x="1005840" y="5230368"/>
            <a:ext cx="2331720" cy="292608"/>
          </a:xfrm>
          <a:prstGeom prst="roundRect">
            <a:avLst>
              <a:gd name="adj" fmla="val 25000"/>
            </a:avLst>
          </a:prstGeom>
          <a:solidFill>
            <a:srgbClr val="FFC857">
              <a:alpha val="14000"/>
            </a:srgbClr>
          </a:solidFill>
          <a:ln w="12700">
            <a:solidFill>
              <a:srgbClr val="A16207">
                <a:alpha val="0"/>
              </a:srgbClr>
            </a:solidFill>
            <a:prstDash val="solid"/>
          </a:ln>
        </p:spPr>
        <p:txBody>
          <a:bodyPr/>
          <a:p/>
        </p:txBody>
      </p:sp>
      <p:sp>
        <p:nvSpPr>
          <p:cNvPr id="15" name="Text 13"/>
          <p:cNvSpPr/>
          <p:nvPr/>
        </p:nvSpPr>
        <p:spPr>
          <a:xfrm>
            <a:off x="1078992" y="5280660"/>
            <a:ext cx="2185416" cy="146304"/>
          </a:xfrm>
          <a:prstGeom prst="rect">
            <a:avLst/>
          </a:prstGeom>
          <a:noFill/>
        </p:spPr>
        <p:txBody>
          <a:bodyPr wrap="square" lIns="0" tIns="0" rIns="0" bIns="0" rtlCol="0" anchor="ctr">
            <a:normAutofit/>
          </a:bodyPr>
          <a:lstStyle/>
          <a:p>
            <a:pPr marL="0" indent="0" algn="ctr">
              <a:buNone/>
            </a:pPr>
            <a:r>
              <a:rPr lang="en-US" sz="850" b="1" dirty="0">
                <a:solidFill>
                  <a:srgbClr val="A16207"/>
                </a:solidFill>
                <a:latin typeface="Aptos" pitchFamily="34" charset="0"/>
                <a:ea typeface="Aptos" pitchFamily="34" charset="-122"/>
                <a:cs typeface="Aptos" pitchFamily="34" charset="-120"/>
              </a:rPr>
              <a:t>ATTACK SUCCEEDED</a:t>
            </a:r>
            <a:endParaRPr lang="en-US" sz="850" dirty="0"/>
          </a:p>
        </p:txBody>
      </p:sp>
      <p:sp>
        <p:nvSpPr>
          <p:cNvPr id="16" name="Shape 14"/>
          <p:cNvSpPr/>
          <p:nvPr/>
        </p:nvSpPr>
        <p:spPr>
          <a:xfrm>
            <a:off x="4443984" y="1627632"/>
            <a:ext cx="7214616" cy="4480560"/>
          </a:xfrm>
          <a:prstGeom prst="roundRect">
            <a:avLst>
              <a:gd name="adj" fmla="val 1633"/>
            </a:avLst>
          </a:prstGeom>
          <a:solidFill>
            <a:srgbClr val="F1F5F9"/>
          </a:solidFill>
          <a:ln w="12700">
            <a:solidFill>
              <a:srgbClr val="E2E8F0">
                <a:alpha val="90000"/>
              </a:srgbClr>
            </a:solidFill>
            <a:prstDash val="solid"/>
          </a:ln>
        </p:spPr>
        <p:txBody>
          <a:bodyPr/>
          <a:p/>
        </p:txBody>
      </p:sp>
      <p:sp>
        <p:nvSpPr>
          <p:cNvPr id="17" name="Shape 15"/>
          <p:cNvSpPr/>
          <p:nvPr/>
        </p:nvSpPr>
        <p:spPr>
          <a:xfrm>
            <a:off x="4736592" y="1956816"/>
            <a:ext cx="1874520" cy="1298448"/>
          </a:xfrm>
          <a:prstGeom prst="roundRect">
            <a:avLst>
              <a:gd name="adj" fmla="val 5634"/>
            </a:avLst>
          </a:prstGeom>
          <a:solidFill>
            <a:srgbClr val="F1F5F9"/>
          </a:solidFill>
          <a:ln w="12700">
            <a:solidFill>
              <a:srgbClr val="E2E8F0">
                <a:alpha val="90000"/>
              </a:srgbClr>
            </a:solidFill>
            <a:prstDash val="solid"/>
          </a:ln>
        </p:spPr>
        <p:txBody>
          <a:bodyPr/>
          <a:p/>
        </p:txBody>
      </p:sp>
      <p:sp>
        <p:nvSpPr>
          <p:cNvPr id="18" name="Text 16"/>
          <p:cNvSpPr/>
          <p:nvPr/>
        </p:nvSpPr>
        <p:spPr>
          <a:xfrm>
            <a:off x="4873752" y="2103120"/>
            <a:ext cx="1600200" cy="502920"/>
          </a:xfrm>
          <a:prstGeom prst="rect">
            <a:avLst/>
          </a:prstGeom>
          <a:noFill/>
        </p:spPr>
        <p:txBody>
          <a:bodyPr wrap="square" lIns="0" tIns="0" rIns="0" bIns="0" rtlCol="0" anchor="ctr">
            <a:normAutofit/>
          </a:bodyPr>
          <a:lstStyle/>
          <a:p>
            <a:pPr marL="0" indent="0" algn="l">
              <a:buNone/>
            </a:pPr>
            <a:r>
              <a:rPr lang="en-US" sz="2600" b="1" dirty="0">
                <a:solidFill>
                  <a:srgbClr val="A16207"/>
                </a:solidFill>
                <a:latin typeface="Aptos Display" pitchFamily="34" charset="0"/>
                <a:ea typeface="Aptos Display" pitchFamily="34" charset="-122"/>
                <a:cs typeface="Aptos Display" pitchFamily="34" charset="-120"/>
              </a:rPr>
              <a:t>0.2</a:t>
            </a:r>
            <a:endParaRPr lang="en-US" sz="2600" dirty="0"/>
          </a:p>
        </p:txBody>
      </p:sp>
      <p:sp>
        <p:nvSpPr>
          <p:cNvPr id="19" name="Text 17"/>
          <p:cNvSpPr/>
          <p:nvPr/>
        </p:nvSpPr>
        <p:spPr>
          <a:xfrm>
            <a:off x="4882896" y="2651760"/>
            <a:ext cx="1581912" cy="292608"/>
          </a:xfrm>
          <a:prstGeom prst="rect">
            <a:avLst/>
          </a:prstGeom>
          <a:noFill/>
        </p:spPr>
        <p:txBody>
          <a:bodyPr wrap="square" lIns="0" tIns="0" rIns="0" bIns="0" rtlCol="0" anchor="ctr">
            <a:normAutofit/>
          </a:bodyPr>
          <a:lstStyle/>
          <a:p>
            <a:pPr marL="0" indent="0">
              <a:buNone/>
            </a:pPr>
            <a:r>
              <a:rPr lang="en-US" sz="950" dirty="0">
                <a:solidFill>
                  <a:srgbClr val="64748B"/>
                </a:solidFill>
                <a:latin typeface="Aptos" pitchFamily="34" charset="0"/>
                <a:ea typeface="Aptos" pitchFamily="34" charset="-122"/>
                <a:cs typeface="Aptos" pitchFamily="34" charset="-120"/>
              </a:rPr>
              <a:t>epsilon</a:t>
            </a:r>
            <a:endParaRPr lang="en-US" sz="950" dirty="0"/>
          </a:p>
        </p:txBody>
      </p:sp>
      <p:sp>
        <p:nvSpPr>
          <p:cNvPr id="20" name="Shape 18"/>
          <p:cNvSpPr/>
          <p:nvPr/>
        </p:nvSpPr>
        <p:spPr>
          <a:xfrm>
            <a:off x="6812280" y="1956816"/>
            <a:ext cx="1874520" cy="1298448"/>
          </a:xfrm>
          <a:prstGeom prst="roundRect">
            <a:avLst>
              <a:gd name="adj" fmla="val 5634"/>
            </a:avLst>
          </a:prstGeom>
          <a:solidFill>
            <a:srgbClr val="F1F5F9"/>
          </a:solidFill>
          <a:ln w="12700">
            <a:solidFill>
              <a:srgbClr val="E2E8F0">
                <a:alpha val="90000"/>
              </a:srgbClr>
            </a:solidFill>
            <a:prstDash val="solid"/>
          </a:ln>
        </p:spPr>
        <p:txBody>
          <a:bodyPr/>
          <a:p/>
        </p:txBody>
      </p:sp>
      <p:sp>
        <p:nvSpPr>
          <p:cNvPr id="21" name="Text 19"/>
          <p:cNvSpPr/>
          <p:nvPr/>
        </p:nvSpPr>
        <p:spPr>
          <a:xfrm>
            <a:off x="6949440" y="2103120"/>
            <a:ext cx="1600200" cy="502920"/>
          </a:xfrm>
          <a:prstGeom prst="rect">
            <a:avLst/>
          </a:prstGeom>
          <a:noFill/>
        </p:spPr>
        <p:txBody>
          <a:bodyPr wrap="square" lIns="0" tIns="0" rIns="0" bIns="0" rtlCol="0" anchor="ctr">
            <a:normAutofit/>
          </a:bodyPr>
          <a:lstStyle/>
          <a:p>
            <a:pPr marL="0" indent="0" algn="l">
              <a:buNone/>
            </a:pPr>
            <a:r>
              <a:rPr lang="en-US" sz="2600" b="1" dirty="0">
                <a:solidFill>
                  <a:srgbClr val="6D28D9"/>
                </a:solidFill>
                <a:latin typeface="Aptos Display" pitchFamily="34" charset="0"/>
                <a:ea typeface="Aptos Display" pitchFamily="34" charset="-122"/>
                <a:cs typeface="Aptos Display" pitchFamily="34" charset="-120"/>
              </a:rPr>
              <a:t>0.01</a:t>
            </a:r>
            <a:endParaRPr lang="en-US" sz="2600" dirty="0"/>
          </a:p>
        </p:txBody>
      </p:sp>
      <p:sp>
        <p:nvSpPr>
          <p:cNvPr id="22" name="Text 20"/>
          <p:cNvSpPr/>
          <p:nvPr/>
        </p:nvSpPr>
        <p:spPr>
          <a:xfrm>
            <a:off x="6958584" y="2651760"/>
            <a:ext cx="1581912" cy="292608"/>
          </a:xfrm>
          <a:prstGeom prst="rect">
            <a:avLst/>
          </a:prstGeom>
          <a:noFill/>
        </p:spPr>
        <p:txBody>
          <a:bodyPr wrap="square" lIns="0" tIns="0" rIns="0" bIns="0" rtlCol="0" anchor="ctr">
            <a:normAutofit/>
          </a:bodyPr>
          <a:lstStyle/>
          <a:p>
            <a:pPr marL="0" indent="0">
              <a:buNone/>
            </a:pPr>
            <a:r>
              <a:rPr lang="en-US" sz="950" dirty="0">
                <a:solidFill>
                  <a:srgbClr val="64748B"/>
                </a:solidFill>
                <a:latin typeface="Aptos" pitchFamily="34" charset="0"/>
                <a:ea typeface="Aptos" pitchFamily="34" charset="-122"/>
                <a:cs typeface="Aptos" pitchFamily="34" charset="-120"/>
              </a:rPr>
              <a:t>alpha</a:t>
            </a:r>
            <a:endParaRPr lang="en-US" sz="950" dirty="0"/>
          </a:p>
        </p:txBody>
      </p:sp>
      <p:sp>
        <p:nvSpPr>
          <p:cNvPr id="23" name="Shape 21"/>
          <p:cNvSpPr/>
          <p:nvPr/>
        </p:nvSpPr>
        <p:spPr>
          <a:xfrm>
            <a:off x="8887968" y="1956816"/>
            <a:ext cx="1828800" cy="1298448"/>
          </a:xfrm>
          <a:prstGeom prst="roundRect">
            <a:avLst>
              <a:gd name="adj" fmla="val 5634"/>
            </a:avLst>
          </a:prstGeom>
          <a:solidFill>
            <a:srgbClr val="F1F5F9"/>
          </a:solidFill>
          <a:ln w="12700">
            <a:solidFill>
              <a:srgbClr val="E2E8F0">
                <a:alpha val="90000"/>
              </a:srgbClr>
            </a:solidFill>
            <a:prstDash val="solid"/>
          </a:ln>
        </p:spPr>
        <p:txBody>
          <a:bodyPr/>
          <a:p/>
        </p:txBody>
      </p:sp>
      <p:sp>
        <p:nvSpPr>
          <p:cNvPr id="24" name="Text 22"/>
          <p:cNvSpPr/>
          <p:nvPr/>
        </p:nvSpPr>
        <p:spPr>
          <a:xfrm>
            <a:off x="9025128" y="2103120"/>
            <a:ext cx="1554480" cy="502920"/>
          </a:xfrm>
          <a:prstGeom prst="rect">
            <a:avLst/>
          </a:prstGeom>
          <a:noFill/>
        </p:spPr>
        <p:txBody>
          <a:bodyPr wrap="square" lIns="0" tIns="0" rIns="0" bIns="0" rtlCol="0" anchor="ctr">
            <a:normAutofit/>
          </a:bodyPr>
          <a:lstStyle/>
          <a:p>
            <a:pPr marL="0" indent="0" algn="l">
              <a:buNone/>
            </a:pPr>
            <a:r>
              <a:rPr lang="en-US" sz="2600" b="1" dirty="0">
                <a:solidFill>
                  <a:srgbClr val="2563EB"/>
                </a:solidFill>
                <a:latin typeface="Aptos Display" pitchFamily="34" charset="0"/>
                <a:ea typeface="Aptos Display" pitchFamily="34" charset="-122"/>
                <a:cs typeface="Aptos Display" pitchFamily="34" charset="-120"/>
              </a:rPr>
              <a:t>40</a:t>
            </a:r>
            <a:endParaRPr lang="en-US" sz="2600" dirty="0"/>
          </a:p>
        </p:txBody>
      </p:sp>
      <p:sp>
        <p:nvSpPr>
          <p:cNvPr id="25" name="Text 23"/>
          <p:cNvSpPr/>
          <p:nvPr/>
        </p:nvSpPr>
        <p:spPr>
          <a:xfrm>
            <a:off x="9034272" y="2651760"/>
            <a:ext cx="1536192" cy="292608"/>
          </a:xfrm>
          <a:prstGeom prst="rect">
            <a:avLst/>
          </a:prstGeom>
          <a:noFill/>
        </p:spPr>
        <p:txBody>
          <a:bodyPr wrap="square" lIns="0" tIns="0" rIns="0" bIns="0" rtlCol="0" anchor="ctr">
            <a:normAutofit/>
          </a:bodyPr>
          <a:lstStyle/>
          <a:p>
            <a:pPr marL="0" indent="0">
              <a:buNone/>
            </a:pPr>
            <a:r>
              <a:rPr lang="en-US" sz="950" dirty="0">
                <a:solidFill>
                  <a:srgbClr val="64748B"/>
                </a:solidFill>
                <a:latin typeface="Aptos" pitchFamily="34" charset="0"/>
                <a:ea typeface="Aptos" pitchFamily="34" charset="-122"/>
                <a:cs typeface="Aptos" pitchFamily="34" charset="-120"/>
              </a:rPr>
              <a:t>iterations</a:t>
            </a:r>
            <a:endParaRPr lang="en-US" sz="950" dirty="0"/>
          </a:p>
        </p:txBody>
      </p:sp>
      <p:sp>
        <p:nvSpPr>
          <p:cNvPr id="26" name="Shape 24"/>
          <p:cNvSpPr/>
          <p:nvPr/>
        </p:nvSpPr>
        <p:spPr>
          <a:xfrm>
            <a:off x="4736592" y="3611880"/>
            <a:ext cx="45720" cy="274320"/>
          </a:xfrm>
          <a:prstGeom prst="rect">
            <a:avLst/>
          </a:prstGeom>
          <a:solidFill>
            <a:srgbClr val="FFC857"/>
          </a:solidFill>
          <a:ln w="12700">
            <a:solidFill>
              <a:srgbClr val="A16207"/>
            </a:solidFill>
            <a:prstDash val="solid"/>
          </a:ln>
        </p:spPr>
        <p:txBody>
          <a:bodyPr/>
          <a:p/>
        </p:txBody>
      </p:sp>
      <p:sp>
        <p:nvSpPr>
          <p:cNvPr id="27" name="Text 25"/>
          <p:cNvSpPr/>
          <p:nvPr/>
        </p:nvSpPr>
        <p:spPr>
          <a:xfrm>
            <a:off x="4864608" y="3607308"/>
            <a:ext cx="5952744" cy="274320"/>
          </a:xfrm>
          <a:prstGeom prst="rect">
            <a:avLst/>
          </a:prstGeom>
          <a:noFill/>
        </p:spPr>
        <p:txBody>
          <a:bodyPr wrap="square" lIns="0" tIns="0" rIns="0" bIns="0" rtlCol="0" anchor="ctr">
            <a:normAutofit/>
          </a:bodyPr>
          <a:lstStyle/>
          <a:p>
            <a:pPr marL="0" indent="0">
              <a:buNone/>
            </a:pPr>
            <a:r>
              <a:rPr lang="en-US" sz="1250" b="1" dirty="0">
                <a:solidFill>
                  <a:srgbClr val="0F172A"/>
                </a:solidFill>
                <a:latin typeface="Aptos" pitchFamily="34" charset="0"/>
                <a:ea typeface="Aptos" pitchFamily="34" charset="-122"/>
                <a:cs typeface="Aptos" pitchFamily="34" charset="-120"/>
              </a:rPr>
              <a:t>Observed final prediction</a:t>
            </a:r>
            <a:endParaRPr lang="en-US" sz="1250" dirty="0"/>
          </a:p>
        </p:txBody>
      </p:sp>
      <p:sp>
        <p:nvSpPr>
          <p:cNvPr id="28" name="Text 26"/>
          <p:cNvSpPr/>
          <p:nvPr/>
        </p:nvSpPr>
        <p:spPr>
          <a:xfrm>
            <a:off x="4736592" y="3959352"/>
            <a:ext cx="1097280" cy="749808"/>
          </a:xfrm>
          <a:prstGeom prst="rect">
            <a:avLst/>
          </a:prstGeom>
          <a:noFill/>
        </p:spPr>
        <p:txBody>
          <a:bodyPr wrap="square" lIns="0" tIns="0" rIns="0" bIns="0" rtlCol="0" anchor="ctr"/>
          <a:lstStyle/>
          <a:p>
            <a:pPr marL="0" indent="0">
              <a:buNone/>
            </a:pPr>
            <a:r>
              <a:rPr lang="en-US" sz="4300" b="1" dirty="0">
                <a:solidFill>
                  <a:srgbClr val="A16207"/>
                </a:solidFill>
                <a:latin typeface="Aptos Display" pitchFamily="34" charset="0"/>
                <a:ea typeface="Aptos Display" pitchFamily="34" charset="-122"/>
                <a:cs typeface="Aptos Display" pitchFamily="34" charset="-120"/>
              </a:rPr>
              <a:t>3</a:t>
            </a:r>
            <a:endParaRPr lang="en-US" sz="4300" dirty="0"/>
          </a:p>
        </p:txBody>
      </p:sp>
      <p:sp>
        <p:nvSpPr>
          <p:cNvPr id="29" name="Text 27"/>
          <p:cNvSpPr/>
          <p:nvPr/>
        </p:nvSpPr>
        <p:spPr>
          <a:xfrm>
            <a:off x="5806440" y="4224528"/>
            <a:ext cx="2240280" cy="292608"/>
          </a:xfrm>
          <a:prstGeom prst="rect">
            <a:avLst/>
          </a:prstGeom>
          <a:noFill/>
        </p:spPr>
        <p:txBody>
          <a:bodyPr wrap="square" lIns="0" tIns="0" rIns="0" bIns="0" rtlCol="0" anchor="ctr"/>
          <a:lstStyle/>
          <a:p>
            <a:pPr marL="0" indent="0">
              <a:buNone/>
            </a:pPr>
            <a:r>
              <a:rPr lang="en-US" sz="1300" dirty="0">
                <a:solidFill>
                  <a:srgbClr val="0F172A"/>
                </a:solidFill>
                <a:latin typeface="Aptos" pitchFamily="34" charset="0"/>
                <a:ea typeface="Aptos" pitchFamily="34" charset="-122"/>
                <a:cs typeface="Aptos" pitchFamily="34" charset="-120"/>
              </a:rPr>
              <a:t>confidence ≈ 0.9999</a:t>
            </a:r>
            <a:endParaRPr lang="en-US" sz="1300" dirty="0"/>
          </a:p>
        </p:txBody>
      </p:sp>
      <p:sp>
        <p:nvSpPr>
          <p:cNvPr id="30" name="Shape 28"/>
          <p:cNvSpPr/>
          <p:nvPr/>
        </p:nvSpPr>
        <p:spPr>
          <a:xfrm>
            <a:off x="4736592" y="4919472"/>
            <a:ext cx="68580" cy="68580"/>
          </a:xfrm>
          <a:prstGeom prst="ellipse">
            <a:avLst/>
          </a:prstGeom>
          <a:solidFill>
            <a:srgbClr val="56E0FF"/>
          </a:solidFill>
          <a:ln w="12700">
            <a:solidFill>
              <a:srgbClr val="0E7490"/>
            </a:solidFill>
            <a:prstDash val="solid"/>
          </a:ln>
        </p:spPr>
        <p:txBody>
          <a:bodyPr/>
          <a:p/>
        </p:txBody>
      </p:sp>
      <p:sp>
        <p:nvSpPr>
          <p:cNvPr id="31" name="Text 29"/>
          <p:cNvSpPr/>
          <p:nvPr/>
        </p:nvSpPr>
        <p:spPr>
          <a:xfrm>
            <a:off x="4882896" y="4818888"/>
            <a:ext cx="6025896" cy="384048"/>
          </a:xfrm>
          <a:prstGeom prst="rect">
            <a:avLst/>
          </a:prstGeom>
          <a:noFill/>
        </p:spPr>
        <p:txBody>
          <a:bodyPr wrap="square" lIns="0" tIns="0" rIns="0" bIns="0" rtlCol="0" anchor="ctr">
            <a:normAutofit/>
          </a:bodyPr>
          <a:lstStyle/>
          <a:p>
            <a:pPr marL="0" indent="0">
              <a:buNone/>
            </a:pPr>
            <a:r>
              <a:rPr lang="en-US" sz="1080" dirty="0">
                <a:solidFill>
                  <a:srgbClr val="334155"/>
                </a:solidFill>
                <a:latin typeface="Aptos" pitchFamily="34" charset="0"/>
                <a:ea typeface="Aptos" pitchFamily="34" charset="-122"/>
                <a:cs typeface="Aptos" pitchFamily="34" charset="-120"/>
              </a:rPr>
              <a:t>The wrong class remained highly confident.</a:t>
            </a:r>
            <a:endParaRPr lang="en-US" sz="1080" dirty="0"/>
          </a:p>
        </p:txBody>
      </p:sp>
      <p:sp>
        <p:nvSpPr>
          <p:cNvPr id="32" name="Shape 30"/>
          <p:cNvSpPr/>
          <p:nvPr/>
        </p:nvSpPr>
        <p:spPr>
          <a:xfrm>
            <a:off x="4736592" y="5449824"/>
            <a:ext cx="68580" cy="68580"/>
          </a:xfrm>
          <a:prstGeom prst="ellipse">
            <a:avLst/>
          </a:prstGeom>
          <a:solidFill>
            <a:srgbClr val="56E0FF"/>
          </a:solidFill>
          <a:ln w="12700">
            <a:solidFill>
              <a:srgbClr val="0E7490"/>
            </a:solidFill>
            <a:prstDash val="solid"/>
          </a:ln>
        </p:spPr>
        <p:txBody>
          <a:bodyPr/>
          <a:p/>
        </p:txBody>
      </p:sp>
      <p:sp>
        <p:nvSpPr>
          <p:cNvPr id="33" name="Text 31"/>
          <p:cNvSpPr/>
          <p:nvPr/>
        </p:nvSpPr>
        <p:spPr>
          <a:xfrm>
            <a:off x="4882896" y="5349240"/>
            <a:ext cx="6025896" cy="384048"/>
          </a:xfrm>
          <a:prstGeom prst="rect">
            <a:avLst/>
          </a:prstGeom>
          <a:noFill/>
        </p:spPr>
        <p:txBody>
          <a:bodyPr wrap="square" lIns="0" tIns="0" rIns="0" bIns="0" rtlCol="0" anchor="ctr">
            <a:normAutofit/>
          </a:bodyPr>
          <a:lstStyle/>
          <a:p>
            <a:pPr marL="0" indent="0">
              <a:buNone/>
            </a:pPr>
            <a:r>
              <a:rPr lang="en-US" sz="1060" dirty="0">
                <a:solidFill>
                  <a:srgbClr val="334155"/>
                </a:solidFill>
                <a:latin typeface="Aptos" pitchFamily="34" charset="0"/>
                <a:ea typeface="Aptos" pitchFamily="34" charset="-122"/>
                <a:cs typeface="Aptos" pitchFamily="34" charset="-120"/>
              </a:rPr>
              <a:t>Repeated PGD steps improved the search over one step.</a:t>
            </a:r>
            <a:endParaRPr lang="en-US" sz="1060" dirty="0"/>
          </a:p>
        </p:txBody>
      </p:sp>
      <p:sp>
        <p:nvSpPr>
          <p:cNvPr id="34" name="Text 32"/>
          <p:cNvSpPr/>
          <p:nvPr/>
        </p:nvSpPr>
        <p:spPr>
          <a:xfrm>
            <a:off x="4736592" y="5742432"/>
            <a:ext cx="6035040" cy="201168"/>
          </a:xfrm>
          <a:prstGeom prst="rect">
            <a:avLst/>
          </a:prstGeom>
          <a:noFill/>
        </p:spPr>
        <p:txBody>
          <a:bodyPr wrap="square" lIns="0" tIns="0" rIns="0" bIns="0" rtlCol="0" anchor="ctr">
            <a:normAutofit/>
          </a:bodyPr>
          <a:lstStyle/>
          <a:p>
            <a:pPr marL="0" indent="0">
              <a:buNone/>
            </a:pPr>
            <a:r>
              <a:rPr lang="en-US" sz="880" dirty="0">
                <a:solidFill>
                  <a:srgbClr val="64748B"/>
                </a:solidFill>
                <a:latin typeface="Consolas" panose="020B0609020204030204" pitchFamily="34" charset="0"/>
                <a:ea typeface="Consolas" panose="020B0609020204030204" pitchFamily="34" charset="-122"/>
                <a:cs typeface="Consolas" panose="020B0609020204030204" pitchFamily="34" charset="-120"/>
              </a:rPr>
              <a:t>Evidence: attacks/attacks.py • run_pgd.py • results/pgd/</a:t>
            </a:r>
            <a:endParaRPr lang="en-US" sz="880" dirty="0"/>
          </a:p>
        </p:txBody>
      </p:sp>
      <p:sp>
        <p:nvSpPr>
          <p:cNvPr id="35" name="Text 33"/>
          <p:cNvSpPr/>
          <p:nvPr/>
        </p:nvSpPr>
        <p:spPr>
          <a:xfrm>
            <a:off x="11109960" y="6556248"/>
            <a:ext cx="457200" cy="164592"/>
          </a:xfrm>
          <a:prstGeom prst="rect">
            <a:avLst/>
          </a:prstGeom>
          <a:noFill/>
        </p:spPr>
        <p:txBody>
          <a:bodyPr wrap="square" lIns="0" tIns="0" rIns="0" bIns="0" rtlCol="0" anchor="ctr"/>
          <a:lstStyle/>
          <a:p>
            <a:pPr marL="0" indent="0" algn="r">
              <a:buNone/>
            </a:pPr>
            <a:r>
              <a:rPr lang="en-US" sz="800" dirty="0">
                <a:solidFill>
                  <a:srgbClr val="64748B"/>
                </a:solidFill>
                <a:latin typeface="Aptos" pitchFamily="34" charset="0"/>
                <a:ea typeface="Aptos" pitchFamily="34" charset="-122"/>
                <a:cs typeface="Aptos" pitchFamily="34" charset="-120"/>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320040"/>
            <a:ext cx="11365992" cy="0"/>
          </a:xfrm>
          <a:prstGeom prst="line">
            <a:avLst/>
          </a:prstGeom>
          <a:noFill/>
          <a:ln w="12700">
            <a:solidFill>
              <a:srgbClr val="E2E8F0"/>
            </a:solidFill>
            <a:prstDash val="solid"/>
          </a:ln>
        </p:spPr>
        <p:txBody>
          <a:bodyPr/>
          <a:p/>
        </p:txBody>
      </p:sp>
      <p:sp>
        <p:nvSpPr>
          <p:cNvPr id="3" name="Shape 1"/>
          <p:cNvSpPr/>
          <p:nvPr/>
        </p:nvSpPr>
        <p:spPr>
          <a:xfrm>
            <a:off x="411480" y="6492240"/>
            <a:ext cx="11365992" cy="0"/>
          </a:xfrm>
          <a:prstGeom prst="line">
            <a:avLst/>
          </a:prstGeom>
          <a:noFill/>
          <a:ln w="12700">
            <a:solidFill>
              <a:srgbClr val="E2E8F0"/>
            </a:solidFill>
            <a:prstDash val="solid"/>
          </a:ln>
        </p:spPr>
        <p:txBody>
          <a:bodyPr/>
          <a:p/>
        </p:txBody>
      </p:sp>
      <p:sp>
        <p:nvSpPr>
          <p:cNvPr id="4" name="Shape 2"/>
          <p:cNvSpPr/>
          <p:nvPr/>
        </p:nvSpPr>
        <p:spPr>
          <a:xfrm rot="1080000">
            <a:off x="10744200" y="-640080"/>
            <a:ext cx="1920240" cy="1920240"/>
          </a:xfrm>
          <a:prstGeom prst="arc">
            <a:avLst/>
          </a:prstGeom>
          <a:solidFill>
            <a:srgbClr val="FFFFFF">
              <a:alpha val="0"/>
            </a:srgbClr>
          </a:solidFill>
          <a:ln w="12700">
            <a:solidFill>
              <a:srgbClr val="E2E8F0">
                <a:alpha val="55000"/>
              </a:srgbClr>
            </a:solidFill>
            <a:prstDash val="solid"/>
          </a:ln>
        </p:spPr>
        <p:txBody>
          <a:bodyPr/>
          <a:p/>
        </p:txBody>
      </p:sp>
      <p:sp>
        <p:nvSpPr>
          <p:cNvPr id="5" name="Text 3"/>
          <p:cNvSpPr/>
          <p:nvPr/>
        </p:nvSpPr>
        <p:spPr>
          <a:xfrm>
            <a:off x="502920" y="73152"/>
            <a:ext cx="3840480" cy="182880"/>
          </a:xfrm>
          <a:prstGeom prst="rect">
            <a:avLst/>
          </a:prstGeom>
          <a:noFill/>
        </p:spPr>
        <p:txBody>
          <a:bodyPr wrap="square" lIns="0" tIns="0" rIns="0" bIns="0" rtlCol="0" anchor="ctr"/>
          <a:lstStyle/>
          <a:p>
            <a:pPr marL="0" indent="0">
              <a:buNone/>
            </a:pPr>
            <a:r>
              <a:rPr lang="en-US" sz="900" b="1" kern="0" spc="140" dirty="0">
                <a:solidFill>
                  <a:srgbClr val="0E7490"/>
                </a:solidFill>
                <a:latin typeface="Aptos" pitchFamily="34" charset="0"/>
                <a:ea typeface="Aptos" pitchFamily="34" charset="-122"/>
                <a:cs typeface="Aptos" pitchFamily="34" charset="-120"/>
              </a:rPr>
              <a:t>API</a:t>
            </a:r>
            <a:endParaRPr lang="en-US" sz="900" dirty="0"/>
          </a:p>
        </p:txBody>
      </p:sp>
      <p:sp>
        <p:nvSpPr>
          <p:cNvPr id="6" name="Text 4"/>
          <p:cNvSpPr/>
          <p:nvPr/>
        </p:nvSpPr>
        <p:spPr>
          <a:xfrm>
            <a:off x="502920" y="530352"/>
            <a:ext cx="10561320" cy="502920"/>
          </a:xfrm>
          <a:prstGeom prst="rect">
            <a:avLst/>
          </a:prstGeom>
          <a:noFill/>
        </p:spPr>
        <p:txBody>
          <a:bodyPr wrap="square" lIns="0" tIns="0" rIns="0" bIns="0" rtlCol="0" anchor="ctr">
            <a:normAutofit/>
          </a:bodyP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09 • Step 3 — API Security Review</a:t>
            </a:r>
            <a:endParaRPr lang="en-US" sz="2500" dirty="0"/>
          </a:p>
        </p:txBody>
      </p:sp>
      <p:sp>
        <p:nvSpPr>
          <p:cNvPr id="7" name="Text 5"/>
          <p:cNvSpPr/>
          <p:nvPr/>
        </p:nvSpPr>
        <p:spPr>
          <a:xfrm>
            <a:off x="530352" y="1060704"/>
            <a:ext cx="10332720" cy="347472"/>
          </a:xfrm>
          <a:prstGeom prst="rect">
            <a:avLst/>
          </a:prstGeom>
          <a:noFill/>
        </p:spPr>
        <p:txBody>
          <a:bodyPr wrap="square" lIns="0" tIns="0" rIns="0" bIns="0" rtlCol="0" anchor="ctr">
            <a:normAutofit/>
          </a:bodyPr>
          <a:lstStyle/>
          <a:p>
            <a:pPr marL="0" indent="0">
              <a:buNone/>
            </a:pPr>
            <a:r>
              <a:rPr lang="en-US" sz="1150" dirty="0">
                <a:solidFill>
                  <a:srgbClr val="64748B"/>
                </a:solidFill>
                <a:latin typeface="Aptos" pitchFamily="34" charset="0"/>
                <a:ea typeface="Aptos" pitchFamily="34" charset="-122"/>
                <a:cs typeface="Aptos" pitchFamily="34" charset="-120"/>
              </a:rPr>
              <a:t>The model was not the only attack surface. The baseline API exposed several avoidable weaknesses.</a:t>
            </a:r>
            <a:endParaRPr lang="en-US" sz="1150" dirty="0"/>
          </a:p>
        </p:txBody>
      </p:sp>
      <p:sp>
        <p:nvSpPr>
          <p:cNvPr id="8" name="Shape 6"/>
          <p:cNvSpPr/>
          <p:nvPr/>
        </p:nvSpPr>
        <p:spPr>
          <a:xfrm>
            <a:off x="530352" y="1572768"/>
            <a:ext cx="11128248" cy="658368"/>
          </a:xfrm>
          <a:prstGeom prst="roundRect">
            <a:avLst>
              <a:gd name="adj" fmla="val 11111"/>
            </a:avLst>
          </a:prstGeom>
          <a:solidFill>
            <a:srgbClr val="F8FAFC"/>
          </a:solidFill>
          <a:ln w="12700">
            <a:solidFill>
              <a:srgbClr val="E2E8F0">
                <a:alpha val="90000"/>
              </a:srgbClr>
            </a:solidFill>
            <a:prstDash val="solid"/>
          </a:ln>
        </p:spPr>
        <p:txBody>
          <a:bodyPr/>
          <a:p/>
        </p:txBody>
      </p:sp>
      <p:sp>
        <p:nvSpPr>
          <p:cNvPr id="9" name="Shape 7"/>
          <p:cNvSpPr/>
          <p:nvPr/>
        </p:nvSpPr>
        <p:spPr>
          <a:xfrm>
            <a:off x="749808" y="1728216"/>
            <a:ext cx="320040" cy="320040"/>
          </a:xfrm>
          <a:prstGeom prst="ellipse">
            <a:avLst/>
          </a:prstGeom>
          <a:solidFill>
            <a:srgbClr val="FF6B6B">
              <a:alpha val="18000"/>
            </a:srgbClr>
          </a:solidFill>
          <a:ln w="13970">
            <a:solidFill>
              <a:srgbClr val="B91C1C"/>
            </a:solidFill>
            <a:prstDash val="solid"/>
          </a:ln>
        </p:spPr>
        <p:txBody>
          <a:bodyPr/>
          <a:p/>
        </p:txBody>
      </p:sp>
      <p:sp>
        <p:nvSpPr>
          <p:cNvPr id="10" name="Text 8"/>
          <p:cNvSpPr/>
          <p:nvPr/>
        </p:nvSpPr>
        <p:spPr>
          <a:xfrm>
            <a:off x="749808" y="1796796"/>
            <a:ext cx="320040" cy="109728"/>
          </a:xfrm>
          <a:prstGeom prst="rect">
            <a:avLst/>
          </a:prstGeom>
          <a:noFill/>
        </p:spPr>
        <p:txBody>
          <a:bodyPr wrap="square" lIns="0" tIns="0" rIns="0" bIns="0" rtlCol="0" anchor="ctr"/>
          <a:lstStyle/>
          <a:p>
            <a:pPr marL="0" indent="0" algn="ctr">
              <a:buNone/>
            </a:pPr>
            <a:r>
              <a:rPr lang="en-US" sz="750" b="1" dirty="0">
                <a:solidFill>
                  <a:srgbClr val="B91C1C"/>
                </a:solidFill>
                <a:latin typeface="Aptos" pitchFamily="34" charset="0"/>
                <a:ea typeface="Aptos" pitchFamily="34" charset="-122"/>
                <a:cs typeface="Aptos" pitchFamily="34" charset="-120"/>
              </a:rPr>
              <a:t>A</a:t>
            </a:r>
            <a:endParaRPr lang="en-US" sz="750" dirty="0"/>
          </a:p>
        </p:txBody>
      </p:sp>
      <p:sp>
        <p:nvSpPr>
          <p:cNvPr id="11" name="Text 9"/>
          <p:cNvSpPr/>
          <p:nvPr/>
        </p:nvSpPr>
        <p:spPr>
          <a:xfrm>
            <a:off x="1234440" y="1709928"/>
            <a:ext cx="2697480" cy="228600"/>
          </a:xfrm>
          <a:prstGeom prst="rect">
            <a:avLst/>
          </a:prstGeom>
          <a:noFill/>
        </p:spPr>
        <p:txBody>
          <a:bodyPr wrap="square" lIns="0" tIns="0" rIns="0" bIns="0" rtlCol="0" anchor="ctr">
            <a:normAutofit/>
          </a:bodyPr>
          <a:lstStyle/>
          <a:p>
            <a:pPr marL="0" indent="0">
              <a:buNone/>
            </a:pPr>
            <a:r>
              <a:rPr lang="en-US" sz="1080" b="1" dirty="0">
                <a:solidFill>
                  <a:srgbClr val="0F172A"/>
                </a:solidFill>
                <a:latin typeface="Aptos" pitchFamily="34" charset="0"/>
                <a:ea typeface="Aptos" pitchFamily="34" charset="-122"/>
                <a:cs typeface="Aptos" pitchFamily="34" charset="-120"/>
              </a:rPr>
              <a:t>/model_info</a:t>
            </a:r>
            <a:endParaRPr lang="en-US" sz="1080" dirty="0"/>
          </a:p>
        </p:txBody>
      </p:sp>
      <p:sp>
        <p:nvSpPr>
          <p:cNvPr id="12" name="Text 10"/>
          <p:cNvSpPr/>
          <p:nvPr/>
        </p:nvSpPr>
        <p:spPr>
          <a:xfrm>
            <a:off x="3977640" y="1709928"/>
            <a:ext cx="7269480" cy="228600"/>
          </a:xfrm>
          <a:prstGeom prst="rect">
            <a:avLst/>
          </a:prstGeom>
          <a:noFill/>
        </p:spPr>
        <p:txBody>
          <a:bodyPr wrap="square" lIns="0" tIns="0" rIns="0" bIns="0" rtlCol="0" anchor="ctr">
            <a:normAutofit/>
          </a:bodyPr>
          <a:lstStyle/>
          <a:p>
            <a:pPr marL="0" indent="0">
              <a:buNone/>
            </a:pPr>
            <a:r>
              <a:rPr lang="en-US" sz="1010" dirty="0">
                <a:solidFill>
                  <a:srgbClr val="64748B"/>
                </a:solidFill>
                <a:latin typeface="Aptos" pitchFamily="34" charset="0"/>
                <a:ea typeface="Aptos" pitchFamily="34" charset="-122"/>
                <a:cs typeface="Aptos" pitchFamily="34" charset="-120"/>
              </a:rPr>
              <a:t>Architecture, version, shapes, parameters</a:t>
            </a:r>
            <a:endParaRPr lang="en-US" sz="1010" dirty="0"/>
          </a:p>
        </p:txBody>
      </p:sp>
      <p:sp>
        <p:nvSpPr>
          <p:cNvPr id="13" name="Shape 11"/>
          <p:cNvSpPr/>
          <p:nvPr/>
        </p:nvSpPr>
        <p:spPr>
          <a:xfrm>
            <a:off x="530352" y="2414016"/>
            <a:ext cx="11128248" cy="658368"/>
          </a:xfrm>
          <a:prstGeom prst="roundRect">
            <a:avLst>
              <a:gd name="adj" fmla="val 11111"/>
            </a:avLst>
          </a:prstGeom>
          <a:solidFill>
            <a:srgbClr val="F8FAFC"/>
          </a:solidFill>
          <a:ln w="12700">
            <a:solidFill>
              <a:srgbClr val="E2E8F0">
                <a:alpha val="90000"/>
              </a:srgbClr>
            </a:solidFill>
            <a:prstDash val="solid"/>
          </a:ln>
        </p:spPr>
        <p:txBody>
          <a:bodyPr/>
          <a:p/>
        </p:txBody>
      </p:sp>
      <p:sp>
        <p:nvSpPr>
          <p:cNvPr id="14" name="Shape 12"/>
          <p:cNvSpPr/>
          <p:nvPr/>
        </p:nvSpPr>
        <p:spPr>
          <a:xfrm>
            <a:off x="749808" y="2569464"/>
            <a:ext cx="320040" cy="320040"/>
          </a:xfrm>
          <a:prstGeom prst="ellipse">
            <a:avLst/>
          </a:prstGeom>
          <a:solidFill>
            <a:srgbClr val="FF6B6B">
              <a:alpha val="18000"/>
            </a:srgbClr>
          </a:solidFill>
          <a:ln w="13970">
            <a:solidFill>
              <a:srgbClr val="B91C1C"/>
            </a:solidFill>
            <a:prstDash val="solid"/>
          </a:ln>
        </p:spPr>
        <p:txBody>
          <a:bodyPr/>
          <a:p/>
        </p:txBody>
      </p:sp>
      <p:sp>
        <p:nvSpPr>
          <p:cNvPr id="15" name="Text 13"/>
          <p:cNvSpPr/>
          <p:nvPr/>
        </p:nvSpPr>
        <p:spPr>
          <a:xfrm>
            <a:off x="749808" y="2638044"/>
            <a:ext cx="320040" cy="109728"/>
          </a:xfrm>
          <a:prstGeom prst="rect">
            <a:avLst/>
          </a:prstGeom>
          <a:noFill/>
        </p:spPr>
        <p:txBody>
          <a:bodyPr wrap="square" lIns="0" tIns="0" rIns="0" bIns="0" rtlCol="0" anchor="ctr"/>
          <a:lstStyle/>
          <a:p>
            <a:pPr marL="0" indent="0" algn="ctr">
              <a:buNone/>
            </a:pPr>
            <a:r>
              <a:rPr lang="en-US" sz="750" b="1" dirty="0">
                <a:solidFill>
                  <a:srgbClr val="B91C1C"/>
                </a:solidFill>
                <a:latin typeface="Aptos" pitchFamily="34" charset="0"/>
                <a:ea typeface="Aptos" pitchFamily="34" charset="-122"/>
                <a:cs typeface="Aptos" pitchFamily="34" charset="-120"/>
              </a:rPr>
              <a:t>B</a:t>
            </a:r>
            <a:endParaRPr lang="en-US" sz="750" dirty="0"/>
          </a:p>
        </p:txBody>
      </p:sp>
      <p:sp>
        <p:nvSpPr>
          <p:cNvPr id="16" name="Text 14"/>
          <p:cNvSpPr/>
          <p:nvPr/>
        </p:nvSpPr>
        <p:spPr>
          <a:xfrm>
            <a:off x="1234440" y="2551176"/>
            <a:ext cx="2697480" cy="228600"/>
          </a:xfrm>
          <a:prstGeom prst="rect">
            <a:avLst/>
          </a:prstGeom>
          <a:noFill/>
        </p:spPr>
        <p:txBody>
          <a:bodyPr wrap="square" lIns="0" tIns="0" rIns="0" bIns="0" rtlCol="0" anchor="ctr">
            <a:normAutofit/>
          </a:bodyPr>
          <a:lstStyle/>
          <a:p>
            <a:pPr marL="0" indent="0">
              <a:buNone/>
            </a:pPr>
            <a:r>
              <a:rPr lang="en-US" sz="1080" b="1" dirty="0">
                <a:solidFill>
                  <a:srgbClr val="0F172A"/>
                </a:solidFill>
                <a:latin typeface="Aptos" pitchFamily="34" charset="0"/>
                <a:ea typeface="Aptos" pitchFamily="34" charset="-122"/>
                <a:cs typeface="Aptos" pitchFamily="34" charset="-120"/>
              </a:rPr>
              <a:t>/docs + /redoc + OpenAPI</a:t>
            </a:r>
            <a:endParaRPr lang="en-US" sz="1080" dirty="0"/>
          </a:p>
        </p:txBody>
      </p:sp>
      <p:sp>
        <p:nvSpPr>
          <p:cNvPr id="17" name="Text 15"/>
          <p:cNvSpPr/>
          <p:nvPr/>
        </p:nvSpPr>
        <p:spPr>
          <a:xfrm>
            <a:off x="3977640" y="2551176"/>
            <a:ext cx="7269480" cy="228600"/>
          </a:xfrm>
          <a:prstGeom prst="rect">
            <a:avLst/>
          </a:prstGeom>
          <a:noFill/>
        </p:spPr>
        <p:txBody>
          <a:bodyPr wrap="square" lIns="0" tIns="0" rIns="0" bIns="0" rtlCol="0" anchor="ctr">
            <a:normAutofit/>
          </a:bodyPr>
          <a:lstStyle/>
          <a:p>
            <a:pPr marL="0" indent="0">
              <a:buNone/>
            </a:pPr>
            <a:r>
              <a:rPr lang="en-US" sz="1010" dirty="0">
                <a:solidFill>
                  <a:srgbClr val="64748B"/>
                </a:solidFill>
                <a:latin typeface="Aptos" pitchFamily="34" charset="0"/>
                <a:ea typeface="Aptos" pitchFamily="34" charset="-122"/>
                <a:cs typeface="Aptos" pitchFamily="34" charset="-120"/>
              </a:rPr>
              <a:t>API surface and schemas exposed</a:t>
            </a:r>
            <a:endParaRPr lang="en-US" sz="1010" dirty="0"/>
          </a:p>
        </p:txBody>
      </p:sp>
      <p:sp>
        <p:nvSpPr>
          <p:cNvPr id="18" name="Shape 16"/>
          <p:cNvSpPr/>
          <p:nvPr/>
        </p:nvSpPr>
        <p:spPr>
          <a:xfrm>
            <a:off x="530352" y="3255264"/>
            <a:ext cx="11128248" cy="658368"/>
          </a:xfrm>
          <a:prstGeom prst="roundRect">
            <a:avLst>
              <a:gd name="adj" fmla="val 11111"/>
            </a:avLst>
          </a:prstGeom>
          <a:solidFill>
            <a:srgbClr val="F8FAFC"/>
          </a:solidFill>
          <a:ln w="12700">
            <a:solidFill>
              <a:srgbClr val="E2E8F0">
                <a:alpha val="90000"/>
              </a:srgbClr>
            </a:solidFill>
            <a:prstDash val="solid"/>
          </a:ln>
        </p:spPr>
        <p:txBody>
          <a:bodyPr/>
          <a:p/>
        </p:txBody>
      </p:sp>
      <p:sp>
        <p:nvSpPr>
          <p:cNvPr id="19" name="Shape 17"/>
          <p:cNvSpPr/>
          <p:nvPr/>
        </p:nvSpPr>
        <p:spPr>
          <a:xfrm>
            <a:off x="749808" y="3410712"/>
            <a:ext cx="320040" cy="320040"/>
          </a:xfrm>
          <a:prstGeom prst="ellipse">
            <a:avLst/>
          </a:prstGeom>
          <a:solidFill>
            <a:srgbClr val="FFC857">
              <a:alpha val="18000"/>
            </a:srgbClr>
          </a:solidFill>
          <a:ln w="13970">
            <a:solidFill>
              <a:srgbClr val="A16207"/>
            </a:solidFill>
            <a:prstDash val="solid"/>
          </a:ln>
        </p:spPr>
        <p:txBody>
          <a:bodyPr/>
          <a:p/>
        </p:txBody>
      </p:sp>
      <p:sp>
        <p:nvSpPr>
          <p:cNvPr id="20" name="Text 18"/>
          <p:cNvSpPr/>
          <p:nvPr/>
        </p:nvSpPr>
        <p:spPr>
          <a:xfrm>
            <a:off x="749808" y="3479292"/>
            <a:ext cx="320040" cy="109728"/>
          </a:xfrm>
          <a:prstGeom prst="rect">
            <a:avLst/>
          </a:prstGeom>
          <a:noFill/>
        </p:spPr>
        <p:txBody>
          <a:bodyPr wrap="square" lIns="0" tIns="0" rIns="0" bIns="0" rtlCol="0" anchor="ctr"/>
          <a:lstStyle/>
          <a:p>
            <a:pPr marL="0" indent="0" algn="ctr">
              <a:buNone/>
            </a:pPr>
            <a:r>
              <a:rPr lang="en-US" sz="750" b="1" dirty="0">
                <a:solidFill>
                  <a:srgbClr val="A16207"/>
                </a:solidFill>
                <a:latin typeface="Aptos" pitchFamily="34" charset="0"/>
                <a:ea typeface="Aptos" pitchFamily="34" charset="-122"/>
                <a:cs typeface="Aptos" pitchFamily="34" charset="-120"/>
              </a:rPr>
              <a:t>C</a:t>
            </a:r>
            <a:endParaRPr lang="en-US" sz="750" dirty="0"/>
          </a:p>
        </p:txBody>
      </p:sp>
      <p:sp>
        <p:nvSpPr>
          <p:cNvPr id="21" name="Text 19"/>
          <p:cNvSpPr/>
          <p:nvPr/>
        </p:nvSpPr>
        <p:spPr>
          <a:xfrm>
            <a:off x="1234440" y="3392424"/>
            <a:ext cx="2697480" cy="228600"/>
          </a:xfrm>
          <a:prstGeom prst="rect">
            <a:avLst/>
          </a:prstGeom>
          <a:noFill/>
        </p:spPr>
        <p:txBody>
          <a:bodyPr wrap="square" lIns="0" tIns="0" rIns="0" bIns="0" rtlCol="0" anchor="ctr">
            <a:normAutofit/>
          </a:bodyPr>
          <a:lstStyle/>
          <a:p>
            <a:pPr marL="0" indent="0">
              <a:buNone/>
            </a:pPr>
            <a:r>
              <a:rPr lang="en-US" sz="1080" b="1" dirty="0">
                <a:solidFill>
                  <a:srgbClr val="0F172A"/>
                </a:solidFill>
                <a:latin typeface="Aptos" pitchFamily="34" charset="0"/>
                <a:ea typeface="Aptos" pitchFamily="34" charset="-122"/>
                <a:cs typeface="Aptos" pitchFamily="34" charset="-120"/>
              </a:rPr>
              <a:t>Wildcard CORS</a:t>
            </a:r>
            <a:endParaRPr lang="en-US" sz="1080" dirty="0"/>
          </a:p>
        </p:txBody>
      </p:sp>
      <p:sp>
        <p:nvSpPr>
          <p:cNvPr id="22" name="Text 20"/>
          <p:cNvSpPr/>
          <p:nvPr/>
        </p:nvSpPr>
        <p:spPr>
          <a:xfrm>
            <a:off x="3977640" y="3392424"/>
            <a:ext cx="7269480" cy="228600"/>
          </a:xfrm>
          <a:prstGeom prst="rect">
            <a:avLst/>
          </a:prstGeom>
          <a:noFill/>
        </p:spPr>
        <p:txBody>
          <a:bodyPr wrap="square" lIns="0" tIns="0" rIns="0" bIns="0" rtlCol="0" anchor="ctr">
            <a:normAutofit/>
          </a:bodyPr>
          <a:lstStyle/>
          <a:p>
            <a:pPr marL="0" indent="0">
              <a:buNone/>
            </a:pPr>
            <a:r>
              <a:rPr lang="en-US" sz="1010" dirty="0">
                <a:solidFill>
                  <a:srgbClr val="64748B"/>
                </a:solidFill>
                <a:latin typeface="Aptos" pitchFamily="34" charset="0"/>
                <a:ea typeface="Aptos" pitchFamily="34" charset="-122"/>
                <a:cs typeface="Aptos" pitchFamily="34" charset="-120"/>
              </a:rPr>
              <a:t>Arbitrary browser origins allowed</a:t>
            </a:r>
            <a:endParaRPr lang="en-US" sz="1010" dirty="0"/>
          </a:p>
        </p:txBody>
      </p:sp>
      <p:sp>
        <p:nvSpPr>
          <p:cNvPr id="23" name="Shape 21"/>
          <p:cNvSpPr/>
          <p:nvPr/>
        </p:nvSpPr>
        <p:spPr>
          <a:xfrm>
            <a:off x="530352" y="4096512"/>
            <a:ext cx="11128248" cy="658368"/>
          </a:xfrm>
          <a:prstGeom prst="roundRect">
            <a:avLst>
              <a:gd name="adj" fmla="val 11111"/>
            </a:avLst>
          </a:prstGeom>
          <a:solidFill>
            <a:srgbClr val="F8FAFC"/>
          </a:solidFill>
          <a:ln w="12700">
            <a:solidFill>
              <a:srgbClr val="E2E8F0">
                <a:alpha val="90000"/>
              </a:srgbClr>
            </a:solidFill>
            <a:prstDash val="solid"/>
          </a:ln>
        </p:spPr>
        <p:txBody>
          <a:bodyPr/>
          <a:p/>
        </p:txBody>
      </p:sp>
      <p:sp>
        <p:nvSpPr>
          <p:cNvPr id="24" name="Shape 22"/>
          <p:cNvSpPr/>
          <p:nvPr/>
        </p:nvSpPr>
        <p:spPr>
          <a:xfrm>
            <a:off x="749808" y="4251960"/>
            <a:ext cx="320040" cy="320040"/>
          </a:xfrm>
          <a:prstGeom prst="ellipse">
            <a:avLst/>
          </a:prstGeom>
          <a:solidFill>
            <a:srgbClr val="FFC857">
              <a:alpha val="18000"/>
            </a:srgbClr>
          </a:solidFill>
          <a:ln w="13970">
            <a:solidFill>
              <a:srgbClr val="A16207"/>
            </a:solidFill>
            <a:prstDash val="solid"/>
          </a:ln>
        </p:spPr>
        <p:txBody>
          <a:bodyPr/>
          <a:p/>
        </p:txBody>
      </p:sp>
      <p:sp>
        <p:nvSpPr>
          <p:cNvPr id="25" name="Text 23"/>
          <p:cNvSpPr/>
          <p:nvPr/>
        </p:nvSpPr>
        <p:spPr>
          <a:xfrm>
            <a:off x="749808" y="4320540"/>
            <a:ext cx="320040" cy="109728"/>
          </a:xfrm>
          <a:prstGeom prst="rect">
            <a:avLst/>
          </a:prstGeom>
          <a:noFill/>
        </p:spPr>
        <p:txBody>
          <a:bodyPr wrap="square" lIns="0" tIns="0" rIns="0" bIns="0" rtlCol="0" anchor="ctr"/>
          <a:lstStyle/>
          <a:p>
            <a:pPr marL="0" indent="0" algn="ctr">
              <a:buNone/>
            </a:pPr>
            <a:r>
              <a:rPr lang="en-US" sz="750" b="1" dirty="0">
                <a:solidFill>
                  <a:srgbClr val="A16207"/>
                </a:solidFill>
                <a:latin typeface="Aptos" pitchFamily="34" charset="0"/>
                <a:ea typeface="Aptos" pitchFamily="34" charset="-122"/>
                <a:cs typeface="Aptos" pitchFamily="34" charset="-120"/>
              </a:rPr>
              <a:t>D</a:t>
            </a:r>
            <a:endParaRPr lang="en-US" sz="750" dirty="0"/>
          </a:p>
        </p:txBody>
      </p:sp>
      <p:sp>
        <p:nvSpPr>
          <p:cNvPr id="26" name="Text 24"/>
          <p:cNvSpPr/>
          <p:nvPr/>
        </p:nvSpPr>
        <p:spPr>
          <a:xfrm>
            <a:off x="1234440" y="4233672"/>
            <a:ext cx="2697480" cy="228600"/>
          </a:xfrm>
          <a:prstGeom prst="rect">
            <a:avLst/>
          </a:prstGeom>
          <a:noFill/>
        </p:spPr>
        <p:txBody>
          <a:bodyPr wrap="square" lIns="0" tIns="0" rIns="0" bIns="0" rtlCol="0" anchor="ctr">
            <a:normAutofit/>
          </a:bodyPr>
          <a:lstStyle/>
          <a:p>
            <a:pPr marL="0" indent="0">
              <a:buNone/>
            </a:pPr>
            <a:r>
              <a:rPr lang="en-US" sz="1080" b="1" dirty="0">
                <a:solidFill>
                  <a:srgbClr val="0F172A"/>
                </a:solidFill>
                <a:latin typeface="Aptos" pitchFamily="34" charset="0"/>
                <a:ea typeface="Aptos" pitchFamily="34" charset="-122"/>
                <a:cs typeface="Aptos" pitchFamily="34" charset="-120"/>
              </a:rPr>
              <a:t>Weak resource controls</a:t>
            </a:r>
            <a:endParaRPr lang="en-US" sz="1080" dirty="0"/>
          </a:p>
        </p:txBody>
      </p:sp>
      <p:sp>
        <p:nvSpPr>
          <p:cNvPr id="27" name="Text 25"/>
          <p:cNvSpPr/>
          <p:nvPr/>
        </p:nvSpPr>
        <p:spPr>
          <a:xfrm>
            <a:off x="3977640" y="4233672"/>
            <a:ext cx="7269480" cy="228600"/>
          </a:xfrm>
          <a:prstGeom prst="rect">
            <a:avLst/>
          </a:prstGeom>
          <a:noFill/>
        </p:spPr>
        <p:txBody>
          <a:bodyPr wrap="square" lIns="0" tIns="0" rIns="0" bIns="0" rtlCol="0" anchor="ctr">
            <a:normAutofit/>
          </a:bodyPr>
          <a:lstStyle/>
          <a:p>
            <a:pPr marL="0" indent="0">
              <a:buNone/>
            </a:pPr>
            <a:r>
              <a:rPr lang="en-US" sz="1010" dirty="0">
                <a:solidFill>
                  <a:srgbClr val="64748B"/>
                </a:solidFill>
                <a:latin typeface="Aptos" pitchFamily="34" charset="0"/>
                <a:ea typeface="Aptos" pitchFamily="34" charset="-122"/>
                <a:cs typeface="Aptos" pitchFamily="34" charset="-120"/>
              </a:rPr>
              <a:t>No explicit file / dimension / batch caps</a:t>
            </a:r>
            <a:endParaRPr lang="en-US" sz="1010" dirty="0"/>
          </a:p>
        </p:txBody>
      </p:sp>
      <p:sp>
        <p:nvSpPr>
          <p:cNvPr id="28" name="Shape 26"/>
          <p:cNvSpPr/>
          <p:nvPr/>
        </p:nvSpPr>
        <p:spPr>
          <a:xfrm>
            <a:off x="530352" y="4937760"/>
            <a:ext cx="11128248" cy="658368"/>
          </a:xfrm>
          <a:prstGeom prst="roundRect">
            <a:avLst>
              <a:gd name="adj" fmla="val 11111"/>
            </a:avLst>
          </a:prstGeom>
          <a:solidFill>
            <a:srgbClr val="F8FAFC"/>
          </a:solidFill>
          <a:ln w="12700">
            <a:solidFill>
              <a:srgbClr val="E2E8F0">
                <a:alpha val="90000"/>
              </a:srgbClr>
            </a:solidFill>
            <a:prstDash val="solid"/>
          </a:ln>
        </p:spPr>
        <p:txBody>
          <a:bodyPr/>
          <a:p/>
        </p:txBody>
      </p:sp>
      <p:sp>
        <p:nvSpPr>
          <p:cNvPr id="29" name="Shape 27"/>
          <p:cNvSpPr/>
          <p:nvPr/>
        </p:nvSpPr>
        <p:spPr>
          <a:xfrm>
            <a:off x="749808" y="5093208"/>
            <a:ext cx="320040" cy="320040"/>
          </a:xfrm>
          <a:prstGeom prst="ellipse">
            <a:avLst/>
          </a:prstGeom>
          <a:solidFill>
            <a:srgbClr val="8A7CFF">
              <a:alpha val="18000"/>
            </a:srgbClr>
          </a:solidFill>
          <a:ln w="13970">
            <a:solidFill>
              <a:srgbClr val="6D28D9"/>
            </a:solidFill>
            <a:prstDash val="solid"/>
          </a:ln>
        </p:spPr>
        <p:txBody>
          <a:bodyPr/>
          <a:p/>
        </p:txBody>
      </p:sp>
      <p:sp>
        <p:nvSpPr>
          <p:cNvPr id="30" name="Text 28"/>
          <p:cNvSpPr/>
          <p:nvPr/>
        </p:nvSpPr>
        <p:spPr>
          <a:xfrm>
            <a:off x="749808" y="5161788"/>
            <a:ext cx="320040" cy="109728"/>
          </a:xfrm>
          <a:prstGeom prst="rect">
            <a:avLst/>
          </a:prstGeom>
          <a:noFill/>
        </p:spPr>
        <p:txBody>
          <a:bodyPr wrap="square" lIns="0" tIns="0" rIns="0" bIns="0" rtlCol="0" anchor="ctr"/>
          <a:lstStyle/>
          <a:p>
            <a:pPr marL="0" indent="0" algn="ctr">
              <a:buNone/>
            </a:pPr>
            <a:r>
              <a:rPr lang="en-US" sz="750" b="1" dirty="0">
                <a:solidFill>
                  <a:srgbClr val="6D28D9"/>
                </a:solidFill>
                <a:latin typeface="Aptos" pitchFamily="34" charset="0"/>
                <a:ea typeface="Aptos" pitchFamily="34" charset="-122"/>
                <a:cs typeface="Aptos" pitchFamily="34" charset="-120"/>
              </a:rPr>
              <a:t>E</a:t>
            </a:r>
            <a:endParaRPr lang="en-US" sz="750" dirty="0"/>
          </a:p>
        </p:txBody>
      </p:sp>
      <p:sp>
        <p:nvSpPr>
          <p:cNvPr id="31" name="Text 29"/>
          <p:cNvSpPr/>
          <p:nvPr/>
        </p:nvSpPr>
        <p:spPr>
          <a:xfrm>
            <a:off x="1234440" y="5074920"/>
            <a:ext cx="2697480" cy="228600"/>
          </a:xfrm>
          <a:prstGeom prst="rect">
            <a:avLst/>
          </a:prstGeom>
          <a:noFill/>
        </p:spPr>
        <p:txBody>
          <a:bodyPr wrap="square" lIns="0" tIns="0" rIns="0" bIns="0" rtlCol="0" anchor="ctr">
            <a:normAutofit/>
          </a:bodyPr>
          <a:lstStyle/>
          <a:p>
            <a:pPr marL="0" indent="0">
              <a:buNone/>
            </a:pPr>
            <a:r>
              <a:rPr lang="en-US" sz="1080" b="1" dirty="0">
                <a:solidFill>
                  <a:srgbClr val="0F172A"/>
                </a:solidFill>
                <a:latin typeface="Aptos" pitchFamily="34" charset="0"/>
                <a:ea typeface="Aptos" pitchFamily="34" charset="-122"/>
                <a:cs typeface="Aptos" pitchFamily="34" charset="-120"/>
              </a:rPr>
              <a:t>Verbose parser errors</a:t>
            </a:r>
            <a:endParaRPr lang="en-US" sz="1080" dirty="0"/>
          </a:p>
        </p:txBody>
      </p:sp>
      <p:sp>
        <p:nvSpPr>
          <p:cNvPr id="32" name="Text 30"/>
          <p:cNvSpPr/>
          <p:nvPr/>
        </p:nvSpPr>
        <p:spPr>
          <a:xfrm>
            <a:off x="3977640" y="5074920"/>
            <a:ext cx="7269480" cy="228600"/>
          </a:xfrm>
          <a:prstGeom prst="rect">
            <a:avLst/>
          </a:prstGeom>
          <a:noFill/>
        </p:spPr>
        <p:txBody>
          <a:bodyPr wrap="square" lIns="0" tIns="0" rIns="0" bIns="0" rtlCol="0" anchor="ctr">
            <a:normAutofit/>
          </a:bodyPr>
          <a:lstStyle/>
          <a:p>
            <a:pPr marL="0" indent="0">
              <a:buNone/>
            </a:pPr>
            <a:r>
              <a:rPr lang="en-US" sz="1010" dirty="0">
                <a:solidFill>
                  <a:srgbClr val="64748B"/>
                </a:solidFill>
                <a:latin typeface="Aptos" pitchFamily="34" charset="0"/>
                <a:ea typeface="Aptos" pitchFamily="34" charset="-122"/>
                <a:cs typeface="Aptos" pitchFamily="34" charset="-120"/>
              </a:rPr>
              <a:t>Decoder details returned to callers</a:t>
            </a:r>
            <a:endParaRPr lang="en-US" sz="1010" dirty="0"/>
          </a:p>
        </p:txBody>
      </p:sp>
      <p:sp>
        <p:nvSpPr>
          <p:cNvPr id="33" name="Shape 31"/>
          <p:cNvSpPr/>
          <p:nvPr/>
        </p:nvSpPr>
        <p:spPr>
          <a:xfrm>
            <a:off x="749808" y="5943600"/>
            <a:ext cx="1481328" cy="292608"/>
          </a:xfrm>
          <a:prstGeom prst="roundRect">
            <a:avLst>
              <a:gd name="adj" fmla="val 25000"/>
            </a:avLst>
          </a:prstGeom>
          <a:solidFill>
            <a:srgbClr val="FF6B6B">
              <a:alpha val="14000"/>
            </a:srgbClr>
          </a:solidFill>
          <a:ln w="12700">
            <a:solidFill>
              <a:srgbClr val="B91C1C">
                <a:alpha val="0"/>
              </a:srgbClr>
            </a:solidFill>
            <a:prstDash val="solid"/>
          </a:ln>
        </p:spPr>
        <p:txBody>
          <a:bodyPr/>
          <a:p/>
        </p:txBody>
      </p:sp>
      <p:sp>
        <p:nvSpPr>
          <p:cNvPr id="34" name="Text 32"/>
          <p:cNvSpPr/>
          <p:nvPr/>
        </p:nvSpPr>
        <p:spPr>
          <a:xfrm>
            <a:off x="822960" y="5993892"/>
            <a:ext cx="1335024" cy="146304"/>
          </a:xfrm>
          <a:prstGeom prst="rect">
            <a:avLst/>
          </a:prstGeom>
          <a:noFill/>
        </p:spPr>
        <p:txBody>
          <a:bodyPr wrap="square" lIns="0" tIns="0" rIns="0" bIns="0" rtlCol="0" anchor="ctr">
            <a:normAutofit/>
          </a:bodyPr>
          <a:lstStyle/>
          <a:p>
            <a:pPr marL="0" indent="0" algn="ctr">
              <a:buNone/>
            </a:pPr>
            <a:r>
              <a:rPr lang="en-US" sz="850" b="1" dirty="0">
                <a:solidFill>
                  <a:srgbClr val="B91C1C"/>
                </a:solidFill>
                <a:latin typeface="Aptos" pitchFamily="34" charset="0"/>
                <a:ea typeface="Aptos" pitchFamily="34" charset="-122"/>
                <a:cs typeface="Aptos" pitchFamily="34" charset="-120"/>
              </a:rPr>
              <a:t>BASELINE OBSERVATIONS</a:t>
            </a:r>
            <a:endParaRPr lang="en-US" sz="850" dirty="0"/>
          </a:p>
        </p:txBody>
      </p:sp>
      <p:sp>
        <p:nvSpPr>
          <p:cNvPr id="35" name="Text 33"/>
          <p:cNvSpPr/>
          <p:nvPr/>
        </p:nvSpPr>
        <p:spPr>
          <a:xfrm>
            <a:off x="2395728" y="5952744"/>
            <a:ext cx="8503920" cy="201168"/>
          </a:xfrm>
          <a:prstGeom prst="rect">
            <a:avLst/>
          </a:prstGeom>
          <a:noFill/>
        </p:spPr>
        <p:txBody>
          <a:bodyPr wrap="square" lIns="0" tIns="0" rIns="0" bIns="0" rtlCol="0" anchor="ctr">
            <a:normAutofit/>
          </a:bodyPr>
          <a:lstStyle/>
          <a:p>
            <a:pPr marL="0" indent="0">
              <a:buNone/>
            </a:pPr>
            <a:r>
              <a:rPr lang="en-US" sz="960" dirty="0">
                <a:solidFill>
                  <a:srgbClr val="64748B"/>
                </a:solidFill>
                <a:latin typeface="Aptos" pitchFamily="34" charset="0"/>
                <a:ea typeface="Aptos" pitchFamily="34" charset="-122"/>
                <a:cs typeface="Aptos" pitchFamily="34" charset="-120"/>
              </a:rPr>
              <a:t>These are security findings, not claims of a production outage or code execution.</a:t>
            </a:r>
            <a:endParaRPr lang="en-US" sz="960" dirty="0"/>
          </a:p>
        </p:txBody>
      </p:sp>
      <p:sp>
        <p:nvSpPr>
          <p:cNvPr id="36" name="Text 34"/>
          <p:cNvSpPr/>
          <p:nvPr/>
        </p:nvSpPr>
        <p:spPr>
          <a:xfrm>
            <a:off x="11109960" y="6556248"/>
            <a:ext cx="457200" cy="164592"/>
          </a:xfrm>
          <a:prstGeom prst="rect">
            <a:avLst/>
          </a:prstGeom>
          <a:noFill/>
        </p:spPr>
        <p:txBody>
          <a:bodyPr wrap="square" lIns="0" tIns="0" rIns="0" bIns="0" rtlCol="0" anchor="ctr"/>
          <a:lstStyle/>
          <a:p>
            <a:pPr marL="0" indent="0" algn="r">
              <a:buNone/>
            </a:pPr>
            <a:r>
              <a:rPr lang="en-US" sz="800" dirty="0">
                <a:solidFill>
                  <a:srgbClr val="64748B"/>
                </a:solidFill>
                <a:latin typeface="Aptos" pitchFamily="34" charset="0"/>
                <a:ea typeface="Aptos" pitchFamily="34" charset="-122"/>
                <a:cs typeface="Aptos"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320040"/>
            <a:ext cx="11365992" cy="0"/>
          </a:xfrm>
          <a:prstGeom prst="line">
            <a:avLst/>
          </a:prstGeom>
          <a:noFill/>
          <a:ln w="12700">
            <a:solidFill>
              <a:srgbClr val="E2E8F0"/>
            </a:solidFill>
            <a:prstDash val="solid"/>
          </a:ln>
        </p:spPr>
        <p:txBody>
          <a:bodyPr/>
          <a:p/>
        </p:txBody>
      </p:sp>
      <p:sp>
        <p:nvSpPr>
          <p:cNvPr id="3" name="Shape 1"/>
          <p:cNvSpPr/>
          <p:nvPr/>
        </p:nvSpPr>
        <p:spPr>
          <a:xfrm>
            <a:off x="411480" y="6492240"/>
            <a:ext cx="11365992" cy="0"/>
          </a:xfrm>
          <a:prstGeom prst="line">
            <a:avLst/>
          </a:prstGeom>
          <a:noFill/>
          <a:ln w="12700">
            <a:solidFill>
              <a:srgbClr val="E2E8F0"/>
            </a:solidFill>
            <a:prstDash val="solid"/>
          </a:ln>
        </p:spPr>
        <p:txBody>
          <a:bodyPr/>
          <a:p/>
        </p:txBody>
      </p:sp>
      <p:sp>
        <p:nvSpPr>
          <p:cNvPr id="4" name="Shape 2"/>
          <p:cNvSpPr/>
          <p:nvPr/>
        </p:nvSpPr>
        <p:spPr>
          <a:xfrm rot="1080000">
            <a:off x="10744200" y="-640080"/>
            <a:ext cx="1920240" cy="1920240"/>
          </a:xfrm>
          <a:prstGeom prst="arc">
            <a:avLst/>
          </a:prstGeom>
          <a:solidFill>
            <a:srgbClr val="FFFFFF">
              <a:alpha val="0"/>
            </a:srgbClr>
          </a:solidFill>
          <a:ln w="12700">
            <a:solidFill>
              <a:srgbClr val="E2E8F0">
                <a:alpha val="55000"/>
              </a:srgbClr>
            </a:solidFill>
            <a:prstDash val="solid"/>
          </a:ln>
        </p:spPr>
        <p:txBody>
          <a:bodyPr/>
          <a:p/>
        </p:txBody>
      </p:sp>
      <p:sp>
        <p:nvSpPr>
          <p:cNvPr id="5" name="Text 3"/>
          <p:cNvSpPr/>
          <p:nvPr/>
        </p:nvSpPr>
        <p:spPr>
          <a:xfrm>
            <a:off x="502920" y="73152"/>
            <a:ext cx="3840480" cy="182880"/>
          </a:xfrm>
          <a:prstGeom prst="rect">
            <a:avLst/>
          </a:prstGeom>
          <a:noFill/>
        </p:spPr>
        <p:txBody>
          <a:bodyPr wrap="square" lIns="0" tIns="0" rIns="0" bIns="0" rtlCol="0" anchor="ctr"/>
          <a:lstStyle/>
          <a:p>
            <a:pPr marL="0" indent="0">
              <a:buNone/>
            </a:pPr>
            <a:r>
              <a:rPr lang="en-US" sz="900" b="1" kern="0" spc="140" dirty="0">
                <a:solidFill>
                  <a:srgbClr val="0E7490"/>
                </a:solidFill>
                <a:latin typeface="Aptos" pitchFamily="34" charset="0"/>
                <a:ea typeface="Aptos" pitchFamily="34" charset="-122"/>
                <a:cs typeface="Aptos" pitchFamily="34" charset="-120"/>
              </a:rPr>
              <a:t>API HARDENING</a:t>
            </a:r>
            <a:endParaRPr lang="en-US" sz="900" dirty="0"/>
          </a:p>
        </p:txBody>
      </p:sp>
      <p:sp>
        <p:nvSpPr>
          <p:cNvPr id="6" name="Text 4"/>
          <p:cNvSpPr/>
          <p:nvPr/>
        </p:nvSpPr>
        <p:spPr>
          <a:xfrm>
            <a:off x="502920" y="530352"/>
            <a:ext cx="10561320" cy="502920"/>
          </a:xfrm>
          <a:prstGeom prst="rect">
            <a:avLst/>
          </a:prstGeom>
          <a:noFill/>
        </p:spPr>
        <p:txBody>
          <a:bodyPr wrap="square" lIns="0" tIns="0" rIns="0" bIns="0" rtlCol="0" anchor="ctr">
            <a:normAutofit/>
          </a:bodyP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10 • API Mitigation + Retest</a:t>
            </a:r>
            <a:endParaRPr lang="en-US" sz="2500" dirty="0"/>
          </a:p>
        </p:txBody>
      </p:sp>
      <p:sp>
        <p:nvSpPr>
          <p:cNvPr id="7" name="Text 5"/>
          <p:cNvSpPr/>
          <p:nvPr/>
        </p:nvSpPr>
        <p:spPr>
          <a:xfrm>
            <a:off x="530352" y="1060704"/>
            <a:ext cx="10332720" cy="347472"/>
          </a:xfrm>
          <a:prstGeom prst="rect">
            <a:avLst/>
          </a:prstGeom>
          <a:noFill/>
        </p:spPr>
        <p:txBody>
          <a:bodyPr wrap="square" lIns="0" tIns="0" rIns="0" bIns="0" rtlCol="0" anchor="ctr">
            <a:normAutofit/>
          </a:bodyPr>
          <a:lstStyle/>
          <a:p>
            <a:pPr marL="0" indent="0">
              <a:buNone/>
            </a:pPr>
            <a:r>
              <a:rPr lang="en-US" sz="1150" dirty="0">
                <a:solidFill>
                  <a:srgbClr val="64748B"/>
                </a:solidFill>
                <a:latin typeface="Aptos" pitchFamily="34" charset="0"/>
                <a:ea typeface="Aptos" pitchFamily="34" charset="-122"/>
                <a:cs typeface="Aptos" pitchFamily="34" charset="-120"/>
              </a:rPr>
              <a:t>Every baseline weakness was tied to a concrete control and then retested.</a:t>
            </a:r>
            <a:endParaRPr lang="en-US" sz="1150" dirty="0"/>
          </a:p>
        </p:txBody>
      </p:sp>
      <p:sp>
        <p:nvSpPr>
          <p:cNvPr id="8" name="Shape 6"/>
          <p:cNvSpPr/>
          <p:nvPr/>
        </p:nvSpPr>
        <p:spPr>
          <a:xfrm>
            <a:off x="530352" y="1609344"/>
            <a:ext cx="5349240" cy="4526280"/>
          </a:xfrm>
          <a:prstGeom prst="roundRect">
            <a:avLst>
              <a:gd name="adj" fmla="val 1616"/>
            </a:avLst>
          </a:prstGeom>
          <a:solidFill>
            <a:srgbClr val="F8FAFC"/>
          </a:solidFill>
          <a:ln w="12700">
            <a:solidFill>
              <a:srgbClr val="E2E8F0">
                <a:alpha val="90000"/>
              </a:srgbClr>
            </a:solidFill>
            <a:prstDash val="solid"/>
          </a:ln>
        </p:spPr>
        <p:txBody>
          <a:bodyPr/>
          <a:p/>
        </p:txBody>
      </p:sp>
      <p:sp>
        <p:nvSpPr>
          <p:cNvPr id="9" name="Shape 7"/>
          <p:cNvSpPr/>
          <p:nvPr/>
        </p:nvSpPr>
        <p:spPr>
          <a:xfrm>
            <a:off x="749808" y="1865376"/>
            <a:ext cx="45720" cy="274320"/>
          </a:xfrm>
          <a:prstGeom prst="rect">
            <a:avLst/>
          </a:prstGeom>
          <a:solidFill>
            <a:srgbClr val="59D68C"/>
          </a:solidFill>
          <a:ln w="12700">
            <a:solidFill>
              <a:srgbClr val="15803D"/>
            </a:solidFill>
            <a:prstDash val="solid"/>
          </a:ln>
        </p:spPr>
        <p:txBody>
          <a:bodyPr/>
          <a:p/>
        </p:txBody>
      </p:sp>
      <p:sp>
        <p:nvSpPr>
          <p:cNvPr id="10" name="Text 8"/>
          <p:cNvSpPr/>
          <p:nvPr/>
        </p:nvSpPr>
        <p:spPr>
          <a:xfrm>
            <a:off x="877824" y="1860804"/>
            <a:ext cx="4718304" cy="274320"/>
          </a:xfrm>
          <a:prstGeom prst="rect">
            <a:avLst/>
          </a:prstGeom>
          <a:noFill/>
        </p:spPr>
        <p:txBody>
          <a:bodyPr wrap="square" lIns="0" tIns="0" rIns="0" bIns="0" rtlCol="0" anchor="ctr">
            <a:normAutofit/>
          </a:bodyPr>
          <a:lstStyle/>
          <a:p>
            <a:pPr marL="0" indent="0">
              <a:buNone/>
            </a:pPr>
            <a:r>
              <a:rPr lang="en-US" sz="1250" b="1" dirty="0">
                <a:solidFill>
                  <a:srgbClr val="0F172A"/>
                </a:solidFill>
                <a:latin typeface="Aptos" pitchFamily="34" charset="0"/>
                <a:ea typeface="Aptos" pitchFamily="34" charset="-122"/>
                <a:cs typeface="Aptos" pitchFamily="34" charset="-120"/>
              </a:rPr>
              <a:t>Controls added</a:t>
            </a:r>
            <a:endParaRPr lang="en-US" sz="1250" dirty="0"/>
          </a:p>
        </p:txBody>
      </p:sp>
      <p:sp>
        <p:nvSpPr>
          <p:cNvPr id="11" name="Shape 9"/>
          <p:cNvSpPr/>
          <p:nvPr/>
        </p:nvSpPr>
        <p:spPr>
          <a:xfrm>
            <a:off x="749808" y="2386584"/>
            <a:ext cx="68580" cy="68580"/>
          </a:xfrm>
          <a:prstGeom prst="ellipse">
            <a:avLst/>
          </a:prstGeom>
          <a:solidFill>
            <a:srgbClr val="59D68C"/>
          </a:solidFill>
          <a:ln w="12700">
            <a:solidFill>
              <a:srgbClr val="15803D"/>
            </a:solidFill>
            <a:prstDash val="solid"/>
          </a:ln>
        </p:spPr>
        <p:txBody>
          <a:bodyPr/>
          <a:p/>
        </p:txBody>
      </p:sp>
      <p:sp>
        <p:nvSpPr>
          <p:cNvPr id="12" name="Text 10"/>
          <p:cNvSpPr/>
          <p:nvPr/>
        </p:nvSpPr>
        <p:spPr>
          <a:xfrm>
            <a:off x="896112" y="2286000"/>
            <a:ext cx="4425696" cy="301752"/>
          </a:xfrm>
          <a:prstGeom prst="rect">
            <a:avLst/>
          </a:prstGeom>
          <a:noFill/>
        </p:spPr>
        <p:txBody>
          <a:bodyPr wrap="square" lIns="0" tIns="0" rIns="0" bIns="0" rtlCol="0" anchor="ctr">
            <a:normAutofit/>
          </a:bodyPr>
          <a:lstStyle/>
          <a:p>
            <a:pPr marL="0" indent="0">
              <a:buNone/>
            </a:pPr>
            <a:r>
              <a:rPr lang="en-US" sz="980" dirty="0">
                <a:solidFill>
                  <a:srgbClr val="334155"/>
                </a:solidFill>
                <a:latin typeface="Aptos" pitchFamily="34" charset="0"/>
                <a:ea typeface="Aptos" pitchFamily="34" charset="-122"/>
                <a:cs typeface="Aptos" pitchFamily="34" charset="-120"/>
              </a:rPr>
              <a:t>Remove /model_info</a:t>
            </a:r>
            <a:endParaRPr lang="en-US" sz="980" dirty="0"/>
          </a:p>
        </p:txBody>
      </p:sp>
      <p:sp>
        <p:nvSpPr>
          <p:cNvPr id="13" name="Shape 11"/>
          <p:cNvSpPr/>
          <p:nvPr/>
        </p:nvSpPr>
        <p:spPr>
          <a:xfrm>
            <a:off x="749808" y="2816352"/>
            <a:ext cx="68580" cy="68580"/>
          </a:xfrm>
          <a:prstGeom prst="ellipse">
            <a:avLst/>
          </a:prstGeom>
          <a:solidFill>
            <a:srgbClr val="59D68C"/>
          </a:solidFill>
          <a:ln w="12700">
            <a:solidFill>
              <a:srgbClr val="15803D"/>
            </a:solidFill>
            <a:prstDash val="solid"/>
          </a:ln>
        </p:spPr>
        <p:txBody>
          <a:bodyPr/>
          <a:p/>
        </p:txBody>
      </p:sp>
      <p:sp>
        <p:nvSpPr>
          <p:cNvPr id="14" name="Text 12"/>
          <p:cNvSpPr/>
          <p:nvPr/>
        </p:nvSpPr>
        <p:spPr>
          <a:xfrm>
            <a:off x="896112" y="2715768"/>
            <a:ext cx="4425696" cy="301752"/>
          </a:xfrm>
          <a:prstGeom prst="rect">
            <a:avLst/>
          </a:prstGeom>
          <a:noFill/>
        </p:spPr>
        <p:txBody>
          <a:bodyPr wrap="square" lIns="0" tIns="0" rIns="0" bIns="0" rtlCol="0" anchor="ctr">
            <a:normAutofit/>
          </a:bodyPr>
          <a:lstStyle/>
          <a:p>
            <a:pPr marL="0" indent="0">
              <a:buNone/>
            </a:pPr>
            <a:r>
              <a:rPr lang="en-US" sz="980" dirty="0">
                <a:solidFill>
                  <a:srgbClr val="334155"/>
                </a:solidFill>
                <a:latin typeface="Aptos" pitchFamily="34" charset="0"/>
                <a:ea typeface="Aptos" pitchFamily="34" charset="-122"/>
                <a:cs typeface="Aptos" pitchFamily="34" charset="-120"/>
              </a:rPr>
              <a:t>Disable /docs, /redoc, /openapi.json</a:t>
            </a:r>
            <a:endParaRPr lang="en-US" sz="980" dirty="0"/>
          </a:p>
        </p:txBody>
      </p:sp>
      <p:sp>
        <p:nvSpPr>
          <p:cNvPr id="15" name="Shape 13"/>
          <p:cNvSpPr/>
          <p:nvPr/>
        </p:nvSpPr>
        <p:spPr>
          <a:xfrm>
            <a:off x="749808" y="3246120"/>
            <a:ext cx="68580" cy="68580"/>
          </a:xfrm>
          <a:prstGeom prst="ellipse">
            <a:avLst/>
          </a:prstGeom>
          <a:solidFill>
            <a:srgbClr val="59D68C"/>
          </a:solidFill>
          <a:ln w="12700">
            <a:solidFill>
              <a:srgbClr val="15803D"/>
            </a:solidFill>
            <a:prstDash val="solid"/>
          </a:ln>
        </p:spPr>
        <p:txBody>
          <a:bodyPr/>
          <a:p/>
        </p:txBody>
      </p:sp>
      <p:sp>
        <p:nvSpPr>
          <p:cNvPr id="16" name="Text 14"/>
          <p:cNvSpPr/>
          <p:nvPr/>
        </p:nvSpPr>
        <p:spPr>
          <a:xfrm>
            <a:off x="896112" y="3145536"/>
            <a:ext cx="4425696" cy="301752"/>
          </a:xfrm>
          <a:prstGeom prst="rect">
            <a:avLst/>
          </a:prstGeom>
          <a:noFill/>
        </p:spPr>
        <p:txBody>
          <a:bodyPr wrap="square" lIns="0" tIns="0" rIns="0" bIns="0" rtlCol="0" anchor="ctr">
            <a:normAutofit/>
          </a:bodyPr>
          <a:lstStyle/>
          <a:p>
            <a:pPr marL="0" indent="0">
              <a:buNone/>
            </a:pPr>
            <a:r>
              <a:rPr lang="en-US" sz="980" dirty="0">
                <a:solidFill>
                  <a:srgbClr val="334155"/>
                </a:solidFill>
                <a:latin typeface="Aptos" pitchFamily="34" charset="0"/>
                <a:ea typeface="Aptos" pitchFamily="34" charset="-122"/>
                <a:cs typeface="Aptos" pitchFamily="34" charset="-120"/>
              </a:rPr>
              <a:t>Restrict CORS to local origins</a:t>
            </a:r>
            <a:endParaRPr lang="en-US" sz="980" dirty="0"/>
          </a:p>
        </p:txBody>
      </p:sp>
      <p:sp>
        <p:nvSpPr>
          <p:cNvPr id="17" name="Shape 15"/>
          <p:cNvSpPr/>
          <p:nvPr/>
        </p:nvSpPr>
        <p:spPr>
          <a:xfrm>
            <a:off x="749808" y="3675888"/>
            <a:ext cx="68580" cy="68580"/>
          </a:xfrm>
          <a:prstGeom prst="ellipse">
            <a:avLst/>
          </a:prstGeom>
          <a:solidFill>
            <a:srgbClr val="59D68C"/>
          </a:solidFill>
          <a:ln w="12700">
            <a:solidFill>
              <a:srgbClr val="15803D"/>
            </a:solidFill>
            <a:prstDash val="solid"/>
          </a:ln>
        </p:spPr>
        <p:txBody>
          <a:bodyPr/>
          <a:p/>
        </p:txBody>
      </p:sp>
      <p:sp>
        <p:nvSpPr>
          <p:cNvPr id="18" name="Text 16"/>
          <p:cNvSpPr/>
          <p:nvPr/>
        </p:nvSpPr>
        <p:spPr>
          <a:xfrm>
            <a:off x="896112" y="3575304"/>
            <a:ext cx="4425696" cy="301752"/>
          </a:xfrm>
          <a:prstGeom prst="rect">
            <a:avLst/>
          </a:prstGeom>
          <a:noFill/>
        </p:spPr>
        <p:txBody>
          <a:bodyPr wrap="square" lIns="0" tIns="0" rIns="0" bIns="0" rtlCol="0" anchor="ctr">
            <a:normAutofit/>
          </a:bodyPr>
          <a:lstStyle/>
          <a:p>
            <a:pPr marL="0" indent="0">
              <a:buNone/>
            </a:pPr>
            <a:r>
              <a:rPr lang="en-US" sz="980" dirty="0">
                <a:solidFill>
                  <a:srgbClr val="334155"/>
                </a:solidFill>
                <a:latin typeface="Aptos" pitchFamily="34" charset="0"/>
                <a:ea typeface="Aptos" pitchFamily="34" charset="-122"/>
                <a:cs typeface="Aptos" pitchFamily="34" charset="-120"/>
              </a:rPr>
              <a:t>5 MB per file</a:t>
            </a:r>
            <a:endParaRPr lang="en-US" sz="980" dirty="0"/>
          </a:p>
        </p:txBody>
      </p:sp>
      <p:sp>
        <p:nvSpPr>
          <p:cNvPr id="19" name="Shape 17"/>
          <p:cNvSpPr/>
          <p:nvPr/>
        </p:nvSpPr>
        <p:spPr>
          <a:xfrm>
            <a:off x="749808" y="4105656"/>
            <a:ext cx="68580" cy="68580"/>
          </a:xfrm>
          <a:prstGeom prst="ellipse">
            <a:avLst/>
          </a:prstGeom>
          <a:solidFill>
            <a:srgbClr val="59D68C"/>
          </a:solidFill>
          <a:ln w="12700">
            <a:solidFill>
              <a:srgbClr val="15803D"/>
            </a:solidFill>
            <a:prstDash val="solid"/>
          </a:ln>
        </p:spPr>
        <p:txBody>
          <a:bodyPr/>
          <a:p/>
        </p:txBody>
      </p:sp>
      <p:sp>
        <p:nvSpPr>
          <p:cNvPr id="20" name="Text 18"/>
          <p:cNvSpPr/>
          <p:nvPr/>
        </p:nvSpPr>
        <p:spPr>
          <a:xfrm>
            <a:off x="896112" y="4005072"/>
            <a:ext cx="4425696" cy="301752"/>
          </a:xfrm>
          <a:prstGeom prst="rect">
            <a:avLst/>
          </a:prstGeom>
          <a:noFill/>
        </p:spPr>
        <p:txBody>
          <a:bodyPr wrap="square" lIns="0" tIns="0" rIns="0" bIns="0" rtlCol="0" anchor="ctr">
            <a:normAutofit/>
          </a:bodyPr>
          <a:lstStyle/>
          <a:p>
            <a:pPr marL="0" indent="0">
              <a:buNone/>
            </a:pPr>
            <a:r>
              <a:rPr lang="en-US" sz="980" dirty="0">
                <a:solidFill>
                  <a:srgbClr val="334155"/>
                </a:solidFill>
                <a:latin typeface="Aptos" pitchFamily="34" charset="0"/>
                <a:ea typeface="Aptos" pitchFamily="34" charset="-122"/>
                <a:cs typeface="Aptos" pitchFamily="34" charset="-120"/>
              </a:rPr>
              <a:t>10 files per batch</a:t>
            </a:r>
            <a:endParaRPr lang="en-US" sz="980" dirty="0"/>
          </a:p>
        </p:txBody>
      </p:sp>
      <p:sp>
        <p:nvSpPr>
          <p:cNvPr id="21" name="Shape 19"/>
          <p:cNvSpPr/>
          <p:nvPr/>
        </p:nvSpPr>
        <p:spPr>
          <a:xfrm>
            <a:off x="749808" y="4535424"/>
            <a:ext cx="68580" cy="68580"/>
          </a:xfrm>
          <a:prstGeom prst="ellipse">
            <a:avLst/>
          </a:prstGeom>
          <a:solidFill>
            <a:srgbClr val="59D68C"/>
          </a:solidFill>
          <a:ln w="12700">
            <a:solidFill>
              <a:srgbClr val="15803D"/>
            </a:solidFill>
            <a:prstDash val="solid"/>
          </a:ln>
        </p:spPr>
        <p:txBody>
          <a:bodyPr/>
          <a:p/>
        </p:txBody>
      </p:sp>
      <p:sp>
        <p:nvSpPr>
          <p:cNvPr id="22" name="Text 20"/>
          <p:cNvSpPr/>
          <p:nvPr/>
        </p:nvSpPr>
        <p:spPr>
          <a:xfrm>
            <a:off x="896112" y="4434840"/>
            <a:ext cx="4425696" cy="301752"/>
          </a:xfrm>
          <a:prstGeom prst="rect">
            <a:avLst/>
          </a:prstGeom>
          <a:noFill/>
        </p:spPr>
        <p:txBody>
          <a:bodyPr wrap="square" lIns="0" tIns="0" rIns="0" bIns="0" rtlCol="0" anchor="ctr">
            <a:normAutofit/>
          </a:bodyPr>
          <a:lstStyle/>
          <a:p>
            <a:pPr marL="0" indent="0">
              <a:buNone/>
            </a:pPr>
            <a:r>
              <a:rPr lang="en-US" sz="980" dirty="0">
                <a:solidFill>
                  <a:srgbClr val="334155"/>
                </a:solidFill>
                <a:latin typeface="Aptos" pitchFamily="34" charset="0"/>
                <a:ea typeface="Aptos" pitchFamily="34" charset="-122"/>
                <a:cs typeface="Aptos" pitchFamily="34" charset="-120"/>
              </a:rPr>
              <a:t>20 MB total batch</a:t>
            </a:r>
            <a:endParaRPr lang="en-US" sz="980" dirty="0"/>
          </a:p>
        </p:txBody>
      </p:sp>
      <p:sp>
        <p:nvSpPr>
          <p:cNvPr id="23" name="Shape 21"/>
          <p:cNvSpPr/>
          <p:nvPr/>
        </p:nvSpPr>
        <p:spPr>
          <a:xfrm>
            <a:off x="749808" y="4965192"/>
            <a:ext cx="68580" cy="68580"/>
          </a:xfrm>
          <a:prstGeom prst="ellipse">
            <a:avLst/>
          </a:prstGeom>
          <a:solidFill>
            <a:srgbClr val="59D68C"/>
          </a:solidFill>
          <a:ln w="12700">
            <a:solidFill>
              <a:srgbClr val="15803D"/>
            </a:solidFill>
            <a:prstDash val="solid"/>
          </a:ln>
        </p:spPr>
        <p:txBody>
          <a:bodyPr/>
          <a:p/>
        </p:txBody>
      </p:sp>
      <p:sp>
        <p:nvSpPr>
          <p:cNvPr id="24" name="Text 22"/>
          <p:cNvSpPr/>
          <p:nvPr/>
        </p:nvSpPr>
        <p:spPr>
          <a:xfrm>
            <a:off x="896112" y="4864608"/>
            <a:ext cx="4425696" cy="301752"/>
          </a:xfrm>
          <a:prstGeom prst="rect">
            <a:avLst/>
          </a:prstGeom>
          <a:noFill/>
        </p:spPr>
        <p:txBody>
          <a:bodyPr wrap="square" lIns="0" tIns="0" rIns="0" bIns="0" rtlCol="0" anchor="ctr">
            <a:normAutofit/>
          </a:bodyPr>
          <a:lstStyle/>
          <a:p>
            <a:pPr marL="0" indent="0">
              <a:buNone/>
            </a:pPr>
            <a:r>
              <a:rPr lang="en-US" sz="980" dirty="0">
                <a:solidFill>
                  <a:srgbClr val="334155"/>
                </a:solidFill>
                <a:latin typeface="Aptos" pitchFamily="34" charset="0"/>
                <a:ea typeface="Aptos" pitchFamily="34" charset="-122"/>
                <a:cs typeface="Aptos" pitchFamily="34" charset="-120"/>
              </a:rPr>
              <a:t>1024 × 1024 image maximum</a:t>
            </a:r>
            <a:endParaRPr lang="en-US" sz="980" dirty="0"/>
          </a:p>
        </p:txBody>
      </p:sp>
      <p:sp>
        <p:nvSpPr>
          <p:cNvPr id="25" name="Shape 23"/>
          <p:cNvSpPr/>
          <p:nvPr/>
        </p:nvSpPr>
        <p:spPr>
          <a:xfrm>
            <a:off x="749808" y="5394960"/>
            <a:ext cx="68580" cy="68580"/>
          </a:xfrm>
          <a:prstGeom prst="ellipse">
            <a:avLst/>
          </a:prstGeom>
          <a:solidFill>
            <a:srgbClr val="59D68C"/>
          </a:solidFill>
          <a:ln w="12700">
            <a:solidFill>
              <a:srgbClr val="15803D"/>
            </a:solidFill>
            <a:prstDash val="solid"/>
          </a:ln>
        </p:spPr>
        <p:txBody>
          <a:bodyPr/>
          <a:p/>
        </p:txBody>
      </p:sp>
      <p:sp>
        <p:nvSpPr>
          <p:cNvPr id="26" name="Text 24"/>
          <p:cNvSpPr/>
          <p:nvPr/>
        </p:nvSpPr>
        <p:spPr>
          <a:xfrm>
            <a:off x="896112" y="5294376"/>
            <a:ext cx="4425696" cy="301752"/>
          </a:xfrm>
          <a:prstGeom prst="rect">
            <a:avLst/>
          </a:prstGeom>
          <a:noFill/>
        </p:spPr>
        <p:txBody>
          <a:bodyPr wrap="square" lIns="0" tIns="0" rIns="0" bIns="0" rtlCol="0" anchor="ctr">
            <a:normAutofit/>
          </a:bodyPr>
          <a:lstStyle/>
          <a:p>
            <a:pPr marL="0" indent="0">
              <a:buNone/>
            </a:pPr>
            <a:r>
              <a:rPr lang="en-US" sz="980" dirty="0">
                <a:solidFill>
                  <a:srgbClr val="334155"/>
                </a:solidFill>
                <a:latin typeface="Aptos" pitchFamily="34" charset="0"/>
                <a:ea typeface="Aptos" pitchFamily="34" charset="-122"/>
                <a:cs typeface="Aptos" pitchFamily="34" charset="-120"/>
              </a:rPr>
              <a:t>Generic external image errors</a:t>
            </a:r>
            <a:endParaRPr lang="en-US" sz="980" dirty="0"/>
          </a:p>
        </p:txBody>
      </p:sp>
      <p:sp>
        <p:nvSpPr>
          <p:cNvPr id="27" name="Shape 25"/>
          <p:cNvSpPr/>
          <p:nvPr/>
        </p:nvSpPr>
        <p:spPr>
          <a:xfrm>
            <a:off x="6108192" y="1609344"/>
            <a:ext cx="5550408" cy="4526280"/>
          </a:xfrm>
          <a:prstGeom prst="roundRect">
            <a:avLst>
              <a:gd name="adj" fmla="val 1616"/>
            </a:avLst>
          </a:prstGeom>
          <a:solidFill>
            <a:srgbClr val="F1F5F9"/>
          </a:solidFill>
          <a:ln w="12700">
            <a:solidFill>
              <a:srgbClr val="E2E8F0">
                <a:alpha val="90000"/>
              </a:srgbClr>
            </a:solidFill>
            <a:prstDash val="solid"/>
          </a:ln>
        </p:spPr>
        <p:txBody>
          <a:bodyPr/>
          <a:p/>
        </p:txBody>
      </p:sp>
      <p:sp>
        <p:nvSpPr>
          <p:cNvPr id="28" name="Shape 26"/>
          <p:cNvSpPr/>
          <p:nvPr/>
        </p:nvSpPr>
        <p:spPr>
          <a:xfrm>
            <a:off x="6345936" y="1865376"/>
            <a:ext cx="45720" cy="274320"/>
          </a:xfrm>
          <a:prstGeom prst="rect">
            <a:avLst/>
          </a:prstGeom>
          <a:solidFill>
            <a:srgbClr val="56E0FF"/>
          </a:solidFill>
          <a:ln w="12700">
            <a:solidFill>
              <a:srgbClr val="0E7490"/>
            </a:solidFill>
            <a:prstDash val="solid"/>
          </a:ln>
        </p:spPr>
        <p:txBody>
          <a:bodyPr/>
          <a:p/>
        </p:txBody>
      </p:sp>
      <p:sp>
        <p:nvSpPr>
          <p:cNvPr id="29" name="Text 27"/>
          <p:cNvSpPr/>
          <p:nvPr/>
        </p:nvSpPr>
        <p:spPr>
          <a:xfrm>
            <a:off x="6473952" y="1860804"/>
            <a:ext cx="4946904" cy="274320"/>
          </a:xfrm>
          <a:prstGeom prst="rect">
            <a:avLst/>
          </a:prstGeom>
          <a:noFill/>
        </p:spPr>
        <p:txBody>
          <a:bodyPr wrap="square" lIns="0" tIns="0" rIns="0" bIns="0" rtlCol="0" anchor="ctr">
            <a:normAutofit/>
          </a:bodyPr>
          <a:lstStyle/>
          <a:p>
            <a:pPr marL="0" indent="0">
              <a:buNone/>
            </a:pPr>
            <a:r>
              <a:rPr lang="en-US" sz="1250" b="1" dirty="0">
                <a:solidFill>
                  <a:srgbClr val="0F172A"/>
                </a:solidFill>
                <a:latin typeface="Aptos" pitchFamily="34" charset="0"/>
                <a:ea typeface="Aptos" pitchFamily="34" charset="-122"/>
                <a:cs typeface="Aptos" pitchFamily="34" charset="-120"/>
              </a:rPr>
              <a:t>Retest results</a:t>
            </a:r>
            <a:endParaRPr lang="en-US" sz="1250" dirty="0"/>
          </a:p>
        </p:txBody>
      </p:sp>
      <p:sp>
        <p:nvSpPr>
          <p:cNvPr id="30" name="Text 28"/>
          <p:cNvSpPr/>
          <p:nvPr/>
        </p:nvSpPr>
        <p:spPr>
          <a:xfrm>
            <a:off x="6382512" y="2304288"/>
            <a:ext cx="3383280" cy="201168"/>
          </a:xfrm>
          <a:prstGeom prst="rect">
            <a:avLst/>
          </a:prstGeom>
          <a:noFill/>
        </p:spPr>
        <p:txBody>
          <a:bodyPr wrap="square" lIns="0" tIns="0" rIns="0" bIns="0" rtlCol="0" anchor="ctr">
            <a:normAutofit/>
          </a:bodyPr>
          <a:lstStyle/>
          <a:p>
            <a:pPr marL="0" indent="0">
              <a:buNone/>
            </a:pPr>
            <a:r>
              <a:rPr lang="en-US" sz="970" dirty="0">
                <a:solidFill>
                  <a:srgbClr val="334155"/>
                </a:solidFill>
                <a:latin typeface="Aptos" pitchFamily="34" charset="0"/>
                <a:ea typeface="Aptos" pitchFamily="34" charset="-122"/>
                <a:cs typeface="Aptos" pitchFamily="34" charset="-120"/>
              </a:rPr>
              <a:t>/model_info</a:t>
            </a:r>
            <a:endParaRPr lang="en-US" sz="970" dirty="0"/>
          </a:p>
        </p:txBody>
      </p:sp>
      <p:sp>
        <p:nvSpPr>
          <p:cNvPr id="31" name="Text 29"/>
          <p:cNvSpPr/>
          <p:nvPr/>
        </p:nvSpPr>
        <p:spPr>
          <a:xfrm>
            <a:off x="10195560" y="2304288"/>
            <a:ext cx="1024128" cy="201168"/>
          </a:xfrm>
          <a:prstGeom prst="rect">
            <a:avLst/>
          </a:prstGeom>
          <a:noFill/>
        </p:spPr>
        <p:txBody>
          <a:bodyPr wrap="square" lIns="0" tIns="0" rIns="0" bIns="0" rtlCol="0" anchor="ctr">
            <a:normAutofit/>
          </a:bodyPr>
          <a:lstStyle/>
          <a:p>
            <a:pPr marL="0" indent="0" algn="r">
              <a:buNone/>
            </a:pPr>
            <a:r>
              <a:rPr lang="en-US" sz="970" b="1" dirty="0">
                <a:solidFill>
                  <a:srgbClr val="15803D"/>
                </a:solidFill>
                <a:latin typeface="Aptos" pitchFamily="34" charset="0"/>
                <a:ea typeface="Aptos" pitchFamily="34" charset="-122"/>
                <a:cs typeface="Aptos" pitchFamily="34" charset="-120"/>
              </a:rPr>
              <a:t>404</a:t>
            </a:r>
            <a:endParaRPr lang="en-US" sz="970" dirty="0"/>
          </a:p>
        </p:txBody>
      </p:sp>
      <p:sp>
        <p:nvSpPr>
          <p:cNvPr id="32" name="Shape 30"/>
          <p:cNvSpPr/>
          <p:nvPr/>
        </p:nvSpPr>
        <p:spPr>
          <a:xfrm>
            <a:off x="6382512" y="2615184"/>
            <a:ext cx="4828032" cy="0"/>
          </a:xfrm>
          <a:prstGeom prst="line">
            <a:avLst/>
          </a:prstGeom>
          <a:noFill/>
          <a:ln w="7620">
            <a:solidFill>
              <a:srgbClr val="E2E8F0">
                <a:alpha val="65000"/>
              </a:srgbClr>
            </a:solidFill>
            <a:prstDash val="solid"/>
          </a:ln>
        </p:spPr>
        <p:txBody>
          <a:bodyPr/>
          <a:p/>
        </p:txBody>
      </p:sp>
      <p:sp>
        <p:nvSpPr>
          <p:cNvPr id="33" name="Text 31"/>
          <p:cNvSpPr/>
          <p:nvPr/>
        </p:nvSpPr>
        <p:spPr>
          <a:xfrm>
            <a:off x="6382512" y="2770632"/>
            <a:ext cx="3383280" cy="201168"/>
          </a:xfrm>
          <a:prstGeom prst="rect">
            <a:avLst/>
          </a:prstGeom>
          <a:noFill/>
        </p:spPr>
        <p:txBody>
          <a:bodyPr wrap="square" lIns="0" tIns="0" rIns="0" bIns="0" rtlCol="0" anchor="ctr">
            <a:normAutofit/>
          </a:bodyPr>
          <a:lstStyle/>
          <a:p>
            <a:pPr marL="0" indent="0">
              <a:buNone/>
            </a:pPr>
            <a:r>
              <a:rPr lang="en-US" sz="970" dirty="0">
                <a:solidFill>
                  <a:srgbClr val="334155"/>
                </a:solidFill>
                <a:latin typeface="Aptos" pitchFamily="34" charset="0"/>
                <a:ea typeface="Aptos" pitchFamily="34" charset="-122"/>
                <a:cs typeface="Aptos" pitchFamily="34" charset="-120"/>
              </a:rPr>
              <a:t>/docs / redoc / openapi</a:t>
            </a:r>
            <a:endParaRPr lang="en-US" sz="970" dirty="0"/>
          </a:p>
        </p:txBody>
      </p:sp>
      <p:sp>
        <p:nvSpPr>
          <p:cNvPr id="34" name="Text 32"/>
          <p:cNvSpPr/>
          <p:nvPr/>
        </p:nvSpPr>
        <p:spPr>
          <a:xfrm>
            <a:off x="10195560" y="2770632"/>
            <a:ext cx="1024128" cy="201168"/>
          </a:xfrm>
          <a:prstGeom prst="rect">
            <a:avLst/>
          </a:prstGeom>
          <a:noFill/>
        </p:spPr>
        <p:txBody>
          <a:bodyPr wrap="square" lIns="0" tIns="0" rIns="0" bIns="0" rtlCol="0" anchor="ctr">
            <a:normAutofit/>
          </a:bodyPr>
          <a:lstStyle/>
          <a:p>
            <a:pPr marL="0" indent="0" algn="r">
              <a:buNone/>
            </a:pPr>
            <a:r>
              <a:rPr lang="en-US" sz="970" b="1" dirty="0">
                <a:solidFill>
                  <a:srgbClr val="15803D"/>
                </a:solidFill>
                <a:latin typeface="Aptos" pitchFamily="34" charset="0"/>
                <a:ea typeface="Aptos" pitchFamily="34" charset="-122"/>
                <a:cs typeface="Aptos" pitchFamily="34" charset="-120"/>
              </a:rPr>
              <a:t>404</a:t>
            </a:r>
            <a:endParaRPr lang="en-US" sz="970" dirty="0"/>
          </a:p>
        </p:txBody>
      </p:sp>
      <p:sp>
        <p:nvSpPr>
          <p:cNvPr id="35" name="Shape 33"/>
          <p:cNvSpPr/>
          <p:nvPr/>
        </p:nvSpPr>
        <p:spPr>
          <a:xfrm>
            <a:off x="6382512" y="3081528"/>
            <a:ext cx="4828032" cy="0"/>
          </a:xfrm>
          <a:prstGeom prst="line">
            <a:avLst/>
          </a:prstGeom>
          <a:noFill/>
          <a:ln w="7620">
            <a:solidFill>
              <a:srgbClr val="E2E8F0">
                <a:alpha val="65000"/>
              </a:srgbClr>
            </a:solidFill>
            <a:prstDash val="solid"/>
          </a:ln>
        </p:spPr>
        <p:txBody>
          <a:bodyPr/>
          <a:p/>
        </p:txBody>
      </p:sp>
      <p:sp>
        <p:nvSpPr>
          <p:cNvPr id="36" name="Text 34"/>
          <p:cNvSpPr/>
          <p:nvPr/>
        </p:nvSpPr>
        <p:spPr>
          <a:xfrm>
            <a:off x="6382512" y="3236976"/>
            <a:ext cx="3383280" cy="201168"/>
          </a:xfrm>
          <a:prstGeom prst="rect">
            <a:avLst/>
          </a:prstGeom>
          <a:noFill/>
        </p:spPr>
        <p:txBody>
          <a:bodyPr wrap="square" lIns="0" tIns="0" rIns="0" bIns="0" rtlCol="0" anchor="ctr">
            <a:normAutofit/>
          </a:bodyPr>
          <a:lstStyle/>
          <a:p>
            <a:pPr marL="0" indent="0">
              <a:buNone/>
            </a:pPr>
            <a:r>
              <a:rPr lang="en-US" sz="970" dirty="0">
                <a:solidFill>
                  <a:srgbClr val="334155"/>
                </a:solidFill>
                <a:latin typeface="Aptos" pitchFamily="34" charset="0"/>
                <a:ea typeface="Aptos" pitchFamily="34" charset="-122"/>
                <a:cs typeface="Aptos" pitchFamily="34" charset="-120"/>
              </a:rPr>
              <a:t>6 MB file</a:t>
            </a:r>
            <a:endParaRPr lang="en-US" sz="970" dirty="0"/>
          </a:p>
        </p:txBody>
      </p:sp>
      <p:sp>
        <p:nvSpPr>
          <p:cNvPr id="37" name="Text 35"/>
          <p:cNvSpPr/>
          <p:nvPr/>
        </p:nvSpPr>
        <p:spPr>
          <a:xfrm>
            <a:off x="10195560" y="3236976"/>
            <a:ext cx="1024128" cy="201168"/>
          </a:xfrm>
          <a:prstGeom prst="rect">
            <a:avLst/>
          </a:prstGeom>
          <a:noFill/>
        </p:spPr>
        <p:txBody>
          <a:bodyPr wrap="square" lIns="0" tIns="0" rIns="0" bIns="0" rtlCol="0" anchor="ctr">
            <a:normAutofit/>
          </a:bodyPr>
          <a:lstStyle/>
          <a:p>
            <a:pPr marL="0" indent="0" algn="r">
              <a:buNone/>
            </a:pPr>
            <a:r>
              <a:rPr lang="en-US" sz="970" b="1" dirty="0">
                <a:solidFill>
                  <a:srgbClr val="15803D"/>
                </a:solidFill>
                <a:latin typeface="Aptos" pitchFamily="34" charset="0"/>
                <a:ea typeface="Aptos" pitchFamily="34" charset="-122"/>
                <a:cs typeface="Aptos" pitchFamily="34" charset="-120"/>
              </a:rPr>
              <a:t>413</a:t>
            </a:r>
            <a:endParaRPr lang="en-US" sz="970" dirty="0"/>
          </a:p>
        </p:txBody>
      </p:sp>
      <p:sp>
        <p:nvSpPr>
          <p:cNvPr id="38" name="Shape 36"/>
          <p:cNvSpPr/>
          <p:nvPr/>
        </p:nvSpPr>
        <p:spPr>
          <a:xfrm>
            <a:off x="6382512" y="3547872"/>
            <a:ext cx="4828032" cy="0"/>
          </a:xfrm>
          <a:prstGeom prst="line">
            <a:avLst/>
          </a:prstGeom>
          <a:noFill/>
          <a:ln w="7620">
            <a:solidFill>
              <a:srgbClr val="E2E8F0">
                <a:alpha val="65000"/>
              </a:srgbClr>
            </a:solidFill>
            <a:prstDash val="solid"/>
          </a:ln>
        </p:spPr>
        <p:txBody>
          <a:bodyPr/>
          <a:p/>
        </p:txBody>
      </p:sp>
      <p:sp>
        <p:nvSpPr>
          <p:cNvPr id="39" name="Text 37"/>
          <p:cNvSpPr/>
          <p:nvPr/>
        </p:nvSpPr>
        <p:spPr>
          <a:xfrm>
            <a:off x="6382512" y="3703320"/>
            <a:ext cx="3383280" cy="201168"/>
          </a:xfrm>
          <a:prstGeom prst="rect">
            <a:avLst/>
          </a:prstGeom>
          <a:noFill/>
        </p:spPr>
        <p:txBody>
          <a:bodyPr wrap="square" lIns="0" tIns="0" rIns="0" bIns="0" rtlCol="0" anchor="ctr">
            <a:normAutofit/>
          </a:bodyPr>
          <a:lstStyle/>
          <a:p>
            <a:pPr marL="0" indent="0">
              <a:buNone/>
            </a:pPr>
            <a:r>
              <a:rPr lang="en-US" sz="970" dirty="0">
                <a:solidFill>
                  <a:srgbClr val="334155"/>
                </a:solidFill>
                <a:latin typeface="Aptos" pitchFamily="34" charset="0"/>
                <a:ea typeface="Aptos" pitchFamily="34" charset="-122"/>
                <a:cs typeface="Aptos" pitchFamily="34" charset="-120"/>
              </a:rPr>
              <a:t>2000×2000 image</a:t>
            </a:r>
            <a:endParaRPr lang="en-US" sz="970" dirty="0"/>
          </a:p>
        </p:txBody>
      </p:sp>
      <p:sp>
        <p:nvSpPr>
          <p:cNvPr id="40" name="Text 38"/>
          <p:cNvSpPr/>
          <p:nvPr/>
        </p:nvSpPr>
        <p:spPr>
          <a:xfrm>
            <a:off x="10195560" y="3703320"/>
            <a:ext cx="1024128" cy="201168"/>
          </a:xfrm>
          <a:prstGeom prst="rect">
            <a:avLst/>
          </a:prstGeom>
          <a:noFill/>
        </p:spPr>
        <p:txBody>
          <a:bodyPr wrap="square" lIns="0" tIns="0" rIns="0" bIns="0" rtlCol="0" anchor="ctr">
            <a:normAutofit/>
          </a:bodyPr>
          <a:lstStyle/>
          <a:p>
            <a:pPr marL="0" indent="0" algn="r">
              <a:buNone/>
            </a:pPr>
            <a:r>
              <a:rPr lang="en-US" sz="970" b="1" dirty="0">
                <a:solidFill>
                  <a:srgbClr val="15803D"/>
                </a:solidFill>
                <a:latin typeface="Aptos" pitchFamily="34" charset="0"/>
                <a:ea typeface="Aptos" pitchFamily="34" charset="-122"/>
                <a:cs typeface="Aptos" pitchFamily="34" charset="-120"/>
              </a:rPr>
              <a:t>400</a:t>
            </a:r>
            <a:endParaRPr lang="en-US" sz="970" dirty="0"/>
          </a:p>
        </p:txBody>
      </p:sp>
      <p:sp>
        <p:nvSpPr>
          <p:cNvPr id="41" name="Shape 39"/>
          <p:cNvSpPr/>
          <p:nvPr/>
        </p:nvSpPr>
        <p:spPr>
          <a:xfrm>
            <a:off x="6382512" y="4014216"/>
            <a:ext cx="4828032" cy="0"/>
          </a:xfrm>
          <a:prstGeom prst="line">
            <a:avLst/>
          </a:prstGeom>
          <a:noFill/>
          <a:ln w="7620">
            <a:solidFill>
              <a:srgbClr val="E2E8F0">
                <a:alpha val="65000"/>
              </a:srgbClr>
            </a:solidFill>
            <a:prstDash val="solid"/>
          </a:ln>
        </p:spPr>
        <p:txBody>
          <a:bodyPr/>
          <a:p/>
        </p:txBody>
      </p:sp>
      <p:sp>
        <p:nvSpPr>
          <p:cNvPr id="42" name="Text 40"/>
          <p:cNvSpPr/>
          <p:nvPr/>
        </p:nvSpPr>
        <p:spPr>
          <a:xfrm>
            <a:off x="6382512" y="4169664"/>
            <a:ext cx="3383280" cy="201168"/>
          </a:xfrm>
          <a:prstGeom prst="rect">
            <a:avLst/>
          </a:prstGeom>
          <a:noFill/>
        </p:spPr>
        <p:txBody>
          <a:bodyPr wrap="square" lIns="0" tIns="0" rIns="0" bIns="0" rtlCol="0" anchor="ctr">
            <a:normAutofit/>
          </a:bodyPr>
          <a:lstStyle/>
          <a:p>
            <a:pPr marL="0" indent="0">
              <a:buNone/>
            </a:pPr>
            <a:r>
              <a:rPr lang="en-US" sz="970" dirty="0">
                <a:solidFill>
                  <a:srgbClr val="334155"/>
                </a:solidFill>
                <a:latin typeface="Aptos" pitchFamily="34" charset="0"/>
                <a:ea typeface="Aptos" pitchFamily="34" charset="-122"/>
                <a:cs typeface="Aptos" pitchFamily="34" charset="-120"/>
              </a:rPr>
              <a:t>11-file batch</a:t>
            </a:r>
            <a:endParaRPr lang="en-US" sz="970" dirty="0"/>
          </a:p>
        </p:txBody>
      </p:sp>
      <p:sp>
        <p:nvSpPr>
          <p:cNvPr id="43" name="Text 41"/>
          <p:cNvSpPr/>
          <p:nvPr/>
        </p:nvSpPr>
        <p:spPr>
          <a:xfrm>
            <a:off x="10195560" y="4169664"/>
            <a:ext cx="1024128" cy="201168"/>
          </a:xfrm>
          <a:prstGeom prst="rect">
            <a:avLst/>
          </a:prstGeom>
          <a:noFill/>
        </p:spPr>
        <p:txBody>
          <a:bodyPr wrap="square" lIns="0" tIns="0" rIns="0" bIns="0" rtlCol="0" anchor="ctr">
            <a:normAutofit/>
          </a:bodyPr>
          <a:lstStyle/>
          <a:p>
            <a:pPr marL="0" indent="0" algn="r">
              <a:buNone/>
            </a:pPr>
            <a:r>
              <a:rPr lang="en-US" sz="970" b="1" dirty="0">
                <a:solidFill>
                  <a:srgbClr val="15803D"/>
                </a:solidFill>
                <a:latin typeface="Aptos" pitchFamily="34" charset="0"/>
                <a:ea typeface="Aptos" pitchFamily="34" charset="-122"/>
                <a:cs typeface="Aptos" pitchFamily="34" charset="-120"/>
              </a:rPr>
              <a:t>413</a:t>
            </a:r>
            <a:endParaRPr lang="en-US" sz="970" dirty="0"/>
          </a:p>
        </p:txBody>
      </p:sp>
      <p:sp>
        <p:nvSpPr>
          <p:cNvPr id="44" name="Shape 42"/>
          <p:cNvSpPr/>
          <p:nvPr/>
        </p:nvSpPr>
        <p:spPr>
          <a:xfrm>
            <a:off x="6382512" y="4480560"/>
            <a:ext cx="4828032" cy="0"/>
          </a:xfrm>
          <a:prstGeom prst="line">
            <a:avLst/>
          </a:prstGeom>
          <a:noFill/>
          <a:ln w="7620">
            <a:solidFill>
              <a:srgbClr val="E2E8F0">
                <a:alpha val="65000"/>
              </a:srgbClr>
            </a:solidFill>
            <a:prstDash val="solid"/>
          </a:ln>
        </p:spPr>
        <p:txBody>
          <a:bodyPr/>
          <a:p/>
        </p:txBody>
      </p:sp>
      <p:sp>
        <p:nvSpPr>
          <p:cNvPr id="45" name="Text 43"/>
          <p:cNvSpPr/>
          <p:nvPr/>
        </p:nvSpPr>
        <p:spPr>
          <a:xfrm>
            <a:off x="6382512" y="4636008"/>
            <a:ext cx="3383280" cy="201168"/>
          </a:xfrm>
          <a:prstGeom prst="rect">
            <a:avLst/>
          </a:prstGeom>
          <a:noFill/>
        </p:spPr>
        <p:txBody>
          <a:bodyPr wrap="square" lIns="0" tIns="0" rIns="0" bIns="0" rtlCol="0" anchor="ctr">
            <a:normAutofit/>
          </a:bodyPr>
          <a:lstStyle/>
          <a:p>
            <a:pPr marL="0" indent="0">
              <a:buNone/>
            </a:pPr>
            <a:r>
              <a:rPr lang="en-US" sz="970" dirty="0">
                <a:solidFill>
                  <a:srgbClr val="334155"/>
                </a:solidFill>
                <a:latin typeface="Aptos" pitchFamily="34" charset="0"/>
                <a:ea typeface="Aptos" pitchFamily="34" charset="-122"/>
                <a:cs typeface="Aptos" pitchFamily="34" charset="-120"/>
              </a:rPr>
              <a:t>~23 MB batch</a:t>
            </a:r>
            <a:endParaRPr lang="en-US" sz="970" dirty="0"/>
          </a:p>
        </p:txBody>
      </p:sp>
      <p:sp>
        <p:nvSpPr>
          <p:cNvPr id="46" name="Text 44"/>
          <p:cNvSpPr/>
          <p:nvPr/>
        </p:nvSpPr>
        <p:spPr>
          <a:xfrm>
            <a:off x="10195560" y="4636008"/>
            <a:ext cx="1024128" cy="201168"/>
          </a:xfrm>
          <a:prstGeom prst="rect">
            <a:avLst/>
          </a:prstGeom>
          <a:noFill/>
        </p:spPr>
        <p:txBody>
          <a:bodyPr wrap="square" lIns="0" tIns="0" rIns="0" bIns="0" rtlCol="0" anchor="ctr">
            <a:normAutofit/>
          </a:bodyPr>
          <a:lstStyle/>
          <a:p>
            <a:pPr marL="0" indent="0" algn="r">
              <a:buNone/>
            </a:pPr>
            <a:r>
              <a:rPr lang="en-US" sz="970" b="1" dirty="0">
                <a:solidFill>
                  <a:srgbClr val="15803D"/>
                </a:solidFill>
                <a:latin typeface="Aptos" pitchFamily="34" charset="0"/>
                <a:ea typeface="Aptos" pitchFamily="34" charset="-122"/>
                <a:cs typeface="Aptos" pitchFamily="34" charset="-120"/>
              </a:rPr>
              <a:t>413</a:t>
            </a:r>
            <a:endParaRPr lang="en-US" sz="970" dirty="0"/>
          </a:p>
        </p:txBody>
      </p:sp>
      <p:sp>
        <p:nvSpPr>
          <p:cNvPr id="47" name="Shape 45"/>
          <p:cNvSpPr/>
          <p:nvPr/>
        </p:nvSpPr>
        <p:spPr>
          <a:xfrm>
            <a:off x="6382512" y="4946904"/>
            <a:ext cx="4828032" cy="0"/>
          </a:xfrm>
          <a:prstGeom prst="line">
            <a:avLst/>
          </a:prstGeom>
          <a:noFill/>
          <a:ln w="7620">
            <a:solidFill>
              <a:srgbClr val="E2E8F0">
                <a:alpha val="65000"/>
              </a:srgbClr>
            </a:solidFill>
            <a:prstDash val="solid"/>
          </a:ln>
        </p:spPr>
        <p:txBody>
          <a:bodyPr/>
          <a:p/>
        </p:txBody>
      </p:sp>
      <p:sp>
        <p:nvSpPr>
          <p:cNvPr id="48" name="Text 46"/>
          <p:cNvSpPr/>
          <p:nvPr/>
        </p:nvSpPr>
        <p:spPr>
          <a:xfrm>
            <a:off x="6382512" y="5102352"/>
            <a:ext cx="3383280" cy="201168"/>
          </a:xfrm>
          <a:prstGeom prst="rect">
            <a:avLst/>
          </a:prstGeom>
          <a:noFill/>
        </p:spPr>
        <p:txBody>
          <a:bodyPr wrap="square" lIns="0" tIns="0" rIns="0" bIns="0" rtlCol="0" anchor="ctr">
            <a:normAutofit/>
          </a:bodyPr>
          <a:lstStyle/>
          <a:p>
            <a:pPr marL="0" indent="0">
              <a:buNone/>
            </a:pPr>
            <a:r>
              <a:rPr lang="en-US" sz="970" dirty="0">
                <a:solidFill>
                  <a:srgbClr val="334155"/>
                </a:solidFill>
                <a:latin typeface="Aptos" pitchFamily="34" charset="0"/>
                <a:ea typeface="Aptos" pitchFamily="34" charset="-122"/>
                <a:cs typeface="Aptos" pitchFamily="34" charset="-120"/>
              </a:rPr>
              <a:t>evil CORS</a:t>
            </a:r>
            <a:endParaRPr lang="en-US" sz="970" dirty="0"/>
          </a:p>
        </p:txBody>
      </p:sp>
      <p:sp>
        <p:nvSpPr>
          <p:cNvPr id="49" name="Text 47"/>
          <p:cNvSpPr/>
          <p:nvPr/>
        </p:nvSpPr>
        <p:spPr>
          <a:xfrm>
            <a:off x="10195560" y="5102352"/>
            <a:ext cx="1024128" cy="201168"/>
          </a:xfrm>
          <a:prstGeom prst="rect">
            <a:avLst/>
          </a:prstGeom>
          <a:noFill/>
        </p:spPr>
        <p:txBody>
          <a:bodyPr wrap="square" lIns="0" tIns="0" rIns="0" bIns="0" rtlCol="0" anchor="ctr">
            <a:normAutofit/>
          </a:bodyPr>
          <a:lstStyle/>
          <a:p>
            <a:pPr marL="0" indent="0" algn="r">
              <a:buNone/>
            </a:pPr>
            <a:r>
              <a:rPr lang="en-US" sz="970" b="1" dirty="0">
                <a:solidFill>
                  <a:srgbClr val="15803D"/>
                </a:solidFill>
                <a:latin typeface="Aptos" pitchFamily="34" charset="0"/>
                <a:ea typeface="Aptos" pitchFamily="34" charset="-122"/>
                <a:cs typeface="Aptos" pitchFamily="34" charset="-120"/>
              </a:rPr>
              <a:t>blocked</a:t>
            </a:r>
            <a:endParaRPr lang="en-US" sz="970" dirty="0"/>
          </a:p>
        </p:txBody>
      </p:sp>
      <p:sp>
        <p:nvSpPr>
          <p:cNvPr id="50" name="Shape 48"/>
          <p:cNvSpPr/>
          <p:nvPr/>
        </p:nvSpPr>
        <p:spPr>
          <a:xfrm>
            <a:off x="6382512" y="5413248"/>
            <a:ext cx="4828032" cy="0"/>
          </a:xfrm>
          <a:prstGeom prst="line">
            <a:avLst/>
          </a:prstGeom>
          <a:noFill/>
          <a:ln w="7620">
            <a:solidFill>
              <a:srgbClr val="E2E8F0">
                <a:alpha val="65000"/>
              </a:srgbClr>
            </a:solidFill>
            <a:prstDash val="solid"/>
          </a:ln>
        </p:spPr>
        <p:txBody>
          <a:bodyPr/>
          <a:p/>
        </p:txBody>
      </p:sp>
      <p:sp>
        <p:nvSpPr>
          <p:cNvPr id="51" name="Text 49"/>
          <p:cNvSpPr/>
          <p:nvPr/>
        </p:nvSpPr>
        <p:spPr>
          <a:xfrm>
            <a:off x="6382512" y="5623560"/>
            <a:ext cx="3657600" cy="201168"/>
          </a:xfrm>
          <a:prstGeom prst="rect">
            <a:avLst/>
          </a:prstGeom>
          <a:noFill/>
        </p:spPr>
        <p:txBody>
          <a:bodyPr wrap="square" lIns="0" tIns="0" rIns="0" bIns="0" rtlCol="0" anchor="ctr"/>
          <a:lstStyle/>
          <a:p>
            <a:pPr marL="0" indent="0">
              <a:buNone/>
            </a:pPr>
            <a:r>
              <a:rPr lang="en-US" sz="880" dirty="0">
                <a:solidFill>
                  <a:srgbClr val="0E7490"/>
                </a:solidFill>
                <a:latin typeface="Consolas" panose="020B0609020204030204" pitchFamily="34" charset="0"/>
                <a:ea typeface="Consolas" panose="020B0609020204030204" pitchFamily="34" charset="-122"/>
                <a:cs typeface="Consolas" panose="020B0609020204030204" pitchFamily="34" charset="-120"/>
              </a:rPr>
              <a:t>localhost:5173 → allowed</a:t>
            </a:r>
            <a:endParaRPr lang="en-US" sz="880" dirty="0"/>
          </a:p>
        </p:txBody>
      </p:sp>
      <p:sp>
        <p:nvSpPr>
          <p:cNvPr id="52" name="Text 50"/>
          <p:cNvSpPr/>
          <p:nvPr/>
        </p:nvSpPr>
        <p:spPr>
          <a:xfrm>
            <a:off x="11109960" y="6556248"/>
            <a:ext cx="457200" cy="164592"/>
          </a:xfrm>
          <a:prstGeom prst="rect">
            <a:avLst/>
          </a:prstGeom>
          <a:noFill/>
        </p:spPr>
        <p:txBody>
          <a:bodyPr wrap="square" lIns="0" tIns="0" rIns="0" bIns="0" rtlCol="0" anchor="ctr"/>
          <a:lstStyle/>
          <a:p>
            <a:pPr marL="0" indent="0" algn="r">
              <a:buNone/>
            </a:pPr>
            <a:r>
              <a:rPr lang="en-US" sz="800" dirty="0">
                <a:solidFill>
                  <a:srgbClr val="64748B"/>
                </a:solidFill>
                <a:latin typeface="Aptos" pitchFamily="34" charset="0"/>
                <a:ea typeface="Aptos" pitchFamily="34" charset="-122"/>
                <a:cs typeface="Aptos"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320040"/>
            <a:ext cx="11365992" cy="0"/>
          </a:xfrm>
          <a:prstGeom prst="line">
            <a:avLst/>
          </a:prstGeom>
          <a:noFill/>
          <a:ln w="12700">
            <a:solidFill>
              <a:srgbClr val="E2E8F0"/>
            </a:solidFill>
            <a:prstDash val="solid"/>
          </a:ln>
        </p:spPr>
        <p:txBody>
          <a:bodyPr/>
          <a:p/>
        </p:txBody>
      </p:sp>
      <p:sp>
        <p:nvSpPr>
          <p:cNvPr id="3" name="Shape 1"/>
          <p:cNvSpPr/>
          <p:nvPr/>
        </p:nvSpPr>
        <p:spPr>
          <a:xfrm>
            <a:off x="411480" y="6492240"/>
            <a:ext cx="11365992" cy="0"/>
          </a:xfrm>
          <a:prstGeom prst="line">
            <a:avLst/>
          </a:prstGeom>
          <a:noFill/>
          <a:ln w="12700">
            <a:solidFill>
              <a:srgbClr val="E2E8F0"/>
            </a:solidFill>
            <a:prstDash val="solid"/>
          </a:ln>
        </p:spPr>
        <p:txBody>
          <a:bodyPr/>
          <a:p/>
        </p:txBody>
      </p:sp>
      <p:sp>
        <p:nvSpPr>
          <p:cNvPr id="4" name="Shape 2"/>
          <p:cNvSpPr/>
          <p:nvPr/>
        </p:nvSpPr>
        <p:spPr>
          <a:xfrm rot="1080000">
            <a:off x="10744200" y="-640080"/>
            <a:ext cx="1920240" cy="1920240"/>
          </a:xfrm>
          <a:prstGeom prst="arc">
            <a:avLst/>
          </a:prstGeom>
          <a:solidFill>
            <a:srgbClr val="FFFFFF">
              <a:alpha val="0"/>
            </a:srgbClr>
          </a:solidFill>
          <a:ln w="12700">
            <a:solidFill>
              <a:srgbClr val="E2E8F0">
                <a:alpha val="55000"/>
              </a:srgbClr>
            </a:solidFill>
            <a:prstDash val="solid"/>
          </a:ln>
        </p:spPr>
        <p:txBody>
          <a:bodyPr/>
          <a:p/>
        </p:txBody>
      </p:sp>
      <p:sp>
        <p:nvSpPr>
          <p:cNvPr id="5" name="Text 3"/>
          <p:cNvSpPr/>
          <p:nvPr/>
        </p:nvSpPr>
        <p:spPr>
          <a:xfrm>
            <a:off x="502920" y="73152"/>
            <a:ext cx="3840480" cy="182880"/>
          </a:xfrm>
          <a:prstGeom prst="rect">
            <a:avLst/>
          </a:prstGeom>
          <a:noFill/>
        </p:spPr>
        <p:txBody>
          <a:bodyPr wrap="square" lIns="0" tIns="0" rIns="0" bIns="0" rtlCol="0" anchor="ctr"/>
          <a:lstStyle/>
          <a:p>
            <a:pPr marL="0" indent="0">
              <a:buNone/>
            </a:pPr>
            <a:r>
              <a:rPr lang="en-US" sz="900" b="1" kern="0" spc="140" dirty="0">
                <a:solidFill>
                  <a:srgbClr val="0E7490"/>
                </a:solidFill>
                <a:latin typeface="Aptos" pitchFamily="34" charset="0"/>
                <a:ea typeface="Aptos" pitchFamily="34" charset="-122"/>
                <a:cs typeface="Aptos" pitchFamily="34" charset="-120"/>
              </a:rPr>
              <a:t>DOCKER</a:t>
            </a:r>
            <a:endParaRPr lang="en-US" sz="900" dirty="0"/>
          </a:p>
        </p:txBody>
      </p:sp>
      <p:sp>
        <p:nvSpPr>
          <p:cNvPr id="6" name="Text 4"/>
          <p:cNvSpPr/>
          <p:nvPr/>
        </p:nvSpPr>
        <p:spPr>
          <a:xfrm>
            <a:off x="502920" y="530352"/>
            <a:ext cx="10561320" cy="502920"/>
          </a:xfrm>
          <a:prstGeom prst="rect">
            <a:avLst/>
          </a:prstGeom>
          <a:noFill/>
        </p:spPr>
        <p:txBody>
          <a:bodyPr wrap="square" lIns="0" tIns="0" rIns="0" bIns="0" rtlCol="0" anchor="ctr">
            <a:normAutofit/>
          </a:bodyP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11 • Step 4 — Docker Security</a:t>
            </a:r>
            <a:endParaRPr lang="en-US" sz="2500" dirty="0"/>
          </a:p>
        </p:txBody>
      </p:sp>
      <p:sp>
        <p:nvSpPr>
          <p:cNvPr id="7" name="Text 5"/>
          <p:cNvSpPr/>
          <p:nvPr/>
        </p:nvSpPr>
        <p:spPr>
          <a:xfrm>
            <a:off x="530352" y="1060704"/>
            <a:ext cx="10332720" cy="347472"/>
          </a:xfrm>
          <a:prstGeom prst="rect">
            <a:avLst/>
          </a:prstGeom>
          <a:noFill/>
        </p:spPr>
        <p:txBody>
          <a:bodyPr wrap="square" lIns="0" tIns="0" rIns="0" bIns="0" rtlCol="0" anchor="ctr">
            <a:normAutofit/>
          </a:bodyPr>
          <a:lstStyle/>
          <a:p>
            <a:pPr marL="0" indent="0">
              <a:buNone/>
            </a:pPr>
            <a:r>
              <a:rPr lang="en-US" sz="1150" dirty="0">
                <a:solidFill>
                  <a:srgbClr val="64748B"/>
                </a:solidFill>
                <a:latin typeface="Aptos" pitchFamily="34" charset="0"/>
                <a:ea typeface="Aptos" pitchFamily="34" charset="-122"/>
                <a:cs typeface="Aptos" pitchFamily="34" charset="-120"/>
              </a:rPr>
              <a:t>The original container had more privilege and write access than the inference service needed.</a:t>
            </a:r>
            <a:endParaRPr lang="en-US" sz="1150" dirty="0"/>
          </a:p>
        </p:txBody>
      </p:sp>
      <p:sp>
        <p:nvSpPr>
          <p:cNvPr id="8" name="Shape 6"/>
          <p:cNvSpPr/>
          <p:nvPr/>
        </p:nvSpPr>
        <p:spPr>
          <a:xfrm>
            <a:off x="530352" y="1627632"/>
            <a:ext cx="5303520" cy="4443984"/>
          </a:xfrm>
          <a:prstGeom prst="roundRect">
            <a:avLst>
              <a:gd name="adj" fmla="val 1646"/>
            </a:avLst>
          </a:prstGeom>
          <a:solidFill>
            <a:srgbClr val="F8FAFC"/>
          </a:solidFill>
          <a:ln w="12700">
            <a:solidFill>
              <a:srgbClr val="B91C1C">
                <a:alpha val="90000"/>
              </a:srgbClr>
            </a:solidFill>
            <a:prstDash val="solid"/>
          </a:ln>
        </p:spPr>
        <p:txBody>
          <a:bodyPr/>
          <a:p/>
        </p:txBody>
      </p:sp>
      <p:sp>
        <p:nvSpPr>
          <p:cNvPr id="9" name="Shape 7"/>
          <p:cNvSpPr/>
          <p:nvPr/>
        </p:nvSpPr>
        <p:spPr>
          <a:xfrm>
            <a:off x="768096" y="1883664"/>
            <a:ext cx="45720" cy="274320"/>
          </a:xfrm>
          <a:prstGeom prst="rect">
            <a:avLst/>
          </a:prstGeom>
          <a:solidFill>
            <a:srgbClr val="FF6B6B"/>
          </a:solidFill>
          <a:ln w="12700">
            <a:solidFill>
              <a:srgbClr val="B91C1C"/>
            </a:solidFill>
            <a:prstDash val="solid"/>
          </a:ln>
        </p:spPr>
        <p:txBody>
          <a:bodyPr/>
          <a:p/>
        </p:txBody>
      </p:sp>
      <p:sp>
        <p:nvSpPr>
          <p:cNvPr id="10" name="Text 8"/>
          <p:cNvSpPr/>
          <p:nvPr/>
        </p:nvSpPr>
        <p:spPr>
          <a:xfrm>
            <a:off x="896112" y="1879092"/>
            <a:ext cx="4672584" cy="274320"/>
          </a:xfrm>
          <a:prstGeom prst="rect">
            <a:avLst/>
          </a:prstGeom>
          <a:noFill/>
        </p:spPr>
        <p:txBody>
          <a:bodyPr wrap="square" lIns="0" tIns="0" rIns="0" bIns="0" rtlCol="0" anchor="ctr">
            <a:normAutofit/>
          </a:bodyPr>
          <a:lstStyle/>
          <a:p>
            <a:pPr marL="0" indent="0">
              <a:buNone/>
            </a:pPr>
            <a:r>
              <a:rPr lang="en-US" sz="1250" b="1" dirty="0">
                <a:solidFill>
                  <a:srgbClr val="0F172A"/>
                </a:solidFill>
                <a:latin typeface="Aptos" pitchFamily="34" charset="0"/>
                <a:ea typeface="Aptos" pitchFamily="34" charset="-122"/>
                <a:cs typeface="Aptos" pitchFamily="34" charset="-120"/>
              </a:rPr>
              <a:t>Before — baseline container</a:t>
            </a:r>
            <a:endParaRPr lang="en-US" sz="1250" dirty="0"/>
          </a:p>
        </p:txBody>
      </p:sp>
      <p:sp>
        <p:nvSpPr>
          <p:cNvPr id="11" name="Shape 9"/>
          <p:cNvSpPr/>
          <p:nvPr/>
        </p:nvSpPr>
        <p:spPr>
          <a:xfrm>
            <a:off x="768096" y="2350008"/>
            <a:ext cx="1508760" cy="1078992"/>
          </a:xfrm>
          <a:prstGeom prst="roundRect">
            <a:avLst>
              <a:gd name="adj" fmla="val 6780"/>
            </a:avLst>
          </a:prstGeom>
          <a:solidFill>
            <a:srgbClr val="F1F5F9"/>
          </a:solidFill>
          <a:ln w="12700">
            <a:solidFill>
              <a:srgbClr val="E2E8F0">
                <a:alpha val="90000"/>
              </a:srgbClr>
            </a:solidFill>
            <a:prstDash val="solid"/>
          </a:ln>
        </p:spPr>
        <p:txBody>
          <a:bodyPr/>
          <a:p/>
        </p:txBody>
      </p:sp>
      <p:sp>
        <p:nvSpPr>
          <p:cNvPr id="12" name="Text 10"/>
          <p:cNvSpPr/>
          <p:nvPr/>
        </p:nvSpPr>
        <p:spPr>
          <a:xfrm>
            <a:off x="905256" y="2496312"/>
            <a:ext cx="1234440" cy="502920"/>
          </a:xfrm>
          <a:prstGeom prst="rect">
            <a:avLst/>
          </a:prstGeom>
          <a:noFill/>
        </p:spPr>
        <p:txBody>
          <a:bodyPr wrap="square" lIns="0" tIns="0" rIns="0" bIns="0" rtlCol="0" anchor="ctr">
            <a:normAutofit/>
          </a:bodyPr>
          <a:lstStyle/>
          <a:p>
            <a:pPr marL="0" indent="0" algn="l">
              <a:buNone/>
            </a:pPr>
            <a:r>
              <a:rPr lang="en-US" sz="2600" b="1" dirty="0">
                <a:solidFill>
                  <a:srgbClr val="B91C1C"/>
                </a:solidFill>
                <a:latin typeface="Aptos Display" pitchFamily="34" charset="0"/>
                <a:ea typeface="Aptos Display" pitchFamily="34" charset="-122"/>
                <a:cs typeface="Aptos Display" pitchFamily="34" charset="-120"/>
              </a:rPr>
              <a:t>root</a:t>
            </a:r>
            <a:endParaRPr lang="en-US" sz="2600" dirty="0"/>
          </a:p>
        </p:txBody>
      </p:sp>
      <p:sp>
        <p:nvSpPr>
          <p:cNvPr id="13" name="Text 11"/>
          <p:cNvSpPr/>
          <p:nvPr/>
        </p:nvSpPr>
        <p:spPr>
          <a:xfrm>
            <a:off x="914400" y="3044952"/>
            <a:ext cx="1216152" cy="292608"/>
          </a:xfrm>
          <a:prstGeom prst="rect">
            <a:avLst/>
          </a:prstGeom>
          <a:noFill/>
        </p:spPr>
        <p:txBody>
          <a:bodyPr wrap="square" lIns="0" tIns="0" rIns="0" bIns="0" rtlCol="0" anchor="ctr">
            <a:normAutofit/>
          </a:bodyPr>
          <a:lstStyle/>
          <a:p>
            <a:pPr marL="0" indent="0">
              <a:buNone/>
            </a:pPr>
            <a:r>
              <a:rPr lang="en-US" sz="950" dirty="0">
                <a:solidFill>
                  <a:srgbClr val="64748B"/>
                </a:solidFill>
                <a:latin typeface="Aptos" pitchFamily="34" charset="0"/>
                <a:ea typeface="Aptos" pitchFamily="34" charset="-122"/>
                <a:cs typeface="Aptos" pitchFamily="34" charset="-120"/>
              </a:rPr>
              <a:t>user</a:t>
            </a:r>
            <a:endParaRPr lang="en-US" sz="950" dirty="0"/>
          </a:p>
        </p:txBody>
      </p:sp>
      <p:sp>
        <p:nvSpPr>
          <p:cNvPr id="14" name="Shape 12"/>
          <p:cNvSpPr/>
          <p:nvPr/>
        </p:nvSpPr>
        <p:spPr>
          <a:xfrm>
            <a:off x="2404872" y="2350008"/>
            <a:ext cx="1508760" cy="1078992"/>
          </a:xfrm>
          <a:prstGeom prst="roundRect">
            <a:avLst>
              <a:gd name="adj" fmla="val 6780"/>
            </a:avLst>
          </a:prstGeom>
          <a:solidFill>
            <a:srgbClr val="F1F5F9"/>
          </a:solidFill>
          <a:ln w="12700">
            <a:solidFill>
              <a:srgbClr val="E2E8F0">
                <a:alpha val="90000"/>
              </a:srgbClr>
            </a:solidFill>
            <a:prstDash val="solid"/>
          </a:ln>
        </p:spPr>
        <p:txBody>
          <a:bodyPr/>
          <a:p/>
        </p:txBody>
      </p:sp>
      <p:sp>
        <p:nvSpPr>
          <p:cNvPr id="15" name="Text 13"/>
          <p:cNvSpPr/>
          <p:nvPr/>
        </p:nvSpPr>
        <p:spPr>
          <a:xfrm>
            <a:off x="2542032" y="2496312"/>
            <a:ext cx="1234440" cy="502920"/>
          </a:xfrm>
          <a:prstGeom prst="rect">
            <a:avLst/>
          </a:prstGeom>
          <a:noFill/>
        </p:spPr>
        <p:txBody>
          <a:bodyPr wrap="square" lIns="0" tIns="0" rIns="0" bIns="0" rtlCol="0" anchor="ctr">
            <a:normAutofit/>
          </a:bodyPr>
          <a:lstStyle/>
          <a:p>
            <a:pPr marL="0" indent="0" algn="l">
              <a:buNone/>
            </a:pPr>
            <a:r>
              <a:rPr lang="en-US" sz="2600" b="1" dirty="0">
                <a:solidFill>
                  <a:srgbClr val="B91C1C"/>
                </a:solidFill>
                <a:latin typeface="Aptos Display" pitchFamily="34" charset="0"/>
                <a:ea typeface="Aptos Display" pitchFamily="34" charset="-122"/>
                <a:cs typeface="Aptos Display" pitchFamily="34" charset="-120"/>
              </a:rPr>
              <a:t>UID 0</a:t>
            </a:r>
            <a:endParaRPr lang="en-US" sz="2600" dirty="0"/>
          </a:p>
        </p:txBody>
      </p:sp>
      <p:sp>
        <p:nvSpPr>
          <p:cNvPr id="16" name="Text 14"/>
          <p:cNvSpPr/>
          <p:nvPr/>
        </p:nvSpPr>
        <p:spPr>
          <a:xfrm>
            <a:off x="2551176" y="3044952"/>
            <a:ext cx="1216152" cy="292608"/>
          </a:xfrm>
          <a:prstGeom prst="rect">
            <a:avLst/>
          </a:prstGeom>
          <a:noFill/>
        </p:spPr>
        <p:txBody>
          <a:bodyPr wrap="square" lIns="0" tIns="0" rIns="0" bIns="0" rtlCol="0" anchor="ctr">
            <a:normAutofit/>
          </a:bodyPr>
          <a:lstStyle/>
          <a:p>
            <a:pPr marL="0" indent="0">
              <a:buNone/>
            </a:pPr>
            <a:r>
              <a:rPr lang="en-US" sz="950" dirty="0">
                <a:solidFill>
                  <a:srgbClr val="64748B"/>
                </a:solidFill>
                <a:latin typeface="Aptos" pitchFamily="34" charset="0"/>
                <a:ea typeface="Aptos" pitchFamily="34" charset="-122"/>
                <a:cs typeface="Aptos" pitchFamily="34" charset="-120"/>
              </a:rPr>
              <a:t>identity</a:t>
            </a:r>
            <a:endParaRPr lang="en-US" sz="950" dirty="0"/>
          </a:p>
        </p:txBody>
      </p:sp>
      <p:sp>
        <p:nvSpPr>
          <p:cNvPr id="17" name="Shape 15"/>
          <p:cNvSpPr/>
          <p:nvPr/>
        </p:nvSpPr>
        <p:spPr>
          <a:xfrm>
            <a:off x="4041648" y="2350008"/>
            <a:ext cx="1508760" cy="1078992"/>
          </a:xfrm>
          <a:prstGeom prst="roundRect">
            <a:avLst>
              <a:gd name="adj" fmla="val 6780"/>
            </a:avLst>
          </a:prstGeom>
          <a:solidFill>
            <a:srgbClr val="F1F5F9"/>
          </a:solidFill>
          <a:ln w="12700">
            <a:solidFill>
              <a:srgbClr val="E2E8F0">
                <a:alpha val="90000"/>
              </a:srgbClr>
            </a:solidFill>
            <a:prstDash val="solid"/>
          </a:ln>
        </p:spPr>
        <p:txBody>
          <a:bodyPr/>
          <a:p/>
        </p:txBody>
      </p:sp>
      <p:sp>
        <p:nvSpPr>
          <p:cNvPr id="18" name="Text 16"/>
          <p:cNvSpPr/>
          <p:nvPr/>
        </p:nvSpPr>
        <p:spPr>
          <a:xfrm>
            <a:off x="4178808" y="2496312"/>
            <a:ext cx="1234440" cy="502920"/>
          </a:xfrm>
          <a:prstGeom prst="rect">
            <a:avLst/>
          </a:prstGeom>
          <a:noFill/>
        </p:spPr>
        <p:txBody>
          <a:bodyPr wrap="square" lIns="0" tIns="0" rIns="0" bIns="0" rtlCol="0" anchor="ctr">
            <a:normAutofit/>
          </a:bodyPr>
          <a:lstStyle/>
          <a:p>
            <a:pPr marL="0" indent="0" algn="l">
              <a:buNone/>
            </a:pPr>
            <a:r>
              <a:rPr lang="en-US" sz="2600" b="1" dirty="0">
                <a:solidFill>
                  <a:srgbClr val="B91C1C"/>
                </a:solidFill>
                <a:latin typeface="Aptos Display" pitchFamily="34" charset="0"/>
                <a:ea typeface="Aptos Display" pitchFamily="34" charset="-122"/>
                <a:cs typeface="Aptos Display" pitchFamily="34" charset="-120"/>
              </a:rPr>
              <a:t>ALL</a:t>
            </a:r>
            <a:endParaRPr lang="en-US" sz="2600" dirty="0"/>
          </a:p>
        </p:txBody>
      </p:sp>
      <p:sp>
        <p:nvSpPr>
          <p:cNvPr id="19" name="Text 17"/>
          <p:cNvSpPr/>
          <p:nvPr/>
        </p:nvSpPr>
        <p:spPr>
          <a:xfrm>
            <a:off x="4187952" y="3044952"/>
            <a:ext cx="1216152" cy="292608"/>
          </a:xfrm>
          <a:prstGeom prst="rect">
            <a:avLst/>
          </a:prstGeom>
          <a:noFill/>
        </p:spPr>
        <p:txBody>
          <a:bodyPr wrap="square" lIns="0" tIns="0" rIns="0" bIns="0" rtlCol="0" anchor="ctr">
            <a:normAutofit/>
          </a:bodyPr>
          <a:lstStyle/>
          <a:p>
            <a:pPr marL="0" indent="0">
              <a:buNone/>
            </a:pPr>
            <a:r>
              <a:rPr lang="en-US" sz="950" dirty="0">
                <a:solidFill>
                  <a:srgbClr val="64748B"/>
                </a:solidFill>
                <a:latin typeface="Aptos" pitchFamily="34" charset="0"/>
                <a:ea typeface="Aptos" pitchFamily="34" charset="-122"/>
                <a:cs typeface="Aptos" pitchFamily="34" charset="-120"/>
              </a:rPr>
              <a:t>caps available</a:t>
            </a:r>
            <a:endParaRPr lang="en-US" sz="950" dirty="0"/>
          </a:p>
        </p:txBody>
      </p:sp>
      <p:sp>
        <p:nvSpPr>
          <p:cNvPr id="20" name="Shape 18"/>
          <p:cNvSpPr/>
          <p:nvPr/>
        </p:nvSpPr>
        <p:spPr>
          <a:xfrm>
            <a:off x="768096" y="3895344"/>
            <a:ext cx="68580" cy="68580"/>
          </a:xfrm>
          <a:prstGeom prst="ellipse">
            <a:avLst/>
          </a:prstGeom>
          <a:solidFill>
            <a:srgbClr val="FF6B6B"/>
          </a:solidFill>
          <a:ln w="12700">
            <a:solidFill>
              <a:srgbClr val="B91C1C"/>
            </a:solidFill>
            <a:prstDash val="solid"/>
          </a:ln>
        </p:spPr>
        <p:txBody>
          <a:bodyPr/>
          <a:p/>
        </p:txBody>
      </p:sp>
      <p:sp>
        <p:nvSpPr>
          <p:cNvPr id="21" name="Text 19"/>
          <p:cNvSpPr/>
          <p:nvPr/>
        </p:nvSpPr>
        <p:spPr>
          <a:xfrm>
            <a:off x="914400" y="3794760"/>
            <a:ext cx="4379976" cy="384048"/>
          </a:xfrm>
          <a:prstGeom prst="rect">
            <a:avLst/>
          </a:prstGeom>
          <a:noFill/>
        </p:spPr>
        <p:txBody>
          <a:bodyPr wrap="square" lIns="0" tIns="0" rIns="0" bIns="0" rtlCol="0" anchor="ctr">
            <a:normAutofit/>
          </a:bodyPr>
          <a:lstStyle/>
          <a:p>
            <a:pPr marL="0" indent="0">
              <a:buNone/>
            </a:pPr>
            <a:r>
              <a:rPr lang="en-US" sz="1070" dirty="0">
                <a:solidFill>
                  <a:srgbClr val="334155"/>
                </a:solidFill>
                <a:latin typeface="Aptos" pitchFamily="34" charset="0"/>
                <a:ea typeface="Aptos" pitchFamily="34" charset="-122"/>
                <a:cs typeface="Aptos" pitchFamily="34" charset="-120"/>
              </a:rPr>
              <a:t>Writable root filesystem.</a:t>
            </a:r>
            <a:endParaRPr lang="en-US" sz="1070" dirty="0"/>
          </a:p>
        </p:txBody>
      </p:sp>
      <p:sp>
        <p:nvSpPr>
          <p:cNvPr id="22" name="Shape 20"/>
          <p:cNvSpPr/>
          <p:nvPr/>
        </p:nvSpPr>
        <p:spPr>
          <a:xfrm>
            <a:off x="768096" y="4453128"/>
            <a:ext cx="68580" cy="68580"/>
          </a:xfrm>
          <a:prstGeom prst="ellipse">
            <a:avLst/>
          </a:prstGeom>
          <a:solidFill>
            <a:srgbClr val="FF6B6B"/>
          </a:solidFill>
          <a:ln w="12700">
            <a:solidFill>
              <a:srgbClr val="B91C1C"/>
            </a:solidFill>
            <a:prstDash val="solid"/>
          </a:ln>
        </p:spPr>
        <p:txBody>
          <a:bodyPr/>
          <a:p/>
        </p:txBody>
      </p:sp>
      <p:sp>
        <p:nvSpPr>
          <p:cNvPr id="23" name="Text 21"/>
          <p:cNvSpPr/>
          <p:nvPr/>
        </p:nvSpPr>
        <p:spPr>
          <a:xfrm>
            <a:off x="914400" y="4352544"/>
            <a:ext cx="4379976" cy="384048"/>
          </a:xfrm>
          <a:prstGeom prst="rect">
            <a:avLst/>
          </a:prstGeom>
          <a:noFill/>
        </p:spPr>
        <p:txBody>
          <a:bodyPr wrap="square" lIns="0" tIns="0" rIns="0" bIns="0" rtlCol="0" anchor="ctr">
            <a:normAutofit/>
          </a:bodyPr>
          <a:lstStyle/>
          <a:p>
            <a:pPr marL="0" indent="0">
              <a:buNone/>
            </a:pPr>
            <a:r>
              <a:rPr lang="en-US" sz="1070" dirty="0">
                <a:solidFill>
                  <a:srgbClr val="334155"/>
                </a:solidFill>
                <a:latin typeface="Aptos" pitchFamily="34" charset="0"/>
                <a:ea typeface="Aptos" pitchFamily="34" charset="-122"/>
                <a:cs typeface="Aptos" pitchFamily="34" charset="-120"/>
              </a:rPr>
              <a:t>No no-new-privileges control.</a:t>
            </a:r>
            <a:endParaRPr lang="en-US" sz="1070" dirty="0"/>
          </a:p>
        </p:txBody>
      </p:sp>
      <p:sp>
        <p:nvSpPr>
          <p:cNvPr id="24" name="Shape 22"/>
          <p:cNvSpPr/>
          <p:nvPr/>
        </p:nvSpPr>
        <p:spPr>
          <a:xfrm>
            <a:off x="768096" y="5010912"/>
            <a:ext cx="68580" cy="68580"/>
          </a:xfrm>
          <a:prstGeom prst="ellipse">
            <a:avLst/>
          </a:prstGeom>
          <a:solidFill>
            <a:srgbClr val="FF6B6B"/>
          </a:solidFill>
          <a:ln w="12700">
            <a:solidFill>
              <a:srgbClr val="B91C1C"/>
            </a:solidFill>
            <a:prstDash val="solid"/>
          </a:ln>
        </p:spPr>
        <p:txBody>
          <a:bodyPr/>
          <a:p/>
        </p:txBody>
      </p:sp>
      <p:sp>
        <p:nvSpPr>
          <p:cNvPr id="25" name="Text 23"/>
          <p:cNvSpPr/>
          <p:nvPr/>
        </p:nvSpPr>
        <p:spPr>
          <a:xfrm>
            <a:off x="914400" y="4910328"/>
            <a:ext cx="4379976" cy="384048"/>
          </a:xfrm>
          <a:prstGeom prst="rect">
            <a:avLst/>
          </a:prstGeom>
          <a:noFill/>
        </p:spPr>
        <p:txBody>
          <a:bodyPr wrap="square" lIns="0" tIns="0" rIns="0" bIns="0" rtlCol="0" anchor="ctr">
            <a:normAutofit/>
          </a:bodyPr>
          <a:lstStyle/>
          <a:p>
            <a:pPr marL="0" indent="0">
              <a:buNone/>
            </a:pPr>
            <a:r>
              <a:rPr lang="en-US" sz="1020" dirty="0">
                <a:solidFill>
                  <a:srgbClr val="334155"/>
                </a:solidFill>
                <a:latin typeface="Aptos" pitchFamily="34" charset="0"/>
                <a:ea typeface="Aptos" pitchFamily="34" charset="-122"/>
                <a:cs typeface="Aptos" pitchFamily="34" charset="-120"/>
              </a:rPr>
              <a:t>Too much runtime privilege for an inference service.</a:t>
            </a:r>
            <a:endParaRPr lang="en-US" sz="1020" dirty="0"/>
          </a:p>
        </p:txBody>
      </p:sp>
      <p:sp>
        <p:nvSpPr>
          <p:cNvPr id="26" name="Shape 24"/>
          <p:cNvSpPr/>
          <p:nvPr/>
        </p:nvSpPr>
        <p:spPr>
          <a:xfrm>
            <a:off x="6016752" y="1627632"/>
            <a:ext cx="5641848" cy="4443984"/>
          </a:xfrm>
          <a:prstGeom prst="roundRect">
            <a:avLst>
              <a:gd name="adj" fmla="val 1646"/>
            </a:avLst>
          </a:prstGeom>
          <a:solidFill>
            <a:srgbClr val="F1F5F9"/>
          </a:solidFill>
          <a:ln w="12700">
            <a:solidFill>
              <a:srgbClr val="15803D">
                <a:alpha val="90000"/>
              </a:srgbClr>
            </a:solidFill>
            <a:prstDash val="solid"/>
          </a:ln>
        </p:spPr>
        <p:txBody>
          <a:bodyPr/>
          <a:p/>
        </p:txBody>
      </p:sp>
      <p:sp>
        <p:nvSpPr>
          <p:cNvPr id="27" name="Shape 25"/>
          <p:cNvSpPr/>
          <p:nvPr/>
        </p:nvSpPr>
        <p:spPr>
          <a:xfrm>
            <a:off x="6254496" y="1883664"/>
            <a:ext cx="45720" cy="274320"/>
          </a:xfrm>
          <a:prstGeom prst="rect">
            <a:avLst/>
          </a:prstGeom>
          <a:solidFill>
            <a:srgbClr val="59D68C"/>
          </a:solidFill>
          <a:ln w="12700">
            <a:solidFill>
              <a:srgbClr val="15803D"/>
            </a:solidFill>
            <a:prstDash val="solid"/>
          </a:ln>
        </p:spPr>
        <p:txBody>
          <a:bodyPr/>
          <a:p/>
        </p:txBody>
      </p:sp>
      <p:sp>
        <p:nvSpPr>
          <p:cNvPr id="28" name="Text 26"/>
          <p:cNvSpPr/>
          <p:nvPr/>
        </p:nvSpPr>
        <p:spPr>
          <a:xfrm>
            <a:off x="6382512" y="1879092"/>
            <a:ext cx="5038344" cy="274320"/>
          </a:xfrm>
          <a:prstGeom prst="rect">
            <a:avLst/>
          </a:prstGeom>
          <a:noFill/>
        </p:spPr>
        <p:txBody>
          <a:bodyPr wrap="square" lIns="0" tIns="0" rIns="0" bIns="0" rtlCol="0" anchor="ctr">
            <a:normAutofit/>
          </a:bodyPr>
          <a:lstStyle/>
          <a:p>
            <a:pPr marL="0" indent="0">
              <a:buNone/>
            </a:pPr>
            <a:r>
              <a:rPr lang="en-US" sz="1250" b="1" dirty="0">
                <a:solidFill>
                  <a:srgbClr val="0F172A"/>
                </a:solidFill>
                <a:latin typeface="Aptos" pitchFamily="34" charset="0"/>
                <a:ea typeface="Aptos" pitchFamily="34" charset="-122"/>
                <a:cs typeface="Aptos" pitchFamily="34" charset="-120"/>
              </a:rPr>
              <a:t>After — hardened container</a:t>
            </a:r>
            <a:endParaRPr lang="en-US" sz="1250" dirty="0"/>
          </a:p>
        </p:txBody>
      </p:sp>
      <p:sp>
        <p:nvSpPr>
          <p:cNvPr id="29" name="Shape 27"/>
          <p:cNvSpPr/>
          <p:nvPr/>
        </p:nvSpPr>
        <p:spPr>
          <a:xfrm>
            <a:off x="6254496" y="2350008"/>
            <a:ext cx="1554480" cy="1078992"/>
          </a:xfrm>
          <a:prstGeom prst="roundRect">
            <a:avLst>
              <a:gd name="adj" fmla="val 6780"/>
            </a:avLst>
          </a:prstGeom>
          <a:solidFill>
            <a:srgbClr val="F1F5F9"/>
          </a:solidFill>
          <a:ln w="12700">
            <a:solidFill>
              <a:srgbClr val="E2E8F0">
                <a:alpha val="90000"/>
              </a:srgbClr>
            </a:solidFill>
            <a:prstDash val="solid"/>
          </a:ln>
        </p:spPr>
        <p:txBody>
          <a:bodyPr/>
          <a:p/>
        </p:txBody>
      </p:sp>
      <p:sp>
        <p:nvSpPr>
          <p:cNvPr id="30" name="Text 28"/>
          <p:cNvSpPr/>
          <p:nvPr/>
        </p:nvSpPr>
        <p:spPr>
          <a:xfrm>
            <a:off x="6391656" y="2496312"/>
            <a:ext cx="1280160" cy="502920"/>
          </a:xfrm>
          <a:prstGeom prst="rect">
            <a:avLst/>
          </a:prstGeom>
          <a:noFill/>
        </p:spPr>
        <p:txBody>
          <a:bodyPr wrap="square" lIns="0" tIns="0" rIns="0" bIns="0" rtlCol="0" anchor="ctr">
            <a:normAutofit/>
          </a:bodyPr>
          <a:lstStyle/>
          <a:p>
            <a:pPr marL="0" indent="0" algn="l">
              <a:buNone/>
            </a:pPr>
            <a:r>
              <a:rPr lang="en-US" sz="2600" b="1" dirty="0">
                <a:solidFill>
                  <a:srgbClr val="15803D"/>
                </a:solidFill>
                <a:latin typeface="Aptos Display" pitchFamily="34" charset="0"/>
                <a:ea typeface="Aptos Display" pitchFamily="34" charset="-122"/>
                <a:cs typeface="Aptos Display" pitchFamily="34" charset="-120"/>
              </a:rPr>
              <a:t>10001</a:t>
            </a:r>
            <a:endParaRPr lang="en-US" sz="2600" dirty="0"/>
          </a:p>
        </p:txBody>
      </p:sp>
      <p:sp>
        <p:nvSpPr>
          <p:cNvPr id="31" name="Text 29"/>
          <p:cNvSpPr/>
          <p:nvPr/>
        </p:nvSpPr>
        <p:spPr>
          <a:xfrm>
            <a:off x="6400800" y="3044952"/>
            <a:ext cx="1261872" cy="292608"/>
          </a:xfrm>
          <a:prstGeom prst="rect">
            <a:avLst/>
          </a:prstGeom>
          <a:noFill/>
        </p:spPr>
        <p:txBody>
          <a:bodyPr wrap="square" lIns="0" tIns="0" rIns="0" bIns="0" rtlCol="0" anchor="ctr">
            <a:normAutofit/>
          </a:bodyPr>
          <a:lstStyle/>
          <a:p>
            <a:pPr marL="0" indent="0">
              <a:buNone/>
            </a:pPr>
            <a:r>
              <a:rPr lang="en-US" sz="950" dirty="0">
                <a:solidFill>
                  <a:srgbClr val="64748B"/>
                </a:solidFill>
                <a:latin typeface="Aptos" pitchFamily="34" charset="0"/>
                <a:ea typeface="Aptos" pitchFamily="34" charset="-122"/>
                <a:cs typeface="Aptos" pitchFamily="34" charset="-120"/>
              </a:rPr>
              <a:t>UID</a:t>
            </a:r>
            <a:endParaRPr lang="en-US" sz="950" dirty="0"/>
          </a:p>
        </p:txBody>
      </p:sp>
      <p:sp>
        <p:nvSpPr>
          <p:cNvPr id="32" name="Shape 30"/>
          <p:cNvSpPr/>
          <p:nvPr/>
        </p:nvSpPr>
        <p:spPr>
          <a:xfrm>
            <a:off x="7946136" y="2350008"/>
            <a:ext cx="1554480" cy="1078992"/>
          </a:xfrm>
          <a:prstGeom prst="roundRect">
            <a:avLst>
              <a:gd name="adj" fmla="val 6780"/>
            </a:avLst>
          </a:prstGeom>
          <a:solidFill>
            <a:srgbClr val="F1F5F9"/>
          </a:solidFill>
          <a:ln w="12700">
            <a:solidFill>
              <a:srgbClr val="E2E8F0">
                <a:alpha val="90000"/>
              </a:srgbClr>
            </a:solidFill>
            <a:prstDash val="solid"/>
          </a:ln>
        </p:spPr>
        <p:txBody>
          <a:bodyPr/>
          <a:p/>
        </p:txBody>
      </p:sp>
      <p:sp>
        <p:nvSpPr>
          <p:cNvPr id="33" name="Text 31"/>
          <p:cNvSpPr/>
          <p:nvPr/>
        </p:nvSpPr>
        <p:spPr>
          <a:xfrm>
            <a:off x="8083296" y="2496312"/>
            <a:ext cx="1280160" cy="502920"/>
          </a:xfrm>
          <a:prstGeom prst="rect">
            <a:avLst/>
          </a:prstGeom>
          <a:noFill/>
        </p:spPr>
        <p:txBody>
          <a:bodyPr wrap="square" lIns="0" tIns="0" rIns="0" bIns="0" rtlCol="0" anchor="ctr">
            <a:normAutofit/>
          </a:bodyPr>
          <a:lstStyle/>
          <a:p>
            <a:pPr marL="0" indent="0" algn="l">
              <a:buNone/>
            </a:pPr>
            <a:r>
              <a:rPr lang="en-US" sz="2600" b="1" dirty="0">
                <a:solidFill>
                  <a:srgbClr val="15803D"/>
                </a:solidFill>
                <a:latin typeface="Aptos Display" pitchFamily="34" charset="0"/>
                <a:ea typeface="Aptos Display" pitchFamily="34" charset="-122"/>
                <a:cs typeface="Aptos Display" pitchFamily="34" charset="-120"/>
              </a:rPr>
              <a:t>ALL</a:t>
            </a:r>
            <a:endParaRPr lang="en-US" sz="2600" dirty="0"/>
          </a:p>
        </p:txBody>
      </p:sp>
      <p:sp>
        <p:nvSpPr>
          <p:cNvPr id="34" name="Text 32"/>
          <p:cNvSpPr/>
          <p:nvPr/>
        </p:nvSpPr>
        <p:spPr>
          <a:xfrm>
            <a:off x="8092440" y="3044952"/>
            <a:ext cx="1261872" cy="292608"/>
          </a:xfrm>
          <a:prstGeom prst="rect">
            <a:avLst/>
          </a:prstGeom>
          <a:noFill/>
        </p:spPr>
        <p:txBody>
          <a:bodyPr wrap="square" lIns="0" tIns="0" rIns="0" bIns="0" rtlCol="0" anchor="ctr">
            <a:normAutofit/>
          </a:bodyPr>
          <a:lstStyle/>
          <a:p>
            <a:pPr marL="0" indent="0">
              <a:buNone/>
            </a:pPr>
            <a:r>
              <a:rPr lang="en-US" sz="950" dirty="0">
                <a:solidFill>
                  <a:srgbClr val="64748B"/>
                </a:solidFill>
                <a:latin typeface="Aptos" pitchFamily="34" charset="0"/>
                <a:ea typeface="Aptos" pitchFamily="34" charset="-122"/>
                <a:cs typeface="Aptos" pitchFamily="34" charset="-120"/>
              </a:rPr>
              <a:t>caps dropped</a:t>
            </a:r>
            <a:endParaRPr lang="en-US" sz="950" dirty="0"/>
          </a:p>
        </p:txBody>
      </p:sp>
      <p:sp>
        <p:nvSpPr>
          <p:cNvPr id="35" name="Shape 33"/>
          <p:cNvSpPr/>
          <p:nvPr/>
        </p:nvSpPr>
        <p:spPr>
          <a:xfrm>
            <a:off x="9637776" y="2350008"/>
            <a:ext cx="1783080" cy="1078992"/>
          </a:xfrm>
          <a:prstGeom prst="roundRect">
            <a:avLst>
              <a:gd name="adj" fmla="val 6780"/>
            </a:avLst>
          </a:prstGeom>
          <a:solidFill>
            <a:srgbClr val="F1F5F9"/>
          </a:solidFill>
          <a:ln w="12700">
            <a:solidFill>
              <a:srgbClr val="E2E8F0">
                <a:alpha val="90000"/>
              </a:srgbClr>
            </a:solidFill>
            <a:prstDash val="solid"/>
          </a:ln>
        </p:spPr>
        <p:txBody>
          <a:bodyPr/>
          <a:p/>
        </p:txBody>
      </p:sp>
      <p:sp>
        <p:nvSpPr>
          <p:cNvPr id="36" name="Text 34"/>
          <p:cNvSpPr/>
          <p:nvPr/>
        </p:nvSpPr>
        <p:spPr>
          <a:xfrm>
            <a:off x="9774936" y="2496312"/>
            <a:ext cx="1508760" cy="502920"/>
          </a:xfrm>
          <a:prstGeom prst="rect">
            <a:avLst/>
          </a:prstGeom>
          <a:noFill/>
        </p:spPr>
        <p:txBody>
          <a:bodyPr wrap="square" lIns="0" tIns="0" rIns="0" bIns="0" rtlCol="0" anchor="ctr">
            <a:normAutofit/>
          </a:bodyPr>
          <a:lstStyle/>
          <a:p>
            <a:pPr marL="0" indent="0" algn="l">
              <a:buNone/>
            </a:pPr>
            <a:r>
              <a:rPr lang="en-US" sz="2600" b="1" dirty="0">
                <a:solidFill>
                  <a:srgbClr val="15803D"/>
                </a:solidFill>
                <a:latin typeface="Aptos Display" pitchFamily="34" charset="0"/>
                <a:ea typeface="Aptos Display" pitchFamily="34" charset="-122"/>
                <a:cs typeface="Aptos Display" pitchFamily="34" charset="-120"/>
              </a:rPr>
              <a:t>RO</a:t>
            </a:r>
            <a:endParaRPr lang="en-US" sz="2600" dirty="0"/>
          </a:p>
        </p:txBody>
      </p:sp>
      <p:sp>
        <p:nvSpPr>
          <p:cNvPr id="37" name="Text 35"/>
          <p:cNvSpPr/>
          <p:nvPr/>
        </p:nvSpPr>
        <p:spPr>
          <a:xfrm>
            <a:off x="9784080" y="3044952"/>
            <a:ext cx="1490472" cy="292608"/>
          </a:xfrm>
          <a:prstGeom prst="rect">
            <a:avLst/>
          </a:prstGeom>
          <a:noFill/>
        </p:spPr>
        <p:txBody>
          <a:bodyPr wrap="square" lIns="0" tIns="0" rIns="0" bIns="0" rtlCol="0" anchor="ctr">
            <a:normAutofit/>
          </a:bodyPr>
          <a:lstStyle/>
          <a:p>
            <a:pPr marL="0" indent="0">
              <a:buNone/>
            </a:pPr>
            <a:r>
              <a:rPr lang="en-US" sz="950" dirty="0">
                <a:solidFill>
                  <a:srgbClr val="64748B"/>
                </a:solidFill>
                <a:latin typeface="Aptos" pitchFamily="34" charset="0"/>
                <a:ea typeface="Aptos" pitchFamily="34" charset="-122"/>
                <a:cs typeface="Aptos" pitchFamily="34" charset="-120"/>
              </a:rPr>
              <a:t>root fs</a:t>
            </a:r>
            <a:endParaRPr lang="en-US" sz="950" dirty="0"/>
          </a:p>
        </p:txBody>
      </p:sp>
      <p:sp>
        <p:nvSpPr>
          <p:cNvPr id="38" name="Shape 36"/>
          <p:cNvSpPr/>
          <p:nvPr/>
        </p:nvSpPr>
        <p:spPr>
          <a:xfrm>
            <a:off x="6254496" y="3895344"/>
            <a:ext cx="68580" cy="68580"/>
          </a:xfrm>
          <a:prstGeom prst="ellipse">
            <a:avLst/>
          </a:prstGeom>
          <a:solidFill>
            <a:srgbClr val="59D68C"/>
          </a:solidFill>
          <a:ln w="12700">
            <a:solidFill>
              <a:srgbClr val="15803D"/>
            </a:solidFill>
            <a:prstDash val="solid"/>
          </a:ln>
        </p:spPr>
        <p:txBody>
          <a:bodyPr/>
          <a:p/>
        </p:txBody>
      </p:sp>
      <p:sp>
        <p:nvSpPr>
          <p:cNvPr id="39" name="Text 37"/>
          <p:cNvSpPr/>
          <p:nvPr/>
        </p:nvSpPr>
        <p:spPr>
          <a:xfrm>
            <a:off x="6400800" y="3794760"/>
            <a:ext cx="4608576" cy="384048"/>
          </a:xfrm>
          <a:prstGeom prst="rect">
            <a:avLst/>
          </a:prstGeom>
          <a:noFill/>
        </p:spPr>
        <p:txBody>
          <a:bodyPr wrap="square" lIns="0" tIns="0" rIns="0" bIns="0" rtlCol="0" anchor="ctr">
            <a:normAutofit/>
          </a:bodyPr>
          <a:lstStyle/>
          <a:p>
            <a:pPr marL="0" indent="0">
              <a:buNone/>
            </a:pPr>
            <a:r>
              <a:rPr lang="en-US" sz="1070" dirty="0">
                <a:solidFill>
                  <a:srgbClr val="334155"/>
                </a:solidFill>
                <a:latin typeface="Aptos" pitchFamily="34" charset="0"/>
                <a:ea typeface="Aptos" pitchFamily="34" charset="-122"/>
                <a:cs typeface="Aptos" pitchFamily="34" charset="-120"/>
              </a:rPr>
              <a:t>no-new-privileges:true</a:t>
            </a:r>
            <a:endParaRPr lang="en-US" sz="1070" dirty="0"/>
          </a:p>
        </p:txBody>
      </p:sp>
      <p:sp>
        <p:nvSpPr>
          <p:cNvPr id="40" name="Shape 38"/>
          <p:cNvSpPr/>
          <p:nvPr/>
        </p:nvSpPr>
        <p:spPr>
          <a:xfrm>
            <a:off x="6254496" y="4453128"/>
            <a:ext cx="68580" cy="68580"/>
          </a:xfrm>
          <a:prstGeom prst="ellipse">
            <a:avLst/>
          </a:prstGeom>
          <a:solidFill>
            <a:srgbClr val="59D68C"/>
          </a:solidFill>
          <a:ln w="12700">
            <a:solidFill>
              <a:srgbClr val="15803D"/>
            </a:solidFill>
            <a:prstDash val="solid"/>
          </a:ln>
        </p:spPr>
        <p:txBody>
          <a:bodyPr/>
          <a:p/>
        </p:txBody>
      </p:sp>
      <p:sp>
        <p:nvSpPr>
          <p:cNvPr id="41" name="Text 39"/>
          <p:cNvSpPr/>
          <p:nvPr/>
        </p:nvSpPr>
        <p:spPr>
          <a:xfrm>
            <a:off x="6400800" y="4352544"/>
            <a:ext cx="4608576" cy="384048"/>
          </a:xfrm>
          <a:prstGeom prst="rect">
            <a:avLst/>
          </a:prstGeom>
          <a:noFill/>
        </p:spPr>
        <p:txBody>
          <a:bodyPr wrap="square" lIns="0" tIns="0" rIns="0" bIns="0" rtlCol="0" anchor="ctr">
            <a:normAutofit/>
          </a:bodyPr>
          <a:lstStyle/>
          <a:p>
            <a:pPr marL="0" indent="0">
              <a:buNone/>
            </a:pPr>
            <a:r>
              <a:rPr lang="en-US" sz="1070" dirty="0">
                <a:solidFill>
                  <a:srgbClr val="334155"/>
                </a:solidFill>
                <a:latin typeface="Aptos" pitchFamily="34" charset="0"/>
                <a:ea typeface="Aptos" pitchFamily="34" charset="-122"/>
                <a:cs typeface="Aptos" pitchFamily="34" charset="-120"/>
              </a:rPr>
              <a:t>/tmp is writable through tmpfs.</a:t>
            </a:r>
            <a:endParaRPr lang="en-US" sz="1070" dirty="0"/>
          </a:p>
        </p:txBody>
      </p:sp>
      <p:sp>
        <p:nvSpPr>
          <p:cNvPr id="42" name="Shape 40"/>
          <p:cNvSpPr/>
          <p:nvPr/>
        </p:nvSpPr>
        <p:spPr>
          <a:xfrm>
            <a:off x="6254496" y="5010912"/>
            <a:ext cx="68580" cy="68580"/>
          </a:xfrm>
          <a:prstGeom prst="ellipse">
            <a:avLst/>
          </a:prstGeom>
          <a:solidFill>
            <a:srgbClr val="59D68C"/>
          </a:solidFill>
          <a:ln w="12700">
            <a:solidFill>
              <a:srgbClr val="15803D"/>
            </a:solidFill>
            <a:prstDash val="solid"/>
          </a:ln>
        </p:spPr>
        <p:txBody>
          <a:bodyPr/>
          <a:p/>
        </p:txBody>
      </p:sp>
      <p:sp>
        <p:nvSpPr>
          <p:cNvPr id="43" name="Text 41"/>
          <p:cNvSpPr/>
          <p:nvPr/>
        </p:nvSpPr>
        <p:spPr>
          <a:xfrm>
            <a:off x="6400800" y="4910328"/>
            <a:ext cx="4608576" cy="384048"/>
          </a:xfrm>
          <a:prstGeom prst="rect">
            <a:avLst/>
          </a:prstGeom>
          <a:noFill/>
        </p:spPr>
        <p:txBody>
          <a:bodyPr wrap="square" lIns="0" tIns="0" rIns="0" bIns="0" rtlCol="0" anchor="ctr">
            <a:normAutofit/>
          </a:bodyPr>
          <a:lstStyle/>
          <a:p>
            <a:pPr marL="0" indent="0">
              <a:buNone/>
            </a:pPr>
            <a:r>
              <a:rPr lang="en-US" sz="1020" dirty="0">
                <a:solidFill>
                  <a:srgbClr val="334155"/>
                </a:solidFill>
                <a:latin typeface="Aptos" pitchFamily="34" charset="0"/>
                <a:ea typeface="Aptos" pitchFamily="34" charset="-122"/>
                <a:cs typeface="Aptos" pitchFamily="34" charset="-120"/>
              </a:rPr>
              <a:t>Write under /app → read-only filesystem.</a:t>
            </a:r>
            <a:endParaRPr lang="en-US" sz="1020" dirty="0"/>
          </a:p>
        </p:txBody>
      </p:sp>
      <p:sp>
        <p:nvSpPr>
          <p:cNvPr id="44" name="Text 42"/>
          <p:cNvSpPr/>
          <p:nvPr/>
        </p:nvSpPr>
        <p:spPr>
          <a:xfrm>
            <a:off x="11109960" y="6556248"/>
            <a:ext cx="457200" cy="164592"/>
          </a:xfrm>
          <a:prstGeom prst="rect">
            <a:avLst/>
          </a:prstGeom>
          <a:noFill/>
        </p:spPr>
        <p:txBody>
          <a:bodyPr wrap="square" lIns="0" tIns="0" rIns="0" bIns="0" rtlCol="0" anchor="ctr"/>
          <a:lstStyle/>
          <a:p>
            <a:pPr marL="0" indent="0" algn="r">
              <a:buNone/>
            </a:pPr>
            <a:r>
              <a:rPr lang="en-US" sz="800" dirty="0">
                <a:solidFill>
                  <a:srgbClr val="64748B"/>
                </a:solidFill>
                <a:latin typeface="Aptos" pitchFamily="34" charset="0"/>
                <a:ea typeface="Aptos" pitchFamily="34" charset="-122"/>
                <a:cs typeface="Aptos"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320040"/>
            <a:ext cx="11365992" cy="0"/>
          </a:xfrm>
          <a:prstGeom prst="line">
            <a:avLst/>
          </a:prstGeom>
          <a:noFill/>
          <a:ln w="12700">
            <a:solidFill>
              <a:srgbClr val="E2E8F0"/>
            </a:solidFill>
            <a:prstDash val="solid"/>
          </a:ln>
        </p:spPr>
        <p:txBody>
          <a:bodyPr/>
          <a:p/>
        </p:txBody>
      </p:sp>
      <p:sp>
        <p:nvSpPr>
          <p:cNvPr id="3" name="Shape 1"/>
          <p:cNvSpPr/>
          <p:nvPr/>
        </p:nvSpPr>
        <p:spPr>
          <a:xfrm>
            <a:off x="411480" y="6492240"/>
            <a:ext cx="11365992" cy="0"/>
          </a:xfrm>
          <a:prstGeom prst="line">
            <a:avLst/>
          </a:prstGeom>
          <a:noFill/>
          <a:ln w="12700">
            <a:solidFill>
              <a:srgbClr val="E2E8F0"/>
            </a:solidFill>
            <a:prstDash val="solid"/>
          </a:ln>
        </p:spPr>
        <p:txBody>
          <a:bodyPr/>
          <a:p/>
        </p:txBody>
      </p:sp>
      <p:sp>
        <p:nvSpPr>
          <p:cNvPr id="4" name="Shape 2"/>
          <p:cNvSpPr/>
          <p:nvPr/>
        </p:nvSpPr>
        <p:spPr>
          <a:xfrm rot="1080000">
            <a:off x="10744200" y="-640080"/>
            <a:ext cx="1920240" cy="1920240"/>
          </a:xfrm>
          <a:prstGeom prst="arc">
            <a:avLst/>
          </a:prstGeom>
          <a:solidFill>
            <a:srgbClr val="FFFFFF">
              <a:alpha val="0"/>
            </a:srgbClr>
          </a:solidFill>
          <a:ln w="12700">
            <a:solidFill>
              <a:srgbClr val="E2E8F0">
                <a:alpha val="55000"/>
              </a:srgbClr>
            </a:solidFill>
            <a:prstDash val="solid"/>
          </a:ln>
        </p:spPr>
        <p:txBody>
          <a:bodyPr/>
          <a:p/>
        </p:txBody>
      </p:sp>
      <p:sp>
        <p:nvSpPr>
          <p:cNvPr id="5" name="Text 3"/>
          <p:cNvSpPr/>
          <p:nvPr/>
        </p:nvSpPr>
        <p:spPr>
          <a:xfrm>
            <a:off x="502920" y="73152"/>
            <a:ext cx="3840480" cy="182880"/>
          </a:xfrm>
          <a:prstGeom prst="rect">
            <a:avLst/>
          </a:prstGeom>
          <a:noFill/>
        </p:spPr>
        <p:txBody>
          <a:bodyPr wrap="square" lIns="0" tIns="0" rIns="0" bIns="0" rtlCol="0" anchor="ctr"/>
          <a:lstStyle/>
          <a:p>
            <a:pPr marL="0" indent="0">
              <a:buNone/>
            </a:pPr>
            <a:r>
              <a:rPr lang="en-US" sz="900" b="1" kern="0" spc="140" dirty="0">
                <a:solidFill>
                  <a:srgbClr val="0E7490"/>
                </a:solidFill>
                <a:latin typeface="Aptos" pitchFamily="34" charset="0"/>
                <a:ea typeface="Aptos" pitchFamily="34" charset="-122"/>
                <a:cs typeface="Aptos" pitchFamily="34" charset="-120"/>
              </a:rPr>
              <a:t>MITIGATION</a:t>
            </a:r>
            <a:endParaRPr lang="en-US" sz="900" dirty="0"/>
          </a:p>
        </p:txBody>
      </p:sp>
      <p:sp>
        <p:nvSpPr>
          <p:cNvPr id="6" name="Text 4"/>
          <p:cNvSpPr/>
          <p:nvPr/>
        </p:nvSpPr>
        <p:spPr>
          <a:xfrm>
            <a:off x="502920" y="530352"/>
            <a:ext cx="10561320" cy="502920"/>
          </a:xfrm>
          <a:prstGeom prst="rect">
            <a:avLst/>
          </a:prstGeom>
          <a:noFill/>
        </p:spPr>
        <p:txBody>
          <a:bodyPr wrap="square" lIns="0" tIns="0" rIns="0" bIns="0" rtlCol="0" anchor="ctr">
            <a:normAutofit/>
          </a:bodyP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12 • Step 5 — Adversarial Mitigation</a:t>
            </a:r>
            <a:endParaRPr lang="en-US" sz="2500" dirty="0"/>
          </a:p>
        </p:txBody>
      </p:sp>
      <p:sp>
        <p:nvSpPr>
          <p:cNvPr id="7" name="Text 5"/>
          <p:cNvSpPr/>
          <p:nvPr/>
        </p:nvSpPr>
        <p:spPr>
          <a:xfrm>
            <a:off x="530352" y="1060704"/>
            <a:ext cx="10332720" cy="347472"/>
          </a:xfrm>
          <a:prstGeom prst="rect">
            <a:avLst/>
          </a:prstGeom>
          <a:noFill/>
        </p:spPr>
        <p:txBody>
          <a:bodyPr wrap="square" lIns="0" tIns="0" rIns="0" bIns="0" rtlCol="0" anchor="ctr">
            <a:normAutofit/>
          </a:bodyPr>
          <a:lstStyle/>
          <a:p>
            <a:pPr marL="0" indent="0">
              <a:buNone/>
            </a:pPr>
            <a:r>
              <a:rPr lang="en-US" sz="1150" dirty="0">
                <a:solidFill>
                  <a:srgbClr val="64748B"/>
                </a:solidFill>
                <a:latin typeface="Aptos" pitchFamily="34" charset="0"/>
                <a:ea typeface="Aptos" pitchFamily="34" charset="-122"/>
                <a:cs typeface="Aptos" pitchFamily="34" charset="-120"/>
              </a:rPr>
              <a:t>I trained a separate defended checkpoint and ran the same attack paths again.</a:t>
            </a:r>
            <a:endParaRPr lang="en-US" sz="1150" dirty="0"/>
          </a:p>
        </p:txBody>
      </p:sp>
      <p:sp>
        <p:nvSpPr>
          <p:cNvPr id="8" name="Shape 6"/>
          <p:cNvSpPr/>
          <p:nvPr/>
        </p:nvSpPr>
        <p:spPr>
          <a:xfrm>
            <a:off x="530352" y="1591056"/>
            <a:ext cx="3886200" cy="4517136"/>
          </a:xfrm>
          <a:prstGeom prst="roundRect">
            <a:avLst>
              <a:gd name="adj" fmla="val 1882"/>
            </a:avLst>
          </a:prstGeom>
          <a:solidFill>
            <a:srgbClr val="F8FAFC"/>
          </a:solidFill>
          <a:ln w="12700">
            <a:solidFill>
              <a:srgbClr val="E2E8F0">
                <a:alpha val="90000"/>
              </a:srgbClr>
            </a:solidFill>
            <a:prstDash val="solid"/>
          </a:ln>
        </p:spPr>
        <p:txBody>
          <a:bodyPr/>
          <a:p/>
        </p:txBody>
      </p:sp>
      <p:sp>
        <p:nvSpPr>
          <p:cNvPr id="9" name="Shape 7"/>
          <p:cNvSpPr/>
          <p:nvPr/>
        </p:nvSpPr>
        <p:spPr>
          <a:xfrm>
            <a:off x="749808" y="1847088"/>
            <a:ext cx="45720" cy="274320"/>
          </a:xfrm>
          <a:prstGeom prst="rect">
            <a:avLst/>
          </a:prstGeom>
          <a:solidFill>
            <a:srgbClr val="59D68C"/>
          </a:solidFill>
          <a:ln w="12700">
            <a:solidFill>
              <a:srgbClr val="15803D"/>
            </a:solidFill>
            <a:prstDash val="solid"/>
          </a:ln>
        </p:spPr>
        <p:txBody>
          <a:bodyPr/>
          <a:p/>
        </p:txBody>
      </p:sp>
      <p:sp>
        <p:nvSpPr>
          <p:cNvPr id="10" name="Text 8"/>
          <p:cNvSpPr/>
          <p:nvPr/>
        </p:nvSpPr>
        <p:spPr>
          <a:xfrm>
            <a:off x="877824" y="1842516"/>
            <a:ext cx="3300984" cy="274320"/>
          </a:xfrm>
          <a:prstGeom prst="rect">
            <a:avLst/>
          </a:prstGeom>
          <a:noFill/>
        </p:spPr>
        <p:txBody>
          <a:bodyPr wrap="square" lIns="0" tIns="0" rIns="0" bIns="0" rtlCol="0" anchor="ctr">
            <a:normAutofit/>
          </a:bodyPr>
          <a:lstStyle/>
          <a:p>
            <a:pPr marL="0" indent="0">
              <a:buNone/>
            </a:pPr>
            <a:r>
              <a:rPr lang="en-US" sz="1250" b="1" dirty="0">
                <a:solidFill>
                  <a:srgbClr val="0F172A"/>
                </a:solidFill>
                <a:latin typeface="Aptos" pitchFamily="34" charset="0"/>
                <a:ea typeface="Aptos" pitchFamily="34" charset="-122"/>
                <a:cs typeface="Aptos" pitchFamily="34" charset="-120"/>
              </a:rPr>
              <a:t>Defense configuration</a:t>
            </a:r>
            <a:endParaRPr lang="en-US" sz="1250" dirty="0"/>
          </a:p>
        </p:txBody>
      </p:sp>
      <p:sp>
        <p:nvSpPr>
          <p:cNvPr id="11" name="Shape 9"/>
          <p:cNvSpPr/>
          <p:nvPr/>
        </p:nvSpPr>
        <p:spPr>
          <a:xfrm>
            <a:off x="749808" y="2441448"/>
            <a:ext cx="68580" cy="68580"/>
          </a:xfrm>
          <a:prstGeom prst="ellipse">
            <a:avLst/>
          </a:prstGeom>
          <a:solidFill>
            <a:srgbClr val="56E0FF"/>
          </a:solidFill>
          <a:ln w="12700">
            <a:solidFill>
              <a:srgbClr val="0E7490"/>
            </a:solidFill>
            <a:prstDash val="solid"/>
          </a:ln>
        </p:spPr>
        <p:txBody>
          <a:bodyPr/>
          <a:p/>
        </p:txBody>
      </p:sp>
      <p:sp>
        <p:nvSpPr>
          <p:cNvPr id="12" name="Text 10"/>
          <p:cNvSpPr/>
          <p:nvPr/>
        </p:nvSpPr>
        <p:spPr>
          <a:xfrm>
            <a:off x="896112" y="2340864"/>
            <a:ext cx="2825496" cy="384048"/>
          </a:xfrm>
          <a:prstGeom prst="rect">
            <a:avLst/>
          </a:prstGeom>
          <a:noFill/>
        </p:spPr>
        <p:txBody>
          <a:bodyPr wrap="square" lIns="0" tIns="0" rIns="0" bIns="0" rtlCol="0" anchor="ctr">
            <a:normAutofit/>
          </a:bodyPr>
          <a:lstStyle/>
          <a:p>
            <a:pPr marL="0" indent="0">
              <a:buNone/>
            </a:pPr>
            <a:r>
              <a:rPr lang="en-US" sz="1100" dirty="0">
                <a:solidFill>
                  <a:srgbClr val="334155"/>
                </a:solidFill>
                <a:latin typeface="Aptos" pitchFamily="34" charset="0"/>
                <a:ea typeface="Aptos" pitchFamily="34" charset="-122"/>
                <a:cs typeface="Aptos" pitchFamily="34" charset="-120"/>
              </a:rPr>
              <a:t>5 epochs</a:t>
            </a:r>
            <a:endParaRPr lang="en-US" sz="1100" dirty="0"/>
          </a:p>
        </p:txBody>
      </p:sp>
      <p:sp>
        <p:nvSpPr>
          <p:cNvPr id="13" name="Shape 11"/>
          <p:cNvSpPr/>
          <p:nvPr/>
        </p:nvSpPr>
        <p:spPr>
          <a:xfrm>
            <a:off x="749808" y="2916936"/>
            <a:ext cx="68580" cy="68580"/>
          </a:xfrm>
          <a:prstGeom prst="ellipse">
            <a:avLst/>
          </a:prstGeom>
          <a:solidFill>
            <a:srgbClr val="56E0FF"/>
          </a:solidFill>
          <a:ln w="12700">
            <a:solidFill>
              <a:srgbClr val="0E7490"/>
            </a:solidFill>
            <a:prstDash val="solid"/>
          </a:ln>
        </p:spPr>
        <p:txBody>
          <a:bodyPr/>
          <a:p/>
        </p:txBody>
      </p:sp>
      <p:sp>
        <p:nvSpPr>
          <p:cNvPr id="14" name="Text 12"/>
          <p:cNvSpPr/>
          <p:nvPr/>
        </p:nvSpPr>
        <p:spPr>
          <a:xfrm>
            <a:off x="896112" y="2816352"/>
            <a:ext cx="2825496" cy="384048"/>
          </a:xfrm>
          <a:prstGeom prst="rect">
            <a:avLst/>
          </a:prstGeom>
          <a:noFill/>
        </p:spPr>
        <p:txBody>
          <a:bodyPr wrap="square" lIns="0" tIns="0" rIns="0" bIns="0" rtlCol="0" anchor="ctr">
            <a:normAutofit/>
          </a:bodyPr>
          <a:lstStyle/>
          <a:p>
            <a:pPr marL="0" indent="0">
              <a:buNone/>
            </a:pPr>
            <a:r>
              <a:rPr lang="en-US" sz="1100" dirty="0">
                <a:solidFill>
                  <a:srgbClr val="334155"/>
                </a:solidFill>
                <a:latin typeface="Aptos" pitchFamily="34" charset="0"/>
                <a:ea typeface="Aptos" pitchFamily="34" charset="-122"/>
                <a:cs typeface="Aptos" pitchFamily="34" charset="-120"/>
              </a:rPr>
              <a:t>Batch size 64</a:t>
            </a:r>
            <a:endParaRPr lang="en-US" sz="1100" dirty="0"/>
          </a:p>
        </p:txBody>
      </p:sp>
      <p:sp>
        <p:nvSpPr>
          <p:cNvPr id="15" name="Shape 13"/>
          <p:cNvSpPr/>
          <p:nvPr/>
        </p:nvSpPr>
        <p:spPr>
          <a:xfrm>
            <a:off x="749808" y="3392424"/>
            <a:ext cx="68580" cy="68580"/>
          </a:xfrm>
          <a:prstGeom prst="ellipse">
            <a:avLst/>
          </a:prstGeom>
          <a:solidFill>
            <a:srgbClr val="56E0FF"/>
          </a:solidFill>
          <a:ln w="12700">
            <a:solidFill>
              <a:srgbClr val="0E7490"/>
            </a:solidFill>
            <a:prstDash val="solid"/>
          </a:ln>
        </p:spPr>
        <p:txBody>
          <a:bodyPr/>
          <a:p/>
        </p:txBody>
      </p:sp>
      <p:sp>
        <p:nvSpPr>
          <p:cNvPr id="16" name="Text 14"/>
          <p:cNvSpPr/>
          <p:nvPr/>
        </p:nvSpPr>
        <p:spPr>
          <a:xfrm>
            <a:off x="896112" y="3291840"/>
            <a:ext cx="2825496" cy="384048"/>
          </a:xfrm>
          <a:prstGeom prst="rect">
            <a:avLst/>
          </a:prstGeom>
          <a:noFill/>
        </p:spPr>
        <p:txBody>
          <a:bodyPr wrap="square" lIns="0" tIns="0" rIns="0" bIns="0" rtlCol="0" anchor="ctr">
            <a:normAutofit/>
          </a:bodyPr>
          <a:lstStyle/>
          <a:p>
            <a:pPr marL="0" indent="0">
              <a:buNone/>
            </a:pPr>
            <a:r>
              <a:rPr lang="en-US" sz="1100" dirty="0">
                <a:solidFill>
                  <a:srgbClr val="334155"/>
                </a:solidFill>
                <a:latin typeface="Aptos" pitchFamily="34" charset="0"/>
                <a:ea typeface="Aptos" pitchFamily="34" charset="-122"/>
                <a:cs typeface="Aptos" pitchFamily="34" charset="-120"/>
              </a:rPr>
              <a:t>PGD epsilon 0.2</a:t>
            </a:r>
            <a:endParaRPr lang="en-US" sz="1100" dirty="0"/>
          </a:p>
        </p:txBody>
      </p:sp>
      <p:sp>
        <p:nvSpPr>
          <p:cNvPr id="17" name="Shape 15"/>
          <p:cNvSpPr/>
          <p:nvPr/>
        </p:nvSpPr>
        <p:spPr>
          <a:xfrm>
            <a:off x="749808" y="3867912"/>
            <a:ext cx="68580" cy="68580"/>
          </a:xfrm>
          <a:prstGeom prst="ellipse">
            <a:avLst/>
          </a:prstGeom>
          <a:solidFill>
            <a:srgbClr val="56E0FF"/>
          </a:solidFill>
          <a:ln w="12700">
            <a:solidFill>
              <a:srgbClr val="0E7490"/>
            </a:solidFill>
            <a:prstDash val="solid"/>
          </a:ln>
        </p:spPr>
        <p:txBody>
          <a:bodyPr/>
          <a:p/>
        </p:txBody>
      </p:sp>
      <p:sp>
        <p:nvSpPr>
          <p:cNvPr id="18" name="Text 16"/>
          <p:cNvSpPr/>
          <p:nvPr/>
        </p:nvSpPr>
        <p:spPr>
          <a:xfrm>
            <a:off x="896112" y="3767328"/>
            <a:ext cx="2825496" cy="384048"/>
          </a:xfrm>
          <a:prstGeom prst="rect">
            <a:avLst/>
          </a:prstGeom>
          <a:noFill/>
        </p:spPr>
        <p:txBody>
          <a:bodyPr wrap="square" lIns="0" tIns="0" rIns="0" bIns="0" rtlCol="0" anchor="ctr">
            <a:normAutofit/>
          </a:bodyPr>
          <a:lstStyle/>
          <a:p>
            <a:pPr marL="0" indent="0">
              <a:buNone/>
            </a:pPr>
            <a:r>
              <a:rPr lang="en-US" sz="1100" dirty="0">
                <a:solidFill>
                  <a:srgbClr val="334155"/>
                </a:solidFill>
                <a:latin typeface="Aptos" pitchFamily="34" charset="0"/>
                <a:ea typeface="Aptos" pitchFamily="34" charset="-122"/>
                <a:cs typeface="Aptos" pitchFamily="34" charset="-120"/>
              </a:rPr>
              <a:t>PGD alpha 0.005</a:t>
            </a:r>
            <a:endParaRPr lang="en-US" sz="1100" dirty="0"/>
          </a:p>
        </p:txBody>
      </p:sp>
      <p:sp>
        <p:nvSpPr>
          <p:cNvPr id="19" name="Shape 17"/>
          <p:cNvSpPr/>
          <p:nvPr/>
        </p:nvSpPr>
        <p:spPr>
          <a:xfrm>
            <a:off x="749808" y="4343400"/>
            <a:ext cx="68580" cy="68580"/>
          </a:xfrm>
          <a:prstGeom prst="ellipse">
            <a:avLst/>
          </a:prstGeom>
          <a:solidFill>
            <a:srgbClr val="56E0FF"/>
          </a:solidFill>
          <a:ln w="12700">
            <a:solidFill>
              <a:srgbClr val="0E7490"/>
            </a:solidFill>
            <a:prstDash val="solid"/>
          </a:ln>
        </p:spPr>
        <p:txBody>
          <a:bodyPr/>
          <a:p/>
        </p:txBody>
      </p:sp>
      <p:sp>
        <p:nvSpPr>
          <p:cNvPr id="20" name="Text 18"/>
          <p:cNvSpPr/>
          <p:nvPr/>
        </p:nvSpPr>
        <p:spPr>
          <a:xfrm>
            <a:off x="896112" y="4242816"/>
            <a:ext cx="2825496" cy="384048"/>
          </a:xfrm>
          <a:prstGeom prst="rect">
            <a:avLst/>
          </a:prstGeom>
          <a:noFill/>
        </p:spPr>
        <p:txBody>
          <a:bodyPr wrap="square" lIns="0" tIns="0" rIns="0" bIns="0" rtlCol="0" anchor="ctr">
            <a:normAutofit/>
          </a:bodyPr>
          <a:lstStyle/>
          <a:p>
            <a:pPr marL="0" indent="0">
              <a:buNone/>
            </a:pPr>
            <a:r>
              <a:rPr lang="en-US" sz="1100" dirty="0">
                <a:solidFill>
                  <a:srgbClr val="334155"/>
                </a:solidFill>
                <a:latin typeface="Aptos" pitchFamily="34" charset="0"/>
                <a:ea typeface="Aptos" pitchFamily="34" charset="-122"/>
                <a:cs typeface="Aptos" pitchFamily="34" charset="-120"/>
              </a:rPr>
              <a:t>60 PGD steps</a:t>
            </a:r>
            <a:endParaRPr lang="en-US" sz="1100" dirty="0"/>
          </a:p>
        </p:txBody>
      </p:sp>
      <p:sp>
        <p:nvSpPr>
          <p:cNvPr id="21" name="Text 19"/>
          <p:cNvSpPr/>
          <p:nvPr/>
        </p:nvSpPr>
        <p:spPr>
          <a:xfrm>
            <a:off x="749808" y="4983480"/>
            <a:ext cx="3063240" cy="438912"/>
          </a:xfrm>
          <a:prstGeom prst="rect">
            <a:avLst/>
          </a:prstGeom>
          <a:noFill/>
        </p:spPr>
        <p:txBody>
          <a:bodyPr wrap="square" lIns="0" tIns="0" rIns="0" bIns="0" rtlCol="0" anchor="ctr">
            <a:normAutofit/>
          </a:bodyPr>
          <a:lstStyle/>
          <a:p>
            <a:pPr marL="0" indent="0">
              <a:buNone/>
            </a:pPr>
            <a:r>
              <a:rPr lang="en-US" sz="920" dirty="0">
                <a:solidFill>
                  <a:srgbClr val="0E7490"/>
                </a:solidFill>
                <a:latin typeface="Consolas" panose="020B0609020204030204" pitchFamily="34" charset="0"/>
                <a:ea typeface="Consolas" panose="020B0609020204030204" pitchFamily="34" charset="-122"/>
                <a:cs typeface="Consolas" panose="020B0609020204030204" pitchFamily="34" charset="-120"/>
              </a:rPr>
              <a:t>Output: model/redmnist_robust_v2.pth</a:t>
            </a:r>
            <a:endParaRPr lang="en-US" sz="920" dirty="0"/>
          </a:p>
        </p:txBody>
      </p:sp>
      <p:sp>
        <p:nvSpPr>
          <p:cNvPr id="22" name="Shape 20"/>
          <p:cNvSpPr/>
          <p:nvPr/>
        </p:nvSpPr>
        <p:spPr>
          <a:xfrm>
            <a:off x="749808" y="5559552"/>
            <a:ext cx="1828800" cy="292608"/>
          </a:xfrm>
          <a:prstGeom prst="roundRect">
            <a:avLst>
              <a:gd name="adj" fmla="val 25000"/>
            </a:avLst>
          </a:prstGeom>
          <a:solidFill>
            <a:srgbClr val="59D68C">
              <a:alpha val="14000"/>
            </a:srgbClr>
          </a:solidFill>
          <a:ln w="12700">
            <a:solidFill>
              <a:srgbClr val="15803D">
                <a:alpha val="0"/>
              </a:srgbClr>
            </a:solidFill>
            <a:prstDash val="solid"/>
          </a:ln>
        </p:spPr>
        <p:txBody>
          <a:bodyPr/>
          <a:p/>
        </p:txBody>
      </p:sp>
      <p:sp>
        <p:nvSpPr>
          <p:cNvPr id="23" name="Text 21"/>
          <p:cNvSpPr/>
          <p:nvPr/>
        </p:nvSpPr>
        <p:spPr>
          <a:xfrm>
            <a:off x="822960" y="5609844"/>
            <a:ext cx="1682496" cy="146304"/>
          </a:xfrm>
          <a:prstGeom prst="rect">
            <a:avLst/>
          </a:prstGeom>
          <a:noFill/>
        </p:spPr>
        <p:txBody>
          <a:bodyPr wrap="square" lIns="0" tIns="0" rIns="0" bIns="0" rtlCol="0" anchor="ctr">
            <a:normAutofit/>
          </a:bodyPr>
          <a:lstStyle/>
          <a:p>
            <a:pPr marL="0" indent="0" algn="ctr">
              <a:buNone/>
            </a:pPr>
            <a:r>
              <a:rPr lang="en-US" sz="850" b="1" dirty="0">
                <a:solidFill>
                  <a:srgbClr val="15803D"/>
                </a:solidFill>
                <a:latin typeface="Aptos" pitchFamily="34" charset="0"/>
                <a:ea typeface="Aptos" pitchFamily="34" charset="-122"/>
                <a:cs typeface="Aptos" pitchFamily="34" charset="-120"/>
              </a:rPr>
              <a:t>SEPARATE CHECKPOINT</a:t>
            </a:r>
            <a:endParaRPr lang="en-US" sz="850" dirty="0"/>
          </a:p>
        </p:txBody>
      </p:sp>
      <p:sp>
        <p:nvSpPr>
          <p:cNvPr id="24" name="Shape 22"/>
          <p:cNvSpPr/>
          <p:nvPr/>
        </p:nvSpPr>
        <p:spPr>
          <a:xfrm>
            <a:off x="4636008" y="1591056"/>
            <a:ext cx="7022592" cy="4517136"/>
          </a:xfrm>
          <a:prstGeom prst="roundRect">
            <a:avLst>
              <a:gd name="adj" fmla="val 1619"/>
            </a:avLst>
          </a:prstGeom>
          <a:solidFill>
            <a:srgbClr val="F1F5F9"/>
          </a:solidFill>
          <a:ln w="12700">
            <a:solidFill>
              <a:srgbClr val="E2E8F0">
                <a:alpha val="90000"/>
              </a:srgbClr>
            </a:solidFill>
            <a:prstDash val="solid"/>
          </a:ln>
        </p:spPr>
        <p:txBody>
          <a:bodyPr/>
          <a:p/>
        </p:txBody>
      </p:sp>
      <p:sp>
        <p:nvSpPr>
          <p:cNvPr id="25" name="Shape 23"/>
          <p:cNvSpPr/>
          <p:nvPr/>
        </p:nvSpPr>
        <p:spPr>
          <a:xfrm>
            <a:off x="4882896" y="1847088"/>
            <a:ext cx="45720" cy="274320"/>
          </a:xfrm>
          <a:prstGeom prst="rect">
            <a:avLst/>
          </a:prstGeom>
          <a:solidFill>
            <a:srgbClr val="56E0FF"/>
          </a:solidFill>
          <a:ln w="12700">
            <a:solidFill>
              <a:srgbClr val="0E7490"/>
            </a:solidFill>
            <a:prstDash val="solid"/>
          </a:ln>
        </p:spPr>
        <p:txBody>
          <a:bodyPr/>
          <a:p/>
        </p:txBody>
      </p:sp>
      <p:sp>
        <p:nvSpPr>
          <p:cNvPr id="26" name="Text 24"/>
          <p:cNvSpPr/>
          <p:nvPr/>
        </p:nvSpPr>
        <p:spPr>
          <a:xfrm>
            <a:off x="5010912" y="1842516"/>
            <a:ext cx="6227064" cy="274320"/>
          </a:xfrm>
          <a:prstGeom prst="rect">
            <a:avLst/>
          </a:prstGeom>
          <a:noFill/>
        </p:spPr>
        <p:txBody>
          <a:bodyPr wrap="square" lIns="0" tIns="0" rIns="0" bIns="0" rtlCol="0" anchor="ctr">
            <a:normAutofit/>
          </a:bodyPr>
          <a:lstStyle/>
          <a:p>
            <a:pPr marL="0" indent="0">
              <a:buNone/>
            </a:pPr>
            <a:r>
              <a:rPr lang="en-US" sz="1250" b="1" dirty="0">
                <a:solidFill>
                  <a:srgbClr val="0F172A"/>
                </a:solidFill>
                <a:latin typeface="Aptos" pitchFamily="34" charset="0"/>
                <a:ea typeface="Aptos" pitchFamily="34" charset="-122"/>
                <a:cs typeface="Aptos" pitchFamily="34" charset="-120"/>
              </a:rPr>
              <a:t>Same sample • same attack family</a:t>
            </a:r>
            <a:endParaRPr lang="en-US" sz="1250" dirty="0"/>
          </a:p>
        </p:txBody>
      </p:sp>
      <p:sp>
        <p:nvSpPr>
          <p:cNvPr id="27" name="Text 25"/>
          <p:cNvSpPr/>
          <p:nvPr/>
        </p:nvSpPr>
        <p:spPr>
          <a:xfrm>
            <a:off x="4983480" y="2313432"/>
            <a:ext cx="2011680" cy="219456"/>
          </a:xfrm>
          <a:prstGeom prst="rect">
            <a:avLst/>
          </a:prstGeom>
          <a:noFill/>
        </p:spPr>
        <p:txBody>
          <a:bodyPr wrap="square" lIns="0" tIns="0" rIns="0" bIns="0" rtlCol="0" anchor="ctr"/>
          <a:lstStyle/>
          <a:p>
            <a:pPr marL="0" indent="0">
              <a:buNone/>
            </a:pPr>
            <a:r>
              <a:rPr lang="en-US" sz="900" b="1" dirty="0">
                <a:solidFill>
                  <a:srgbClr val="64748B"/>
                </a:solidFill>
                <a:latin typeface="Aptos" pitchFamily="34" charset="0"/>
                <a:ea typeface="Aptos" pitchFamily="34" charset="-122"/>
                <a:cs typeface="Aptos" pitchFamily="34" charset="-120"/>
              </a:rPr>
              <a:t>Test</a:t>
            </a:r>
            <a:endParaRPr lang="en-US" sz="900" dirty="0"/>
          </a:p>
        </p:txBody>
      </p:sp>
      <p:sp>
        <p:nvSpPr>
          <p:cNvPr id="28" name="Text 26"/>
          <p:cNvSpPr/>
          <p:nvPr/>
        </p:nvSpPr>
        <p:spPr>
          <a:xfrm>
            <a:off x="7498080" y="2313432"/>
            <a:ext cx="1463040" cy="219456"/>
          </a:xfrm>
          <a:prstGeom prst="rect">
            <a:avLst/>
          </a:prstGeom>
          <a:noFill/>
        </p:spPr>
        <p:txBody>
          <a:bodyPr wrap="square" lIns="0" tIns="0" rIns="0" bIns="0" rtlCol="0" anchor="ctr"/>
          <a:lstStyle/>
          <a:p>
            <a:pPr marL="0" indent="0">
              <a:buNone/>
            </a:pPr>
            <a:r>
              <a:rPr lang="en-US" sz="900" b="1" dirty="0">
                <a:solidFill>
                  <a:srgbClr val="64748B"/>
                </a:solidFill>
                <a:latin typeface="Aptos" pitchFamily="34" charset="0"/>
                <a:ea typeface="Aptos" pitchFamily="34" charset="-122"/>
                <a:cs typeface="Aptos" pitchFamily="34" charset="-120"/>
              </a:rPr>
              <a:t>Prediction</a:t>
            </a:r>
            <a:endParaRPr lang="en-US" sz="900" dirty="0"/>
          </a:p>
        </p:txBody>
      </p:sp>
      <p:sp>
        <p:nvSpPr>
          <p:cNvPr id="29" name="Text 27"/>
          <p:cNvSpPr/>
          <p:nvPr/>
        </p:nvSpPr>
        <p:spPr>
          <a:xfrm>
            <a:off x="9546336" y="2313432"/>
            <a:ext cx="1645920" cy="219456"/>
          </a:xfrm>
          <a:prstGeom prst="rect">
            <a:avLst/>
          </a:prstGeom>
          <a:noFill/>
        </p:spPr>
        <p:txBody>
          <a:bodyPr wrap="square" lIns="0" tIns="0" rIns="0" bIns="0" rtlCol="0" anchor="ctr"/>
          <a:lstStyle/>
          <a:p>
            <a:pPr marL="0" indent="0">
              <a:buNone/>
            </a:pPr>
            <a:r>
              <a:rPr lang="en-US" sz="900" b="1" dirty="0">
                <a:solidFill>
                  <a:srgbClr val="64748B"/>
                </a:solidFill>
                <a:latin typeface="Aptos" pitchFamily="34" charset="0"/>
                <a:ea typeface="Aptos" pitchFamily="34" charset="-122"/>
                <a:cs typeface="Aptos" pitchFamily="34" charset="-120"/>
              </a:rPr>
              <a:t>Confidence</a:t>
            </a:r>
            <a:endParaRPr lang="en-US" sz="900" dirty="0"/>
          </a:p>
        </p:txBody>
      </p:sp>
      <p:sp>
        <p:nvSpPr>
          <p:cNvPr id="30" name="Shape 28"/>
          <p:cNvSpPr/>
          <p:nvPr/>
        </p:nvSpPr>
        <p:spPr>
          <a:xfrm>
            <a:off x="4983480" y="2615184"/>
            <a:ext cx="5577840" cy="0"/>
          </a:xfrm>
          <a:prstGeom prst="line">
            <a:avLst/>
          </a:prstGeom>
          <a:noFill/>
          <a:ln w="8890">
            <a:solidFill>
              <a:srgbClr val="E2E8F0"/>
            </a:solidFill>
            <a:prstDash val="solid"/>
          </a:ln>
        </p:spPr>
        <p:txBody>
          <a:bodyPr/>
          <a:p/>
        </p:txBody>
      </p:sp>
      <p:sp>
        <p:nvSpPr>
          <p:cNvPr id="31" name="Text 29"/>
          <p:cNvSpPr/>
          <p:nvPr/>
        </p:nvSpPr>
        <p:spPr>
          <a:xfrm>
            <a:off x="4983480" y="2761488"/>
            <a:ext cx="2011680" cy="274320"/>
          </a:xfrm>
          <a:prstGeom prst="rect">
            <a:avLst/>
          </a:prstGeom>
          <a:noFill/>
        </p:spPr>
        <p:txBody>
          <a:bodyPr wrap="square" lIns="0" tIns="0" rIns="0" bIns="0" rtlCol="0" anchor="ctr"/>
          <a:lstStyle/>
          <a:p>
            <a:pPr marL="0" indent="0">
              <a:buNone/>
            </a:pPr>
            <a:r>
              <a:rPr lang="en-US" sz="1100" b="1" dirty="0">
                <a:solidFill>
                  <a:srgbClr val="0F172A"/>
                </a:solidFill>
                <a:latin typeface="Aptos" pitchFamily="34" charset="0"/>
                <a:ea typeface="Aptos" pitchFamily="34" charset="-122"/>
                <a:cs typeface="Aptos" pitchFamily="34" charset="-120"/>
              </a:rPr>
              <a:t>Original</a:t>
            </a:r>
            <a:endParaRPr lang="en-US" sz="1100" dirty="0"/>
          </a:p>
        </p:txBody>
      </p:sp>
      <p:sp>
        <p:nvSpPr>
          <p:cNvPr id="32" name="Text 30"/>
          <p:cNvSpPr/>
          <p:nvPr/>
        </p:nvSpPr>
        <p:spPr>
          <a:xfrm>
            <a:off x="7498080" y="2761488"/>
            <a:ext cx="1463040" cy="274320"/>
          </a:xfrm>
          <a:prstGeom prst="rect">
            <a:avLst/>
          </a:prstGeom>
          <a:noFill/>
        </p:spPr>
        <p:txBody>
          <a:bodyPr wrap="square" lIns="0" tIns="0" rIns="0" bIns="0" rtlCol="0" anchor="ctr"/>
          <a:lstStyle/>
          <a:p>
            <a:pPr marL="0" indent="0">
              <a:buNone/>
            </a:pPr>
            <a:r>
              <a:rPr lang="en-US" sz="1600" b="1" dirty="0">
                <a:solidFill>
                  <a:srgbClr val="0E7490"/>
                </a:solidFill>
                <a:latin typeface="Aptos Display" pitchFamily="34" charset="0"/>
                <a:ea typeface="Aptos Display" pitchFamily="34" charset="-122"/>
                <a:cs typeface="Aptos Display" pitchFamily="34" charset="-120"/>
              </a:rPr>
              <a:t>7</a:t>
            </a:r>
            <a:endParaRPr lang="en-US" sz="1600" dirty="0"/>
          </a:p>
        </p:txBody>
      </p:sp>
      <p:sp>
        <p:nvSpPr>
          <p:cNvPr id="33" name="Text 31"/>
          <p:cNvSpPr/>
          <p:nvPr/>
        </p:nvSpPr>
        <p:spPr>
          <a:xfrm>
            <a:off x="9546336" y="2761488"/>
            <a:ext cx="1600200" cy="274320"/>
          </a:xfrm>
          <a:prstGeom prst="rect">
            <a:avLst/>
          </a:prstGeom>
          <a:noFill/>
        </p:spPr>
        <p:txBody>
          <a:bodyPr wrap="square" lIns="0" tIns="0" rIns="0" bIns="0" rtlCol="0" anchor="ctr"/>
          <a:lstStyle/>
          <a:p>
            <a:pPr marL="0" indent="0">
              <a:buNone/>
            </a:pPr>
            <a:r>
              <a:rPr lang="en-US" sz="1100" dirty="0">
                <a:solidFill>
                  <a:srgbClr val="334155"/>
                </a:solidFill>
                <a:latin typeface="Aptos" pitchFamily="34" charset="0"/>
                <a:ea typeface="Aptos" pitchFamily="34" charset="-122"/>
                <a:cs typeface="Aptos" pitchFamily="34" charset="-120"/>
              </a:rPr>
              <a:t>0.9929</a:t>
            </a:r>
            <a:endParaRPr lang="en-US" sz="1100" dirty="0"/>
          </a:p>
        </p:txBody>
      </p:sp>
      <p:sp>
        <p:nvSpPr>
          <p:cNvPr id="34" name="Shape 32"/>
          <p:cNvSpPr/>
          <p:nvPr/>
        </p:nvSpPr>
        <p:spPr>
          <a:xfrm>
            <a:off x="4983480" y="3328416"/>
            <a:ext cx="5577840" cy="0"/>
          </a:xfrm>
          <a:prstGeom prst="line">
            <a:avLst/>
          </a:prstGeom>
          <a:noFill/>
          <a:ln w="8890">
            <a:solidFill>
              <a:srgbClr val="E2E8F0"/>
            </a:solidFill>
            <a:prstDash val="solid"/>
          </a:ln>
        </p:spPr>
        <p:txBody>
          <a:bodyPr/>
          <a:p/>
        </p:txBody>
      </p:sp>
      <p:sp>
        <p:nvSpPr>
          <p:cNvPr id="35" name="Text 33"/>
          <p:cNvSpPr/>
          <p:nvPr/>
        </p:nvSpPr>
        <p:spPr>
          <a:xfrm>
            <a:off x="4983480" y="3474720"/>
            <a:ext cx="2011680" cy="274320"/>
          </a:xfrm>
          <a:prstGeom prst="rect">
            <a:avLst/>
          </a:prstGeom>
          <a:noFill/>
        </p:spPr>
        <p:txBody>
          <a:bodyPr wrap="square" lIns="0" tIns="0" rIns="0" bIns="0" rtlCol="0" anchor="ctr"/>
          <a:lstStyle/>
          <a:p>
            <a:pPr marL="0" indent="0">
              <a:buNone/>
            </a:pPr>
            <a:r>
              <a:rPr lang="en-US" sz="1100" b="1" dirty="0">
                <a:solidFill>
                  <a:srgbClr val="0F172A"/>
                </a:solidFill>
                <a:latin typeface="Aptos" pitchFamily="34" charset="0"/>
                <a:ea typeface="Aptos" pitchFamily="34" charset="-122"/>
                <a:cs typeface="Aptos" pitchFamily="34" charset="-120"/>
              </a:rPr>
              <a:t>FGSM</a:t>
            </a:r>
            <a:endParaRPr lang="en-US" sz="1100" dirty="0"/>
          </a:p>
        </p:txBody>
      </p:sp>
      <p:sp>
        <p:nvSpPr>
          <p:cNvPr id="36" name="Text 34"/>
          <p:cNvSpPr/>
          <p:nvPr/>
        </p:nvSpPr>
        <p:spPr>
          <a:xfrm>
            <a:off x="7498080" y="3474720"/>
            <a:ext cx="1463040" cy="274320"/>
          </a:xfrm>
          <a:prstGeom prst="rect">
            <a:avLst/>
          </a:prstGeom>
          <a:noFill/>
        </p:spPr>
        <p:txBody>
          <a:bodyPr wrap="square" lIns="0" tIns="0" rIns="0" bIns="0" rtlCol="0" anchor="ctr"/>
          <a:lstStyle/>
          <a:p>
            <a:pPr marL="0" indent="0">
              <a:buNone/>
            </a:pPr>
            <a:r>
              <a:rPr lang="en-US" sz="1600" b="1" dirty="0">
                <a:solidFill>
                  <a:srgbClr val="15803D"/>
                </a:solidFill>
                <a:latin typeface="Aptos Display" pitchFamily="34" charset="0"/>
                <a:ea typeface="Aptos Display" pitchFamily="34" charset="-122"/>
                <a:cs typeface="Aptos Display" pitchFamily="34" charset="-120"/>
              </a:rPr>
              <a:t>7</a:t>
            </a:r>
            <a:endParaRPr lang="en-US" sz="1600" dirty="0"/>
          </a:p>
        </p:txBody>
      </p:sp>
      <p:sp>
        <p:nvSpPr>
          <p:cNvPr id="37" name="Text 35"/>
          <p:cNvSpPr/>
          <p:nvPr/>
        </p:nvSpPr>
        <p:spPr>
          <a:xfrm>
            <a:off x="9546336" y="3474720"/>
            <a:ext cx="1600200" cy="274320"/>
          </a:xfrm>
          <a:prstGeom prst="rect">
            <a:avLst/>
          </a:prstGeom>
          <a:noFill/>
        </p:spPr>
        <p:txBody>
          <a:bodyPr wrap="square" lIns="0" tIns="0" rIns="0" bIns="0" rtlCol="0" anchor="ctr"/>
          <a:lstStyle/>
          <a:p>
            <a:pPr marL="0" indent="0">
              <a:buNone/>
            </a:pPr>
            <a:r>
              <a:rPr lang="en-US" sz="1100" dirty="0">
                <a:solidFill>
                  <a:srgbClr val="334155"/>
                </a:solidFill>
                <a:latin typeface="Aptos" pitchFamily="34" charset="0"/>
                <a:ea typeface="Aptos" pitchFamily="34" charset="-122"/>
                <a:cs typeface="Aptos" pitchFamily="34" charset="-120"/>
              </a:rPr>
              <a:t>0.2489</a:t>
            </a:r>
            <a:endParaRPr lang="en-US" sz="1100" dirty="0"/>
          </a:p>
        </p:txBody>
      </p:sp>
      <p:sp>
        <p:nvSpPr>
          <p:cNvPr id="38" name="Shape 36"/>
          <p:cNvSpPr/>
          <p:nvPr/>
        </p:nvSpPr>
        <p:spPr>
          <a:xfrm>
            <a:off x="4983480" y="4041648"/>
            <a:ext cx="5577840" cy="0"/>
          </a:xfrm>
          <a:prstGeom prst="line">
            <a:avLst/>
          </a:prstGeom>
          <a:noFill/>
          <a:ln w="8890">
            <a:solidFill>
              <a:srgbClr val="E2E8F0"/>
            </a:solidFill>
            <a:prstDash val="solid"/>
          </a:ln>
        </p:spPr>
        <p:txBody>
          <a:bodyPr/>
          <a:p/>
        </p:txBody>
      </p:sp>
      <p:sp>
        <p:nvSpPr>
          <p:cNvPr id="39" name="Text 37"/>
          <p:cNvSpPr/>
          <p:nvPr/>
        </p:nvSpPr>
        <p:spPr>
          <a:xfrm>
            <a:off x="4983480" y="4187952"/>
            <a:ext cx="2011680" cy="274320"/>
          </a:xfrm>
          <a:prstGeom prst="rect">
            <a:avLst/>
          </a:prstGeom>
          <a:noFill/>
        </p:spPr>
        <p:txBody>
          <a:bodyPr wrap="square" lIns="0" tIns="0" rIns="0" bIns="0" rtlCol="0" anchor="ctr"/>
          <a:lstStyle/>
          <a:p>
            <a:pPr marL="0" indent="0">
              <a:buNone/>
            </a:pPr>
            <a:r>
              <a:rPr lang="en-US" sz="1100" b="1" dirty="0">
                <a:solidFill>
                  <a:srgbClr val="0F172A"/>
                </a:solidFill>
                <a:latin typeface="Aptos" pitchFamily="34" charset="0"/>
                <a:ea typeface="Aptos" pitchFamily="34" charset="-122"/>
                <a:cs typeface="Aptos" pitchFamily="34" charset="-120"/>
              </a:rPr>
              <a:t>PGD</a:t>
            </a:r>
            <a:endParaRPr lang="en-US" sz="1100" dirty="0"/>
          </a:p>
        </p:txBody>
      </p:sp>
      <p:sp>
        <p:nvSpPr>
          <p:cNvPr id="40" name="Text 38"/>
          <p:cNvSpPr/>
          <p:nvPr/>
        </p:nvSpPr>
        <p:spPr>
          <a:xfrm>
            <a:off x="7498080" y="4187952"/>
            <a:ext cx="1463040" cy="274320"/>
          </a:xfrm>
          <a:prstGeom prst="rect">
            <a:avLst/>
          </a:prstGeom>
          <a:noFill/>
        </p:spPr>
        <p:txBody>
          <a:bodyPr wrap="square" lIns="0" tIns="0" rIns="0" bIns="0" rtlCol="0" anchor="ctr"/>
          <a:lstStyle/>
          <a:p>
            <a:pPr marL="0" indent="0">
              <a:buNone/>
            </a:pPr>
            <a:r>
              <a:rPr lang="en-US" sz="1600" b="1" dirty="0">
                <a:solidFill>
                  <a:srgbClr val="15803D"/>
                </a:solidFill>
                <a:latin typeface="Aptos Display" pitchFamily="34" charset="0"/>
                <a:ea typeface="Aptos Display" pitchFamily="34" charset="-122"/>
                <a:cs typeface="Aptos Display" pitchFamily="34" charset="-120"/>
              </a:rPr>
              <a:t>7</a:t>
            </a:r>
            <a:endParaRPr lang="en-US" sz="1600" dirty="0"/>
          </a:p>
        </p:txBody>
      </p:sp>
      <p:sp>
        <p:nvSpPr>
          <p:cNvPr id="41" name="Text 39"/>
          <p:cNvSpPr/>
          <p:nvPr/>
        </p:nvSpPr>
        <p:spPr>
          <a:xfrm>
            <a:off x="9546336" y="4187952"/>
            <a:ext cx="1600200" cy="274320"/>
          </a:xfrm>
          <a:prstGeom prst="rect">
            <a:avLst/>
          </a:prstGeom>
          <a:noFill/>
        </p:spPr>
        <p:txBody>
          <a:bodyPr wrap="square" lIns="0" tIns="0" rIns="0" bIns="0" rtlCol="0" anchor="ctr"/>
          <a:lstStyle/>
          <a:p>
            <a:pPr marL="0" indent="0">
              <a:buNone/>
            </a:pPr>
            <a:r>
              <a:rPr lang="en-US" sz="1100" dirty="0">
                <a:solidFill>
                  <a:srgbClr val="334155"/>
                </a:solidFill>
                <a:latin typeface="Aptos" pitchFamily="34" charset="0"/>
                <a:ea typeface="Aptos" pitchFamily="34" charset="-122"/>
                <a:cs typeface="Aptos" pitchFamily="34" charset="-120"/>
              </a:rPr>
              <a:t>0.7599</a:t>
            </a:r>
            <a:endParaRPr lang="en-US" sz="1100" dirty="0"/>
          </a:p>
        </p:txBody>
      </p:sp>
      <p:sp>
        <p:nvSpPr>
          <p:cNvPr id="42" name="Shape 40"/>
          <p:cNvSpPr/>
          <p:nvPr/>
        </p:nvSpPr>
        <p:spPr>
          <a:xfrm>
            <a:off x="4983480" y="5321808"/>
            <a:ext cx="1965960" cy="292608"/>
          </a:xfrm>
          <a:prstGeom prst="roundRect">
            <a:avLst>
              <a:gd name="adj" fmla="val 25000"/>
            </a:avLst>
          </a:prstGeom>
          <a:solidFill>
            <a:srgbClr val="59D68C">
              <a:alpha val="14000"/>
            </a:srgbClr>
          </a:solidFill>
          <a:ln w="12700">
            <a:solidFill>
              <a:srgbClr val="15803D">
                <a:alpha val="0"/>
              </a:srgbClr>
            </a:solidFill>
            <a:prstDash val="solid"/>
          </a:ln>
        </p:spPr>
        <p:txBody>
          <a:bodyPr/>
          <a:p/>
        </p:txBody>
      </p:sp>
      <p:sp>
        <p:nvSpPr>
          <p:cNvPr id="43" name="Text 41"/>
          <p:cNvSpPr/>
          <p:nvPr/>
        </p:nvSpPr>
        <p:spPr>
          <a:xfrm>
            <a:off x="5056632" y="5372100"/>
            <a:ext cx="1819656" cy="146304"/>
          </a:xfrm>
          <a:prstGeom prst="rect">
            <a:avLst/>
          </a:prstGeom>
          <a:noFill/>
        </p:spPr>
        <p:txBody>
          <a:bodyPr wrap="square" lIns="0" tIns="0" rIns="0" bIns="0" rtlCol="0" anchor="ctr">
            <a:normAutofit/>
          </a:bodyPr>
          <a:lstStyle/>
          <a:p>
            <a:pPr marL="0" indent="0" algn="ctr">
              <a:buNone/>
            </a:pPr>
            <a:r>
              <a:rPr lang="en-US" sz="850" b="1" dirty="0">
                <a:solidFill>
                  <a:srgbClr val="15803D"/>
                </a:solidFill>
                <a:latin typeface="Aptos" pitchFamily="34" charset="0"/>
                <a:ea typeface="Aptos" pitchFamily="34" charset="-122"/>
                <a:cs typeface="Aptos" pitchFamily="34" charset="-120"/>
              </a:rPr>
              <a:t>TARGETED RESISTANCE</a:t>
            </a:r>
            <a:endParaRPr lang="en-US" sz="850" dirty="0"/>
          </a:p>
        </p:txBody>
      </p:sp>
      <p:sp>
        <p:nvSpPr>
          <p:cNvPr id="44" name="Text 42"/>
          <p:cNvSpPr/>
          <p:nvPr/>
        </p:nvSpPr>
        <p:spPr>
          <a:xfrm>
            <a:off x="7132320" y="5376672"/>
            <a:ext cx="3657600" cy="219456"/>
          </a:xfrm>
          <a:prstGeom prst="rect">
            <a:avLst/>
          </a:prstGeom>
          <a:noFill/>
        </p:spPr>
        <p:txBody>
          <a:bodyPr wrap="square" lIns="0" tIns="0" rIns="0" bIns="0" rtlCol="0" anchor="ctr"/>
          <a:lstStyle/>
          <a:p>
            <a:pPr marL="0" indent="0">
              <a:buNone/>
            </a:pPr>
            <a:r>
              <a:rPr lang="en-US" sz="980" dirty="0">
                <a:solidFill>
                  <a:srgbClr val="64748B"/>
                </a:solidFill>
                <a:latin typeface="Aptos" pitchFamily="34" charset="0"/>
                <a:ea typeface="Aptos" pitchFamily="34" charset="-122"/>
                <a:cs typeface="Aptos" pitchFamily="34" charset="-120"/>
              </a:rPr>
              <a:t>Not a universal robustness claim.</a:t>
            </a:r>
            <a:endParaRPr lang="en-US" sz="980" dirty="0"/>
          </a:p>
        </p:txBody>
      </p:sp>
      <p:sp>
        <p:nvSpPr>
          <p:cNvPr id="45" name="Text 43"/>
          <p:cNvSpPr/>
          <p:nvPr/>
        </p:nvSpPr>
        <p:spPr>
          <a:xfrm>
            <a:off x="11109960" y="6556248"/>
            <a:ext cx="457200" cy="164592"/>
          </a:xfrm>
          <a:prstGeom prst="rect">
            <a:avLst/>
          </a:prstGeom>
          <a:noFill/>
        </p:spPr>
        <p:txBody>
          <a:bodyPr wrap="square" lIns="0" tIns="0" rIns="0" bIns="0" rtlCol="0" anchor="ctr"/>
          <a:lstStyle/>
          <a:p>
            <a:pPr marL="0" indent="0" algn="r">
              <a:buNone/>
            </a:pPr>
            <a:r>
              <a:rPr lang="en-US" sz="800" dirty="0">
                <a:solidFill>
                  <a:srgbClr val="64748B"/>
                </a:solidFill>
                <a:latin typeface="Aptos" pitchFamily="34" charset="0"/>
                <a:ea typeface="Aptos" pitchFamily="34" charset="-122"/>
                <a:cs typeface="Aptos"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320040"/>
            <a:ext cx="11365992" cy="0"/>
          </a:xfrm>
          <a:prstGeom prst="line">
            <a:avLst/>
          </a:prstGeom>
          <a:noFill/>
          <a:ln w="12700">
            <a:solidFill>
              <a:srgbClr val="E2E8F0"/>
            </a:solidFill>
            <a:prstDash val="solid"/>
          </a:ln>
        </p:spPr>
        <p:txBody>
          <a:bodyPr/>
          <a:p/>
        </p:txBody>
      </p:sp>
      <p:sp>
        <p:nvSpPr>
          <p:cNvPr id="3" name="Shape 1"/>
          <p:cNvSpPr/>
          <p:nvPr/>
        </p:nvSpPr>
        <p:spPr>
          <a:xfrm>
            <a:off x="411480" y="6492240"/>
            <a:ext cx="11365992" cy="0"/>
          </a:xfrm>
          <a:prstGeom prst="line">
            <a:avLst/>
          </a:prstGeom>
          <a:noFill/>
          <a:ln w="12700">
            <a:solidFill>
              <a:srgbClr val="E2E8F0"/>
            </a:solidFill>
            <a:prstDash val="solid"/>
          </a:ln>
        </p:spPr>
        <p:txBody>
          <a:bodyPr/>
          <a:p/>
        </p:txBody>
      </p:sp>
      <p:sp>
        <p:nvSpPr>
          <p:cNvPr id="4" name="Shape 2"/>
          <p:cNvSpPr/>
          <p:nvPr/>
        </p:nvSpPr>
        <p:spPr>
          <a:xfrm rot="1080000">
            <a:off x="10744200" y="-640080"/>
            <a:ext cx="1920240" cy="1920240"/>
          </a:xfrm>
          <a:prstGeom prst="arc">
            <a:avLst/>
          </a:prstGeom>
          <a:solidFill>
            <a:srgbClr val="FFFFFF">
              <a:alpha val="0"/>
            </a:srgbClr>
          </a:solidFill>
          <a:ln w="12700">
            <a:solidFill>
              <a:srgbClr val="E2E8F0">
                <a:alpha val="55000"/>
              </a:srgbClr>
            </a:solidFill>
            <a:prstDash val="solid"/>
          </a:ln>
        </p:spPr>
        <p:txBody>
          <a:bodyPr/>
          <a:p/>
        </p:txBody>
      </p:sp>
      <p:sp>
        <p:nvSpPr>
          <p:cNvPr id="5" name="Text 3"/>
          <p:cNvSpPr/>
          <p:nvPr/>
        </p:nvSpPr>
        <p:spPr>
          <a:xfrm>
            <a:off x="502920" y="73152"/>
            <a:ext cx="3840480" cy="182880"/>
          </a:xfrm>
          <a:prstGeom prst="rect">
            <a:avLst/>
          </a:prstGeom>
          <a:noFill/>
        </p:spPr>
        <p:txBody>
          <a:bodyPr wrap="square" lIns="0" tIns="0" rIns="0" bIns="0" rtlCol="0" anchor="ctr"/>
          <a:lstStyle/>
          <a:p>
            <a:pPr marL="0" indent="0">
              <a:buNone/>
            </a:pPr>
            <a:r>
              <a:rPr lang="en-US" sz="900" b="1" kern="0" spc="140" dirty="0">
                <a:solidFill>
                  <a:srgbClr val="0E7490"/>
                </a:solidFill>
                <a:latin typeface="Aptos" pitchFamily="34" charset="0"/>
                <a:ea typeface="Aptos" pitchFamily="34" charset="-122"/>
                <a:cs typeface="Aptos" pitchFamily="34" charset="-120"/>
              </a:rPr>
              <a:t>BONUSES</a:t>
            </a:r>
            <a:endParaRPr lang="en-US" sz="900" dirty="0"/>
          </a:p>
        </p:txBody>
      </p:sp>
      <p:sp>
        <p:nvSpPr>
          <p:cNvPr id="6" name="Text 4"/>
          <p:cNvSpPr/>
          <p:nvPr/>
        </p:nvSpPr>
        <p:spPr>
          <a:xfrm>
            <a:off x="502920" y="530352"/>
            <a:ext cx="10561320" cy="502920"/>
          </a:xfrm>
          <a:prstGeom prst="rect">
            <a:avLst/>
          </a:prstGeom>
          <a:noFill/>
        </p:spPr>
        <p:txBody>
          <a:bodyPr wrap="square" lIns="0" tIns="0" rIns="0" bIns="0" rtlCol="0" anchor="ctr">
            <a:normAutofit/>
          </a:bodyP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13 • Bonus Work</a:t>
            </a:r>
            <a:endParaRPr lang="en-US" sz="2500" dirty="0"/>
          </a:p>
        </p:txBody>
      </p:sp>
      <p:sp>
        <p:nvSpPr>
          <p:cNvPr id="7" name="Text 5"/>
          <p:cNvSpPr/>
          <p:nvPr/>
        </p:nvSpPr>
        <p:spPr>
          <a:xfrm>
            <a:off x="530352" y="1060704"/>
            <a:ext cx="10332720" cy="347472"/>
          </a:xfrm>
          <a:prstGeom prst="rect">
            <a:avLst/>
          </a:prstGeom>
          <a:noFill/>
        </p:spPr>
        <p:txBody>
          <a:bodyPr wrap="square" lIns="0" tIns="0" rIns="0" bIns="0" rtlCol="0" anchor="ctr">
            <a:normAutofit/>
          </a:bodyPr>
          <a:lstStyle/>
          <a:p>
            <a:pPr marL="0" indent="0">
              <a:buNone/>
            </a:pPr>
            <a:r>
              <a:rPr lang="en-US" sz="1150" dirty="0">
                <a:solidFill>
                  <a:srgbClr val="64748B"/>
                </a:solidFill>
                <a:latin typeface="Aptos" pitchFamily="34" charset="0"/>
                <a:ea typeface="Aptos" pitchFamily="34" charset="-122"/>
                <a:cs typeface="Aptos" pitchFamily="34" charset="-120"/>
              </a:rPr>
              <a:t>Three optional security extensions were also implemented.</a:t>
            </a:r>
            <a:endParaRPr lang="en-US" sz="1150" dirty="0"/>
          </a:p>
        </p:txBody>
      </p:sp>
      <p:sp>
        <p:nvSpPr>
          <p:cNvPr id="8" name="Shape 6"/>
          <p:cNvSpPr/>
          <p:nvPr/>
        </p:nvSpPr>
        <p:spPr>
          <a:xfrm>
            <a:off x="530352" y="1664208"/>
            <a:ext cx="3429000" cy="4498848"/>
          </a:xfrm>
          <a:prstGeom prst="roundRect">
            <a:avLst>
              <a:gd name="adj" fmla="val 2133"/>
            </a:avLst>
          </a:prstGeom>
          <a:solidFill>
            <a:srgbClr val="F8FAFC"/>
          </a:solidFill>
          <a:ln w="12700">
            <a:solidFill>
              <a:srgbClr val="E2E8F0">
                <a:alpha val="90000"/>
              </a:srgbClr>
            </a:solidFill>
            <a:prstDash val="solid"/>
          </a:ln>
        </p:spPr>
        <p:txBody>
          <a:bodyPr/>
          <a:p/>
        </p:txBody>
      </p:sp>
      <p:sp>
        <p:nvSpPr>
          <p:cNvPr id="9" name="Shape 7"/>
          <p:cNvSpPr/>
          <p:nvPr/>
        </p:nvSpPr>
        <p:spPr>
          <a:xfrm>
            <a:off x="749808" y="1938528"/>
            <a:ext cx="1234440" cy="292608"/>
          </a:xfrm>
          <a:prstGeom prst="roundRect">
            <a:avLst>
              <a:gd name="adj" fmla="val 25000"/>
            </a:avLst>
          </a:prstGeom>
          <a:solidFill>
            <a:srgbClr val="56E0FF">
              <a:alpha val="14000"/>
            </a:srgbClr>
          </a:solidFill>
          <a:ln w="12700">
            <a:solidFill>
              <a:srgbClr val="0E7490">
                <a:alpha val="0"/>
              </a:srgbClr>
            </a:solidFill>
            <a:prstDash val="solid"/>
          </a:ln>
        </p:spPr>
        <p:txBody>
          <a:bodyPr/>
          <a:p/>
        </p:txBody>
      </p:sp>
      <p:sp>
        <p:nvSpPr>
          <p:cNvPr id="10" name="Text 8"/>
          <p:cNvSpPr/>
          <p:nvPr/>
        </p:nvSpPr>
        <p:spPr>
          <a:xfrm>
            <a:off x="822960" y="1988820"/>
            <a:ext cx="1088136" cy="146304"/>
          </a:xfrm>
          <a:prstGeom prst="rect">
            <a:avLst/>
          </a:prstGeom>
          <a:noFill/>
        </p:spPr>
        <p:txBody>
          <a:bodyPr wrap="square" lIns="0" tIns="0" rIns="0" bIns="0" rtlCol="0" anchor="ctr">
            <a:normAutofit/>
          </a:bodyPr>
          <a:lstStyle/>
          <a:p>
            <a:pPr marL="0" indent="0" algn="ctr">
              <a:buNone/>
            </a:pPr>
            <a:r>
              <a:rPr lang="en-US" sz="850" b="1" dirty="0">
                <a:solidFill>
                  <a:srgbClr val="0E7490"/>
                </a:solidFill>
                <a:latin typeface="Aptos" pitchFamily="34" charset="0"/>
                <a:ea typeface="Aptos" pitchFamily="34" charset="-122"/>
                <a:cs typeface="Aptos" pitchFamily="34" charset="-120"/>
              </a:rPr>
              <a:t>WORKING</a:t>
            </a:r>
            <a:endParaRPr lang="en-US" sz="850" dirty="0"/>
          </a:p>
        </p:txBody>
      </p:sp>
      <p:sp>
        <p:nvSpPr>
          <p:cNvPr id="11" name="Text 9"/>
          <p:cNvSpPr/>
          <p:nvPr/>
        </p:nvSpPr>
        <p:spPr>
          <a:xfrm>
            <a:off x="749808" y="2423160"/>
            <a:ext cx="2926080" cy="292608"/>
          </a:xfrm>
          <a:prstGeom prst="rect">
            <a:avLst/>
          </a:prstGeom>
          <a:noFill/>
        </p:spPr>
        <p:txBody>
          <a:bodyPr wrap="square" lIns="0" tIns="0" rIns="0" bIns="0" rtlCol="0" anchor="ctr">
            <a:normAutofit/>
          </a:bodyPr>
          <a:lstStyle/>
          <a:p>
            <a:pPr marL="0" indent="0">
              <a:buNone/>
            </a:pPr>
            <a:r>
              <a:rPr lang="en-US" sz="1600" b="1" dirty="0">
                <a:solidFill>
                  <a:srgbClr val="0F172A"/>
                </a:solidFill>
                <a:latin typeface="Aptos Display" pitchFamily="34" charset="0"/>
                <a:ea typeface="Aptos Display" pitchFamily="34" charset="-122"/>
                <a:cs typeface="Aptos Display" pitchFamily="34" charset="-120"/>
              </a:rPr>
              <a:t>Instrumentation</a:t>
            </a:r>
            <a:endParaRPr lang="en-US" sz="1600" dirty="0"/>
          </a:p>
        </p:txBody>
      </p:sp>
      <p:sp>
        <p:nvSpPr>
          <p:cNvPr id="12" name="Shape 10"/>
          <p:cNvSpPr/>
          <p:nvPr/>
        </p:nvSpPr>
        <p:spPr>
          <a:xfrm>
            <a:off x="749808" y="3118104"/>
            <a:ext cx="68580" cy="68580"/>
          </a:xfrm>
          <a:prstGeom prst="ellipse">
            <a:avLst/>
          </a:prstGeom>
          <a:solidFill>
            <a:srgbClr val="56E0FF"/>
          </a:solidFill>
          <a:ln w="12700">
            <a:solidFill>
              <a:srgbClr val="0E7490"/>
            </a:solidFill>
            <a:prstDash val="solid"/>
          </a:ln>
        </p:spPr>
        <p:txBody>
          <a:bodyPr/>
          <a:p/>
        </p:txBody>
      </p:sp>
      <p:sp>
        <p:nvSpPr>
          <p:cNvPr id="13" name="Text 11"/>
          <p:cNvSpPr/>
          <p:nvPr/>
        </p:nvSpPr>
        <p:spPr>
          <a:xfrm>
            <a:off x="896112" y="3017520"/>
            <a:ext cx="2688336" cy="384048"/>
          </a:xfrm>
          <a:prstGeom prst="rect">
            <a:avLst/>
          </a:prstGeom>
          <a:noFill/>
        </p:spPr>
        <p:txBody>
          <a:bodyPr wrap="square" lIns="0" tIns="0" rIns="0" bIns="0" rtlCol="0" anchor="ctr">
            <a:normAutofit/>
          </a:bodyPr>
          <a:lstStyle/>
          <a:p>
            <a:pPr marL="0" indent="0">
              <a:buNone/>
            </a:pPr>
            <a:r>
              <a:rPr lang="en-US" sz="1050" dirty="0">
                <a:solidFill>
                  <a:srgbClr val="334155"/>
                </a:solidFill>
                <a:latin typeface="Aptos" pitchFamily="34" charset="0"/>
                <a:ea typeface="Aptos" pitchFamily="34" charset="-122"/>
                <a:cs typeface="Aptos" pitchFamily="34" charset="-120"/>
              </a:rPr>
              <a:t>Integrated into real FGSM + PGD.</a:t>
            </a:r>
            <a:endParaRPr lang="en-US" sz="1050" dirty="0"/>
          </a:p>
        </p:txBody>
      </p:sp>
      <p:sp>
        <p:nvSpPr>
          <p:cNvPr id="14" name="Shape 12"/>
          <p:cNvSpPr/>
          <p:nvPr/>
        </p:nvSpPr>
        <p:spPr>
          <a:xfrm>
            <a:off x="749808" y="3685032"/>
            <a:ext cx="68580" cy="68580"/>
          </a:xfrm>
          <a:prstGeom prst="ellipse">
            <a:avLst/>
          </a:prstGeom>
          <a:solidFill>
            <a:srgbClr val="56E0FF"/>
          </a:solidFill>
          <a:ln w="12700">
            <a:solidFill>
              <a:srgbClr val="0E7490"/>
            </a:solidFill>
            <a:prstDash val="solid"/>
          </a:ln>
        </p:spPr>
        <p:txBody>
          <a:bodyPr/>
          <a:p/>
        </p:txBody>
      </p:sp>
      <p:sp>
        <p:nvSpPr>
          <p:cNvPr id="15" name="Text 13"/>
          <p:cNvSpPr/>
          <p:nvPr/>
        </p:nvSpPr>
        <p:spPr>
          <a:xfrm>
            <a:off x="896112" y="3584448"/>
            <a:ext cx="2688336" cy="384048"/>
          </a:xfrm>
          <a:prstGeom prst="rect">
            <a:avLst/>
          </a:prstGeom>
          <a:noFill/>
        </p:spPr>
        <p:txBody>
          <a:bodyPr wrap="square" lIns="0" tIns="0" rIns="0" bIns="0" rtlCol="0" anchor="ctr">
            <a:normAutofit/>
          </a:bodyPr>
          <a:lstStyle/>
          <a:p>
            <a:pPr marL="0" indent="0">
              <a:buNone/>
            </a:pPr>
            <a:r>
              <a:rPr lang="en-US" sz="1050" dirty="0">
                <a:solidFill>
                  <a:srgbClr val="334155"/>
                </a:solidFill>
                <a:latin typeface="Aptos" pitchFamily="34" charset="0"/>
                <a:ea typeface="Aptos" pitchFamily="34" charset="-122"/>
                <a:cs typeface="Aptos" pitchFamily="34" charset="-120"/>
              </a:rPr>
              <a:t>Writes JSONL security events.</a:t>
            </a:r>
            <a:endParaRPr lang="en-US" sz="1050" dirty="0"/>
          </a:p>
        </p:txBody>
      </p:sp>
      <p:sp>
        <p:nvSpPr>
          <p:cNvPr id="16" name="Shape 14"/>
          <p:cNvSpPr/>
          <p:nvPr/>
        </p:nvSpPr>
        <p:spPr>
          <a:xfrm>
            <a:off x="749808" y="4251960"/>
            <a:ext cx="68580" cy="68580"/>
          </a:xfrm>
          <a:prstGeom prst="ellipse">
            <a:avLst/>
          </a:prstGeom>
          <a:solidFill>
            <a:srgbClr val="56E0FF"/>
          </a:solidFill>
          <a:ln w="12700">
            <a:solidFill>
              <a:srgbClr val="0E7490"/>
            </a:solidFill>
            <a:prstDash val="solid"/>
          </a:ln>
        </p:spPr>
        <p:txBody>
          <a:bodyPr/>
          <a:p/>
        </p:txBody>
      </p:sp>
      <p:sp>
        <p:nvSpPr>
          <p:cNvPr id="17" name="Text 15"/>
          <p:cNvSpPr/>
          <p:nvPr/>
        </p:nvSpPr>
        <p:spPr>
          <a:xfrm>
            <a:off x="896112" y="4151376"/>
            <a:ext cx="2688336" cy="384048"/>
          </a:xfrm>
          <a:prstGeom prst="rect">
            <a:avLst/>
          </a:prstGeom>
          <a:noFill/>
        </p:spPr>
        <p:txBody>
          <a:bodyPr wrap="square" lIns="0" tIns="0" rIns="0" bIns="0" rtlCol="0" anchor="ctr">
            <a:normAutofit/>
          </a:bodyPr>
          <a:lstStyle/>
          <a:p>
            <a:pPr marL="0" indent="0">
              <a:buNone/>
            </a:pPr>
            <a:r>
              <a:rPr lang="en-US" sz="1050" dirty="0">
                <a:solidFill>
                  <a:srgbClr val="334155"/>
                </a:solidFill>
                <a:latin typeface="Aptos" pitchFamily="34" charset="0"/>
                <a:ea typeface="Aptos" pitchFamily="34" charset="-122"/>
                <a:cs typeface="Aptos" pitchFamily="34" charset="-120"/>
              </a:rPr>
              <a:t>No raw image pixels in events.</a:t>
            </a:r>
            <a:endParaRPr lang="en-US" sz="1050" dirty="0"/>
          </a:p>
        </p:txBody>
      </p:sp>
      <p:sp>
        <p:nvSpPr>
          <p:cNvPr id="18" name="Shape 16"/>
          <p:cNvSpPr/>
          <p:nvPr/>
        </p:nvSpPr>
        <p:spPr>
          <a:xfrm>
            <a:off x="749808" y="5166360"/>
            <a:ext cx="2944368" cy="0"/>
          </a:xfrm>
          <a:prstGeom prst="line">
            <a:avLst/>
          </a:prstGeom>
          <a:noFill/>
          <a:ln w="10160">
            <a:solidFill>
              <a:srgbClr val="E2E8F0"/>
            </a:solidFill>
            <a:prstDash val="solid"/>
          </a:ln>
        </p:spPr>
        <p:txBody>
          <a:bodyPr/>
          <a:p/>
        </p:txBody>
      </p:sp>
      <p:sp>
        <p:nvSpPr>
          <p:cNvPr id="19" name="Text 17"/>
          <p:cNvSpPr/>
          <p:nvPr/>
        </p:nvSpPr>
        <p:spPr>
          <a:xfrm>
            <a:off x="749808" y="5358384"/>
            <a:ext cx="2907792" cy="384048"/>
          </a:xfrm>
          <a:prstGeom prst="rect">
            <a:avLst/>
          </a:prstGeom>
          <a:noFill/>
        </p:spPr>
        <p:txBody>
          <a:bodyPr wrap="square" lIns="0" tIns="0" rIns="0" bIns="0" rtlCol="0" anchor="ctr">
            <a:normAutofit/>
          </a:bodyPr>
          <a:lstStyle/>
          <a:p>
            <a:pPr marL="0" indent="0">
              <a:buNone/>
            </a:pPr>
            <a:r>
              <a:rPr lang="en-US" sz="850" dirty="0">
                <a:solidFill>
                  <a:srgbClr val="64748B"/>
                </a:solidFill>
                <a:latin typeface="Consolas" panose="020B0609020204030204" pitchFamily="34" charset="0"/>
                <a:ea typeface="Consolas" panose="020B0609020204030204" pitchFamily="34" charset="-122"/>
                <a:cs typeface="Consolas" panose="020B0609020204030204" pitchFamily="34" charset="-120"/>
              </a:rPr>
              <a:t>security/instrumentation.py</a:t>
            </a:r>
            <a:endParaRPr lang="en-US" sz="850" dirty="0"/>
          </a:p>
        </p:txBody>
      </p:sp>
      <p:sp>
        <p:nvSpPr>
          <p:cNvPr id="20" name="Shape 18"/>
          <p:cNvSpPr/>
          <p:nvPr/>
        </p:nvSpPr>
        <p:spPr>
          <a:xfrm>
            <a:off x="4187952" y="1664208"/>
            <a:ext cx="3429000" cy="4498848"/>
          </a:xfrm>
          <a:prstGeom prst="roundRect">
            <a:avLst>
              <a:gd name="adj" fmla="val 2133"/>
            </a:avLst>
          </a:prstGeom>
          <a:solidFill>
            <a:srgbClr val="F8FAFC"/>
          </a:solidFill>
          <a:ln w="12700">
            <a:solidFill>
              <a:srgbClr val="E2E8F0">
                <a:alpha val="90000"/>
              </a:srgbClr>
            </a:solidFill>
            <a:prstDash val="solid"/>
          </a:ln>
        </p:spPr>
        <p:txBody>
          <a:bodyPr/>
          <a:p/>
        </p:txBody>
      </p:sp>
      <p:sp>
        <p:nvSpPr>
          <p:cNvPr id="21" name="Shape 19"/>
          <p:cNvSpPr/>
          <p:nvPr/>
        </p:nvSpPr>
        <p:spPr>
          <a:xfrm>
            <a:off x="4407408" y="1938528"/>
            <a:ext cx="1234440" cy="292608"/>
          </a:xfrm>
          <a:prstGeom prst="roundRect">
            <a:avLst>
              <a:gd name="adj" fmla="val 25000"/>
            </a:avLst>
          </a:prstGeom>
          <a:solidFill>
            <a:srgbClr val="FFC857">
              <a:alpha val="14000"/>
            </a:srgbClr>
          </a:solidFill>
          <a:ln w="12700">
            <a:solidFill>
              <a:srgbClr val="A16207">
                <a:alpha val="0"/>
              </a:srgbClr>
            </a:solidFill>
            <a:prstDash val="solid"/>
          </a:ln>
        </p:spPr>
        <p:txBody>
          <a:bodyPr/>
          <a:p/>
        </p:txBody>
      </p:sp>
      <p:sp>
        <p:nvSpPr>
          <p:cNvPr id="22" name="Text 20"/>
          <p:cNvSpPr/>
          <p:nvPr/>
        </p:nvSpPr>
        <p:spPr>
          <a:xfrm>
            <a:off x="4480560" y="1988820"/>
            <a:ext cx="1088136" cy="146304"/>
          </a:xfrm>
          <a:prstGeom prst="rect">
            <a:avLst/>
          </a:prstGeom>
          <a:noFill/>
        </p:spPr>
        <p:txBody>
          <a:bodyPr wrap="square" lIns="0" tIns="0" rIns="0" bIns="0" rtlCol="0" anchor="ctr">
            <a:normAutofit/>
          </a:bodyPr>
          <a:lstStyle/>
          <a:p>
            <a:pPr marL="0" indent="0" algn="ctr">
              <a:buNone/>
            </a:pPr>
            <a:r>
              <a:rPr lang="en-US" sz="850" b="1" dirty="0">
                <a:solidFill>
                  <a:srgbClr val="A16207"/>
                </a:solidFill>
                <a:latin typeface="Aptos" pitchFamily="34" charset="0"/>
                <a:ea typeface="Aptos" pitchFamily="34" charset="-122"/>
                <a:cs typeface="Aptos" pitchFamily="34" charset="-120"/>
              </a:rPr>
              <a:t>DEMONSTRATED</a:t>
            </a:r>
            <a:endParaRPr lang="en-US" sz="850" dirty="0"/>
          </a:p>
        </p:txBody>
      </p:sp>
      <p:sp>
        <p:nvSpPr>
          <p:cNvPr id="23" name="Text 21"/>
          <p:cNvSpPr/>
          <p:nvPr/>
        </p:nvSpPr>
        <p:spPr>
          <a:xfrm>
            <a:off x="4407408" y="2423160"/>
            <a:ext cx="2926080" cy="292608"/>
          </a:xfrm>
          <a:prstGeom prst="rect">
            <a:avLst/>
          </a:prstGeom>
          <a:noFill/>
        </p:spPr>
        <p:txBody>
          <a:bodyPr wrap="square" lIns="0" tIns="0" rIns="0" bIns="0" rtlCol="0" anchor="ctr">
            <a:normAutofit/>
          </a:bodyPr>
          <a:lstStyle/>
          <a:p>
            <a:pPr marL="0" indent="0">
              <a:buNone/>
            </a:pPr>
            <a:r>
              <a:rPr lang="en-US" sz="1600" b="1" dirty="0">
                <a:solidFill>
                  <a:srgbClr val="0F172A"/>
                </a:solidFill>
                <a:latin typeface="Aptos Display" pitchFamily="34" charset="0"/>
                <a:ea typeface="Aptos Display" pitchFamily="34" charset="-122"/>
                <a:cs typeface="Aptos Display" pitchFamily="34" charset="-120"/>
              </a:rPr>
              <a:t>Backdoor / poisoning</a:t>
            </a:r>
            <a:endParaRPr lang="en-US" sz="1600" dirty="0"/>
          </a:p>
        </p:txBody>
      </p:sp>
      <p:sp>
        <p:nvSpPr>
          <p:cNvPr id="24" name="Shape 22"/>
          <p:cNvSpPr/>
          <p:nvPr/>
        </p:nvSpPr>
        <p:spPr>
          <a:xfrm>
            <a:off x="4407408" y="3118104"/>
            <a:ext cx="68580" cy="68580"/>
          </a:xfrm>
          <a:prstGeom prst="ellipse">
            <a:avLst/>
          </a:prstGeom>
          <a:solidFill>
            <a:srgbClr val="FFC857"/>
          </a:solidFill>
          <a:ln w="12700">
            <a:solidFill>
              <a:srgbClr val="A16207"/>
            </a:solidFill>
            <a:prstDash val="solid"/>
          </a:ln>
        </p:spPr>
        <p:txBody>
          <a:bodyPr/>
          <a:p/>
        </p:txBody>
      </p:sp>
      <p:sp>
        <p:nvSpPr>
          <p:cNvPr id="25" name="Text 23"/>
          <p:cNvSpPr/>
          <p:nvPr/>
        </p:nvSpPr>
        <p:spPr>
          <a:xfrm>
            <a:off x="4553712" y="3017520"/>
            <a:ext cx="2688336" cy="384048"/>
          </a:xfrm>
          <a:prstGeom prst="rect">
            <a:avLst/>
          </a:prstGeom>
          <a:noFill/>
        </p:spPr>
        <p:txBody>
          <a:bodyPr wrap="square" lIns="0" tIns="0" rIns="0" bIns="0" rtlCol="0" anchor="ctr">
            <a:normAutofit/>
          </a:bodyPr>
          <a:lstStyle/>
          <a:p>
            <a:pPr marL="0" indent="0">
              <a:buNone/>
            </a:pPr>
            <a:r>
              <a:rPr lang="en-US" sz="1050" dirty="0">
                <a:solidFill>
                  <a:srgbClr val="334155"/>
                </a:solidFill>
                <a:latin typeface="Aptos" pitchFamily="34" charset="0"/>
                <a:ea typeface="Aptos" pitchFamily="34" charset="-122"/>
                <a:cs typeface="Aptos" pitchFamily="34" charset="-120"/>
              </a:rPr>
              <a:t>Separate experimental model.</a:t>
            </a:r>
            <a:endParaRPr lang="en-US" sz="1050" dirty="0"/>
          </a:p>
        </p:txBody>
      </p:sp>
      <p:sp>
        <p:nvSpPr>
          <p:cNvPr id="26" name="Shape 24"/>
          <p:cNvSpPr/>
          <p:nvPr/>
        </p:nvSpPr>
        <p:spPr>
          <a:xfrm>
            <a:off x="4407408" y="3685032"/>
            <a:ext cx="68580" cy="68580"/>
          </a:xfrm>
          <a:prstGeom prst="ellipse">
            <a:avLst/>
          </a:prstGeom>
          <a:solidFill>
            <a:srgbClr val="FFC857"/>
          </a:solidFill>
          <a:ln w="12700">
            <a:solidFill>
              <a:srgbClr val="A16207"/>
            </a:solidFill>
            <a:prstDash val="solid"/>
          </a:ln>
        </p:spPr>
        <p:txBody>
          <a:bodyPr/>
          <a:p/>
        </p:txBody>
      </p:sp>
      <p:sp>
        <p:nvSpPr>
          <p:cNvPr id="27" name="Text 25"/>
          <p:cNvSpPr/>
          <p:nvPr/>
        </p:nvSpPr>
        <p:spPr>
          <a:xfrm>
            <a:off x="4553712" y="3584448"/>
            <a:ext cx="2688336" cy="384048"/>
          </a:xfrm>
          <a:prstGeom prst="rect">
            <a:avLst/>
          </a:prstGeom>
          <a:noFill/>
        </p:spPr>
        <p:txBody>
          <a:bodyPr wrap="square" lIns="0" tIns="0" rIns="0" bIns="0" rtlCol="0" anchor="ctr">
            <a:normAutofit/>
          </a:bodyPr>
          <a:lstStyle/>
          <a:p>
            <a:pPr marL="0" indent="0">
              <a:buNone/>
            </a:pPr>
            <a:r>
              <a:rPr lang="en-US" sz="1050" dirty="0">
                <a:solidFill>
                  <a:srgbClr val="334155"/>
                </a:solidFill>
                <a:latin typeface="Aptos" pitchFamily="34" charset="0"/>
                <a:ea typeface="Aptos" pitchFamily="34" charset="-122"/>
                <a:cs typeface="Aptos" pitchFamily="34" charset="-120"/>
              </a:rPr>
              <a:t>5,000 clean + 550 poisoned.</a:t>
            </a:r>
            <a:endParaRPr lang="en-US" sz="1050" dirty="0"/>
          </a:p>
        </p:txBody>
      </p:sp>
      <p:sp>
        <p:nvSpPr>
          <p:cNvPr id="28" name="Shape 26"/>
          <p:cNvSpPr/>
          <p:nvPr/>
        </p:nvSpPr>
        <p:spPr>
          <a:xfrm>
            <a:off x="4407408" y="4251960"/>
            <a:ext cx="68580" cy="68580"/>
          </a:xfrm>
          <a:prstGeom prst="ellipse">
            <a:avLst/>
          </a:prstGeom>
          <a:solidFill>
            <a:srgbClr val="FFC857"/>
          </a:solidFill>
          <a:ln w="12700">
            <a:solidFill>
              <a:srgbClr val="A16207"/>
            </a:solidFill>
            <a:prstDash val="solid"/>
          </a:ln>
        </p:spPr>
        <p:txBody>
          <a:bodyPr/>
          <a:p/>
        </p:txBody>
      </p:sp>
      <p:sp>
        <p:nvSpPr>
          <p:cNvPr id="29" name="Text 27"/>
          <p:cNvSpPr/>
          <p:nvPr/>
        </p:nvSpPr>
        <p:spPr>
          <a:xfrm>
            <a:off x="4553712" y="4151376"/>
            <a:ext cx="2688336" cy="384048"/>
          </a:xfrm>
          <a:prstGeom prst="rect">
            <a:avLst/>
          </a:prstGeom>
          <a:noFill/>
        </p:spPr>
        <p:txBody>
          <a:bodyPr wrap="square" lIns="0" tIns="0" rIns="0" bIns="0" rtlCol="0" anchor="ctr">
            <a:normAutofit/>
          </a:bodyPr>
          <a:lstStyle/>
          <a:p>
            <a:pPr marL="0" indent="0">
              <a:buNone/>
            </a:pPr>
            <a:r>
              <a:rPr lang="en-US" sz="1050" dirty="0">
                <a:solidFill>
                  <a:srgbClr val="334155"/>
                </a:solidFill>
                <a:latin typeface="Aptos" pitchFamily="34" charset="0"/>
                <a:ea typeface="Aptos" pitchFamily="34" charset="-122"/>
                <a:cs typeface="Aptos" pitchFamily="34" charset="-120"/>
              </a:rPr>
              <a:t>Clean 7 → 7; triggered 7 → 3.</a:t>
            </a:r>
            <a:endParaRPr lang="en-US" sz="1050" dirty="0"/>
          </a:p>
        </p:txBody>
      </p:sp>
      <p:sp>
        <p:nvSpPr>
          <p:cNvPr id="30" name="Shape 28"/>
          <p:cNvSpPr/>
          <p:nvPr/>
        </p:nvSpPr>
        <p:spPr>
          <a:xfrm>
            <a:off x="4407408" y="5166360"/>
            <a:ext cx="2944368" cy="0"/>
          </a:xfrm>
          <a:prstGeom prst="line">
            <a:avLst/>
          </a:prstGeom>
          <a:noFill/>
          <a:ln w="10160">
            <a:solidFill>
              <a:srgbClr val="E2E8F0"/>
            </a:solidFill>
            <a:prstDash val="solid"/>
          </a:ln>
        </p:spPr>
        <p:txBody>
          <a:bodyPr/>
          <a:p/>
        </p:txBody>
      </p:sp>
      <p:sp>
        <p:nvSpPr>
          <p:cNvPr id="31" name="Text 29"/>
          <p:cNvSpPr/>
          <p:nvPr/>
        </p:nvSpPr>
        <p:spPr>
          <a:xfrm>
            <a:off x="4407408" y="5358384"/>
            <a:ext cx="2907792" cy="384048"/>
          </a:xfrm>
          <a:prstGeom prst="rect">
            <a:avLst/>
          </a:prstGeom>
          <a:noFill/>
        </p:spPr>
        <p:txBody>
          <a:bodyPr wrap="square" lIns="0" tIns="0" rIns="0" bIns="0" rtlCol="0" anchor="ctr">
            <a:normAutofit/>
          </a:bodyPr>
          <a:lstStyle/>
          <a:p>
            <a:pPr marL="0" indent="0">
              <a:buNone/>
            </a:pPr>
            <a:r>
              <a:rPr lang="en-US" sz="850" dirty="0">
                <a:solidFill>
                  <a:srgbClr val="64748B"/>
                </a:solidFill>
                <a:latin typeface="Consolas" panose="020B0609020204030204" pitchFamily="34" charset="0"/>
                <a:ea typeface="Consolas" panose="020B0609020204030204" pitchFamily="34" charset="-122"/>
                <a:cs typeface="Consolas" panose="020B0609020204030204" pitchFamily="34" charset="-120"/>
              </a:rPr>
              <a:t>experiments/backdoor/</a:t>
            </a:r>
            <a:endParaRPr lang="en-US" sz="850" dirty="0"/>
          </a:p>
        </p:txBody>
      </p:sp>
      <p:sp>
        <p:nvSpPr>
          <p:cNvPr id="32" name="Shape 30"/>
          <p:cNvSpPr/>
          <p:nvPr/>
        </p:nvSpPr>
        <p:spPr>
          <a:xfrm>
            <a:off x="7845552" y="1664208"/>
            <a:ext cx="3429000" cy="4498848"/>
          </a:xfrm>
          <a:prstGeom prst="roundRect">
            <a:avLst>
              <a:gd name="adj" fmla="val 2133"/>
            </a:avLst>
          </a:prstGeom>
          <a:solidFill>
            <a:srgbClr val="F8FAFC"/>
          </a:solidFill>
          <a:ln w="12700">
            <a:solidFill>
              <a:srgbClr val="E2E8F0">
                <a:alpha val="90000"/>
              </a:srgbClr>
            </a:solidFill>
            <a:prstDash val="solid"/>
          </a:ln>
        </p:spPr>
        <p:txBody>
          <a:bodyPr/>
          <a:p/>
        </p:txBody>
      </p:sp>
      <p:sp>
        <p:nvSpPr>
          <p:cNvPr id="33" name="Shape 31"/>
          <p:cNvSpPr/>
          <p:nvPr/>
        </p:nvSpPr>
        <p:spPr>
          <a:xfrm>
            <a:off x="8065008" y="1938528"/>
            <a:ext cx="1234440" cy="292608"/>
          </a:xfrm>
          <a:prstGeom prst="roundRect">
            <a:avLst>
              <a:gd name="adj" fmla="val 25000"/>
            </a:avLst>
          </a:prstGeom>
          <a:solidFill>
            <a:srgbClr val="8A7CFF">
              <a:alpha val="14000"/>
            </a:srgbClr>
          </a:solidFill>
          <a:ln w="12700">
            <a:solidFill>
              <a:srgbClr val="6D28D9">
                <a:alpha val="0"/>
              </a:srgbClr>
            </a:solidFill>
            <a:prstDash val="solid"/>
          </a:ln>
        </p:spPr>
        <p:txBody>
          <a:bodyPr/>
          <a:p/>
        </p:txBody>
      </p:sp>
      <p:sp>
        <p:nvSpPr>
          <p:cNvPr id="34" name="Text 32"/>
          <p:cNvSpPr/>
          <p:nvPr/>
        </p:nvSpPr>
        <p:spPr>
          <a:xfrm>
            <a:off x="8138160" y="1988820"/>
            <a:ext cx="1088136" cy="146304"/>
          </a:xfrm>
          <a:prstGeom prst="rect">
            <a:avLst/>
          </a:prstGeom>
          <a:noFill/>
        </p:spPr>
        <p:txBody>
          <a:bodyPr wrap="square" lIns="0" tIns="0" rIns="0" bIns="0" rtlCol="0" anchor="ctr">
            <a:normAutofit/>
          </a:bodyPr>
          <a:lstStyle/>
          <a:p>
            <a:pPr marL="0" indent="0" algn="ctr">
              <a:buNone/>
            </a:pPr>
            <a:r>
              <a:rPr lang="en-US" sz="850" b="1" dirty="0">
                <a:solidFill>
                  <a:srgbClr val="6D28D9"/>
                </a:solidFill>
                <a:latin typeface="Aptos" pitchFamily="34" charset="0"/>
                <a:ea typeface="Aptos" pitchFamily="34" charset="-122"/>
                <a:cs typeface="Aptos" pitchFamily="34" charset="-120"/>
              </a:rPr>
              <a:t>WEAK SIGNAL</a:t>
            </a:r>
            <a:endParaRPr lang="en-US" sz="850" dirty="0"/>
          </a:p>
        </p:txBody>
      </p:sp>
      <p:sp>
        <p:nvSpPr>
          <p:cNvPr id="35" name="Text 33"/>
          <p:cNvSpPr/>
          <p:nvPr/>
        </p:nvSpPr>
        <p:spPr>
          <a:xfrm>
            <a:off x="8065008" y="2423160"/>
            <a:ext cx="2926080" cy="292608"/>
          </a:xfrm>
          <a:prstGeom prst="rect">
            <a:avLst/>
          </a:prstGeom>
          <a:noFill/>
        </p:spPr>
        <p:txBody>
          <a:bodyPr wrap="square" lIns="0" tIns="0" rIns="0" bIns="0" rtlCol="0" anchor="ctr">
            <a:normAutofit/>
          </a:bodyPr>
          <a:lstStyle/>
          <a:p>
            <a:pPr marL="0" indent="0">
              <a:buNone/>
            </a:pPr>
            <a:r>
              <a:rPr lang="en-US" sz="1600" b="1" dirty="0">
                <a:solidFill>
                  <a:srgbClr val="0F172A"/>
                </a:solidFill>
                <a:latin typeface="Aptos Display" pitchFamily="34" charset="0"/>
                <a:ea typeface="Aptos Display" pitchFamily="34" charset="-122"/>
                <a:cs typeface="Aptos Display" pitchFamily="34" charset="-120"/>
              </a:rPr>
              <a:t>Membership inference</a:t>
            </a:r>
            <a:endParaRPr lang="en-US" sz="1600" dirty="0"/>
          </a:p>
        </p:txBody>
      </p:sp>
      <p:sp>
        <p:nvSpPr>
          <p:cNvPr id="36" name="Shape 34"/>
          <p:cNvSpPr/>
          <p:nvPr/>
        </p:nvSpPr>
        <p:spPr>
          <a:xfrm>
            <a:off x="8065008" y="3118104"/>
            <a:ext cx="68580" cy="68580"/>
          </a:xfrm>
          <a:prstGeom prst="ellipse">
            <a:avLst/>
          </a:prstGeom>
          <a:solidFill>
            <a:srgbClr val="8A7CFF"/>
          </a:solidFill>
          <a:ln w="12700">
            <a:solidFill>
              <a:srgbClr val="6D28D9"/>
            </a:solidFill>
            <a:prstDash val="solid"/>
          </a:ln>
        </p:spPr>
        <p:txBody>
          <a:bodyPr/>
          <a:p/>
        </p:txBody>
      </p:sp>
      <p:sp>
        <p:nvSpPr>
          <p:cNvPr id="37" name="Text 35"/>
          <p:cNvSpPr/>
          <p:nvPr/>
        </p:nvSpPr>
        <p:spPr>
          <a:xfrm>
            <a:off x="8211312" y="3017520"/>
            <a:ext cx="2688336" cy="384048"/>
          </a:xfrm>
          <a:prstGeom prst="rect">
            <a:avLst/>
          </a:prstGeom>
          <a:noFill/>
        </p:spPr>
        <p:txBody>
          <a:bodyPr wrap="square" lIns="0" tIns="0" rIns="0" bIns="0" rtlCol="0" anchor="ctr">
            <a:normAutofit/>
          </a:bodyPr>
          <a:lstStyle/>
          <a:p>
            <a:pPr marL="0" indent="0">
              <a:buNone/>
            </a:pPr>
            <a:r>
              <a:rPr lang="en-US" sz="1050" dirty="0">
                <a:solidFill>
                  <a:srgbClr val="334155"/>
                </a:solidFill>
                <a:latin typeface="Aptos" pitchFamily="34" charset="0"/>
                <a:ea typeface="Aptos" pitchFamily="34" charset="-122"/>
                <a:cs typeface="Aptos" pitchFamily="34" charset="-120"/>
              </a:rPr>
              <a:t>500 members vs 500 non-members.</a:t>
            </a:r>
            <a:endParaRPr lang="en-US" sz="1050" dirty="0"/>
          </a:p>
        </p:txBody>
      </p:sp>
      <p:sp>
        <p:nvSpPr>
          <p:cNvPr id="38" name="Shape 36"/>
          <p:cNvSpPr/>
          <p:nvPr/>
        </p:nvSpPr>
        <p:spPr>
          <a:xfrm>
            <a:off x="8065008" y="3685032"/>
            <a:ext cx="68580" cy="68580"/>
          </a:xfrm>
          <a:prstGeom prst="ellipse">
            <a:avLst/>
          </a:prstGeom>
          <a:solidFill>
            <a:srgbClr val="8A7CFF"/>
          </a:solidFill>
          <a:ln w="12700">
            <a:solidFill>
              <a:srgbClr val="6D28D9"/>
            </a:solidFill>
            <a:prstDash val="solid"/>
          </a:ln>
        </p:spPr>
        <p:txBody>
          <a:bodyPr/>
          <a:p/>
        </p:txBody>
      </p:sp>
      <p:sp>
        <p:nvSpPr>
          <p:cNvPr id="39" name="Text 37"/>
          <p:cNvSpPr/>
          <p:nvPr/>
        </p:nvSpPr>
        <p:spPr>
          <a:xfrm>
            <a:off x="8211312" y="3584448"/>
            <a:ext cx="2688336" cy="384048"/>
          </a:xfrm>
          <a:prstGeom prst="rect">
            <a:avLst/>
          </a:prstGeom>
          <a:noFill/>
        </p:spPr>
        <p:txBody>
          <a:bodyPr wrap="square" lIns="0" tIns="0" rIns="0" bIns="0" rtlCol="0" anchor="ctr">
            <a:normAutofit/>
          </a:bodyPr>
          <a:lstStyle/>
          <a:p>
            <a:pPr marL="0" indent="0">
              <a:buNone/>
            </a:pPr>
            <a:r>
              <a:rPr lang="en-US" sz="1050" dirty="0">
                <a:solidFill>
                  <a:srgbClr val="334155"/>
                </a:solidFill>
                <a:latin typeface="Aptos" pitchFamily="34" charset="0"/>
                <a:ea typeface="Aptos" pitchFamily="34" charset="-122"/>
                <a:cs typeface="Aptos" pitchFamily="34" charset="-120"/>
              </a:rPr>
              <a:t>Confidence/loss comparison.</a:t>
            </a:r>
            <a:endParaRPr lang="en-US" sz="1050" dirty="0"/>
          </a:p>
        </p:txBody>
      </p:sp>
      <p:sp>
        <p:nvSpPr>
          <p:cNvPr id="40" name="Shape 38"/>
          <p:cNvSpPr/>
          <p:nvPr/>
        </p:nvSpPr>
        <p:spPr>
          <a:xfrm>
            <a:off x="8065008" y="4251960"/>
            <a:ext cx="68580" cy="68580"/>
          </a:xfrm>
          <a:prstGeom prst="ellipse">
            <a:avLst/>
          </a:prstGeom>
          <a:solidFill>
            <a:srgbClr val="8A7CFF"/>
          </a:solidFill>
          <a:ln w="12700">
            <a:solidFill>
              <a:srgbClr val="6D28D9"/>
            </a:solidFill>
            <a:prstDash val="solid"/>
          </a:ln>
        </p:spPr>
        <p:txBody>
          <a:bodyPr/>
          <a:p/>
        </p:txBody>
      </p:sp>
      <p:sp>
        <p:nvSpPr>
          <p:cNvPr id="41" name="Text 39"/>
          <p:cNvSpPr/>
          <p:nvPr/>
        </p:nvSpPr>
        <p:spPr>
          <a:xfrm>
            <a:off x="8211312" y="4151376"/>
            <a:ext cx="2688336" cy="384048"/>
          </a:xfrm>
          <a:prstGeom prst="rect">
            <a:avLst/>
          </a:prstGeom>
          <a:noFill/>
        </p:spPr>
        <p:txBody>
          <a:bodyPr wrap="square" lIns="0" tIns="0" rIns="0" bIns="0" rtlCol="0" anchor="ctr">
            <a:normAutofit/>
          </a:bodyPr>
          <a:lstStyle/>
          <a:p>
            <a:pPr marL="0" indent="0">
              <a:buNone/>
            </a:pPr>
            <a:r>
              <a:rPr lang="en-US" sz="1050" dirty="0">
                <a:solidFill>
                  <a:srgbClr val="334155"/>
                </a:solidFill>
                <a:latin typeface="Aptos" pitchFamily="34" charset="0"/>
                <a:ea typeface="Aptos" pitchFamily="34" charset="-122"/>
                <a:cs typeface="Aptos" pitchFamily="34" charset="-120"/>
              </a:rPr>
              <a:t>Threshold accuracy: 52.30%.</a:t>
            </a:r>
            <a:endParaRPr lang="en-US" sz="1050" dirty="0"/>
          </a:p>
        </p:txBody>
      </p:sp>
      <p:sp>
        <p:nvSpPr>
          <p:cNvPr id="42" name="Shape 40"/>
          <p:cNvSpPr/>
          <p:nvPr/>
        </p:nvSpPr>
        <p:spPr>
          <a:xfrm>
            <a:off x="8065008" y="5166360"/>
            <a:ext cx="2944368" cy="0"/>
          </a:xfrm>
          <a:prstGeom prst="line">
            <a:avLst/>
          </a:prstGeom>
          <a:noFill/>
          <a:ln w="10160">
            <a:solidFill>
              <a:srgbClr val="E2E8F0"/>
            </a:solidFill>
            <a:prstDash val="solid"/>
          </a:ln>
        </p:spPr>
        <p:txBody>
          <a:bodyPr/>
          <a:p/>
        </p:txBody>
      </p:sp>
      <p:sp>
        <p:nvSpPr>
          <p:cNvPr id="43" name="Text 41"/>
          <p:cNvSpPr/>
          <p:nvPr/>
        </p:nvSpPr>
        <p:spPr>
          <a:xfrm>
            <a:off x="8065008" y="5358384"/>
            <a:ext cx="2907792" cy="384048"/>
          </a:xfrm>
          <a:prstGeom prst="rect">
            <a:avLst/>
          </a:prstGeom>
          <a:noFill/>
        </p:spPr>
        <p:txBody>
          <a:bodyPr wrap="square" lIns="0" tIns="0" rIns="0" bIns="0" rtlCol="0" anchor="ctr">
            <a:normAutofit/>
          </a:bodyPr>
          <a:lstStyle/>
          <a:p>
            <a:pPr marL="0" indent="0">
              <a:buNone/>
            </a:pPr>
            <a:r>
              <a:rPr lang="en-US" sz="850" dirty="0">
                <a:solidFill>
                  <a:srgbClr val="64748B"/>
                </a:solidFill>
                <a:latin typeface="Consolas" panose="020B0609020204030204" pitchFamily="34" charset="0"/>
                <a:ea typeface="Consolas" panose="020B0609020204030204" pitchFamily="34" charset="-122"/>
                <a:cs typeface="Consolas" panose="020B0609020204030204" pitchFamily="34" charset="-120"/>
              </a:rPr>
              <a:t>experiments/membership_inference/</a:t>
            </a:r>
            <a:endParaRPr lang="en-US" sz="850" dirty="0"/>
          </a:p>
        </p:txBody>
      </p:sp>
      <p:sp>
        <p:nvSpPr>
          <p:cNvPr id="44" name="Text 42"/>
          <p:cNvSpPr/>
          <p:nvPr/>
        </p:nvSpPr>
        <p:spPr>
          <a:xfrm>
            <a:off x="749808" y="6327648"/>
            <a:ext cx="10607040" cy="201168"/>
          </a:xfrm>
          <a:prstGeom prst="rect">
            <a:avLst/>
          </a:prstGeom>
          <a:noFill/>
        </p:spPr>
        <p:txBody>
          <a:bodyPr wrap="square" lIns="0" tIns="0" rIns="0" bIns="0" rtlCol="0" anchor="ctr"/>
          <a:lstStyle/>
          <a:p>
            <a:pPr marL="0" indent="0" algn="ctr">
              <a:buNone/>
            </a:pPr>
            <a:r>
              <a:rPr lang="en-US" sz="970" dirty="0">
                <a:solidFill>
                  <a:srgbClr val="64748B"/>
                </a:solidFill>
                <a:latin typeface="Aptos" pitchFamily="34" charset="0"/>
                <a:ea typeface="Aptos" pitchFamily="34" charset="-122"/>
                <a:cs typeface="Aptos" pitchFamily="34" charset="-120"/>
              </a:rPr>
              <a:t>Important: membership inference was an illustrative attempt, not a strong successful attack.</a:t>
            </a:r>
            <a:endParaRPr lang="en-US" sz="970" dirty="0"/>
          </a:p>
        </p:txBody>
      </p:sp>
      <p:sp>
        <p:nvSpPr>
          <p:cNvPr id="45" name="Text 43"/>
          <p:cNvSpPr/>
          <p:nvPr/>
        </p:nvSpPr>
        <p:spPr>
          <a:xfrm>
            <a:off x="11109960" y="6556248"/>
            <a:ext cx="457200" cy="164592"/>
          </a:xfrm>
          <a:prstGeom prst="rect">
            <a:avLst/>
          </a:prstGeom>
          <a:noFill/>
        </p:spPr>
        <p:txBody>
          <a:bodyPr wrap="square" lIns="0" tIns="0" rIns="0" bIns="0" rtlCol="0" anchor="ctr"/>
          <a:lstStyle/>
          <a:p>
            <a:pPr marL="0" indent="0" algn="r">
              <a:buNone/>
            </a:pPr>
            <a:r>
              <a:rPr lang="en-US" sz="800" dirty="0">
                <a:solidFill>
                  <a:srgbClr val="64748B"/>
                </a:solidFill>
                <a:latin typeface="Aptos" pitchFamily="34" charset="0"/>
                <a:ea typeface="Aptos" pitchFamily="34" charset="-122"/>
                <a:cs typeface="Aptos"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320040"/>
            <a:ext cx="11365992" cy="0"/>
          </a:xfrm>
          <a:prstGeom prst="line">
            <a:avLst/>
          </a:prstGeom>
          <a:noFill/>
          <a:ln w="12700">
            <a:solidFill>
              <a:srgbClr val="E2E8F0"/>
            </a:solidFill>
            <a:prstDash val="solid"/>
          </a:ln>
        </p:spPr>
        <p:txBody>
          <a:bodyPr/>
          <a:p/>
        </p:txBody>
      </p:sp>
      <p:sp>
        <p:nvSpPr>
          <p:cNvPr id="3" name="Shape 1"/>
          <p:cNvSpPr/>
          <p:nvPr/>
        </p:nvSpPr>
        <p:spPr>
          <a:xfrm>
            <a:off x="411480" y="6492240"/>
            <a:ext cx="11365992" cy="0"/>
          </a:xfrm>
          <a:prstGeom prst="line">
            <a:avLst/>
          </a:prstGeom>
          <a:noFill/>
          <a:ln w="12700">
            <a:solidFill>
              <a:srgbClr val="E2E8F0"/>
            </a:solidFill>
            <a:prstDash val="solid"/>
          </a:ln>
        </p:spPr>
        <p:txBody>
          <a:bodyPr/>
          <a:p/>
        </p:txBody>
      </p:sp>
      <p:sp>
        <p:nvSpPr>
          <p:cNvPr id="4" name="Shape 2"/>
          <p:cNvSpPr/>
          <p:nvPr/>
        </p:nvSpPr>
        <p:spPr>
          <a:xfrm rot="1080000">
            <a:off x="10744200" y="-640080"/>
            <a:ext cx="1920240" cy="1920240"/>
          </a:xfrm>
          <a:prstGeom prst="arc">
            <a:avLst/>
          </a:prstGeom>
          <a:solidFill>
            <a:srgbClr val="FFFFFF">
              <a:alpha val="0"/>
            </a:srgbClr>
          </a:solidFill>
          <a:ln w="12700">
            <a:solidFill>
              <a:srgbClr val="E2E8F0">
                <a:alpha val="55000"/>
              </a:srgbClr>
            </a:solidFill>
            <a:prstDash val="solid"/>
          </a:ln>
        </p:spPr>
        <p:txBody>
          <a:bodyPr/>
          <a:p/>
        </p:txBody>
      </p:sp>
      <p:sp>
        <p:nvSpPr>
          <p:cNvPr id="5" name="Text 3"/>
          <p:cNvSpPr/>
          <p:nvPr/>
        </p:nvSpPr>
        <p:spPr>
          <a:xfrm>
            <a:off x="502920" y="73152"/>
            <a:ext cx="3840480" cy="182880"/>
          </a:xfrm>
          <a:prstGeom prst="rect">
            <a:avLst/>
          </a:prstGeom>
          <a:noFill/>
        </p:spPr>
        <p:txBody>
          <a:bodyPr wrap="square" lIns="0" tIns="0" rIns="0" bIns="0" rtlCol="0" anchor="ctr"/>
          <a:lstStyle/>
          <a:p>
            <a:pPr marL="0" indent="0">
              <a:buNone/>
            </a:pPr>
            <a:r>
              <a:rPr lang="en-US" sz="900" b="1" kern="0" spc="140" dirty="0">
                <a:solidFill>
                  <a:srgbClr val="0E7490"/>
                </a:solidFill>
                <a:latin typeface="Aptos" pitchFamily="34" charset="0"/>
                <a:ea typeface="Aptos" pitchFamily="34" charset="-122"/>
                <a:cs typeface="Aptos" pitchFamily="34" charset="-120"/>
              </a:rPr>
              <a:t>FRAMEWORKS</a:t>
            </a:r>
            <a:endParaRPr lang="en-US" sz="900" dirty="0"/>
          </a:p>
        </p:txBody>
      </p:sp>
      <p:sp>
        <p:nvSpPr>
          <p:cNvPr id="6" name="Text 4"/>
          <p:cNvSpPr/>
          <p:nvPr/>
        </p:nvSpPr>
        <p:spPr>
          <a:xfrm>
            <a:off x="502920" y="530352"/>
            <a:ext cx="10561320" cy="502920"/>
          </a:xfrm>
          <a:prstGeom prst="rect">
            <a:avLst/>
          </a:prstGeom>
          <a:noFill/>
        </p:spPr>
        <p:txBody>
          <a:bodyPr wrap="square" lIns="0" tIns="0" rIns="0" bIns="0" rtlCol="0" anchor="ctr">
            <a:normAutofit/>
          </a:bodyP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14 • Framework Mapping</a:t>
            </a:r>
            <a:endParaRPr lang="en-US" sz="2500" dirty="0"/>
          </a:p>
        </p:txBody>
      </p:sp>
      <p:sp>
        <p:nvSpPr>
          <p:cNvPr id="7" name="Text 5"/>
          <p:cNvSpPr/>
          <p:nvPr/>
        </p:nvSpPr>
        <p:spPr>
          <a:xfrm>
            <a:off x="530352" y="1060704"/>
            <a:ext cx="10332720" cy="347472"/>
          </a:xfrm>
          <a:prstGeom prst="rect">
            <a:avLst/>
          </a:prstGeom>
          <a:noFill/>
        </p:spPr>
        <p:txBody>
          <a:bodyPr wrap="square" lIns="0" tIns="0" rIns="0" bIns="0" rtlCol="0" anchor="ctr">
            <a:normAutofit/>
          </a:bodyPr>
          <a:lstStyle/>
          <a:p>
            <a:pPr marL="0" indent="0">
              <a:buNone/>
            </a:pPr>
            <a:r>
              <a:rPr lang="en-US" sz="1150" dirty="0">
                <a:solidFill>
                  <a:srgbClr val="64748B"/>
                </a:solidFill>
                <a:latin typeface="Aptos" pitchFamily="34" charset="0"/>
                <a:ea typeface="Aptos" pitchFamily="34" charset="-122"/>
                <a:cs typeface="Aptos" pitchFamily="34" charset="-120"/>
              </a:rPr>
              <a:t>The technical findings were mapped to MITRE ATLAS and NIST AI RMF.</a:t>
            </a:r>
            <a:endParaRPr lang="en-US" sz="1150" dirty="0"/>
          </a:p>
        </p:txBody>
      </p:sp>
      <p:sp>
        <p:nvSpPr>
          <p:cNvPr id="8" name="Shape 6"/>
          <p:cNvSpPr/>
          <p:nvPr/>
        </p:nvSpPr>
        <p:spPr>
          <a:xfrm>
            <a:off x="530352" y="1609344"/>
            <a:ext cx="5486400" cy="4553712"/>
          </a:xfrm>
          <a:prstGeom prst="roundRect">
            <a:avLst>
              <a:gd name="adj" fmla="val 1606"/>
            </a:avLst>
          </a:prstGeom>
          <a:solidFill>
            <a:srgbClr val="F8FAFC"/>
          </a:solidFill>
          <a:ln w="12700">
            <a:solidFill>
              <a:srgbClr val="E2E8F0">
                <a:alpha val="90000"/>
              </a:srgbClr>
            </a:solidFill>
            <a:prstDash val="solid"/>
          </a:ln>
        </p:spPr>
        <p:txBody>
          <a:bodyPr/>
          <a:p/>
        </p:txBody>
      </p:sp>
      <p:sp>
        <p:nvSpPr>
          <p:cNvPr id="9" name="Shape 7"/>
          <p:cNvSpPr/>
          <p:nvPr/>
        </p:nvSpPr>
        <p:spPr>
          <a:xfrm>
            <a:off x="768096" y="1865376"/>
            <a:ext cx="45720" cy="274320"/>
          </a:xfrm>
          <a:prstGeom prst="rect">
            <a:avLst/>
          </a:prstGeom>
          <a:solidFill>
            <a:srgbClr val="8A7CFF"/>
          </a:solidFill>
          <a:ln w="12700">
            <a:solidFill>
              <a:srgbClr val="6D28D9"/>
            </a:solidFill>
            <a:prstDash val="solid"/>
          </a:ln>
        </p:spPr>
        <p:txBody>
          <a:bodyPr/>
          <a:p/>
        </p:txBody>
      </p:sp>
      <p:sp>
        <p:nvSpPr>
          <p:cNvPr id="10" name="Text 8"/>
          <p:cNvSpPr/>
          <p:nvPr/>
        </p:nvSpPr>
        <p:spPr>
          <a:xfrm>
            <a:off x="896112" y="1860804"/>
            <a:ext cx="4855464" cy="274320"/>
          </a:xfrm>
          <a:prstGeom prst="rect">
            <a:avLst/>
          </a:prstGeom>
          <a:noFill/>
        </p:spPr>
        <p:txBody>
          <a:bodyPr wrap="square" lIns="0" tIns="0" rIns="0" bIns="0" rtlCol="0" anchor="ctr">
            <a:normAutofit/>
          </a:bodyPr>
          <a:lstStyle/>
          <a:p>
            <a:pPr marL="0" indent="0">
              <a:buNone/>
            </a:pPr>
            <a:r>
              <a:rPr lang="en-US" sz="1250" b="1" dirty="0">
                <a:solidFill>
                  <a:srgbClr val="0F172A"/>
                </a:solidFill>
                <a:latin typeface="Aptos" pitchFamily="34" charset="0"/>
                <a:ea typeface="Aptos" pitchFamily="34" charset="-122"/>
                <a:cs typeface="Aptos" pitchFamily="34" charset="-120"/>
              </a:rPr>
              <a:t>MITRE ATLAS</a:t>
            </a:r>
            <a:endParaRPr lang="en-US" sz="1250" dirty="0"/>
          </a:p>
        </p:txBody>
      </p:sp>
      <p:sp>
        <p:nvSpPr>
          <p:cNvPr id="11" name="Text 9"/>
          <p:cNvSpPr/>
          <p:nvPr/>
        </p:nvSpPr>
        <p:spPr>
          <a:xfrm>
            <a:off x="768096" y="2267712"/>
            <a:ext cx="1508760" cy="201168"/>
          </a:xfrm>
          <a:prstGeom prst="rect">
            <a:avLst/>
          </a:prstGeom>
          <a:noFill/>
        </p:spPr>
        <p:txBody>
          <a:bodyPr wrap="square" lIns="0" tIns="0" rIns="0" bIns="0" rtlCol="0" anchor="ctr">
            <a:normAutofit/>
          </a:bodyPr>
          <a:lstStyle/>
          <a:p>
            <a:pPr marL="0" indent="0">
              <a:buNone/>
            </a:pPr>
            <a:r>
              <a:rPr lang="en-US" sz="950" b="1" dirty="0">
                <a:solidFill>
                  <a:srgbClr val="0E7490"/>
                </a:solidFill>
                <a:latin typeface="Consolas" panose="020B0609020204030204" pitchFamily="34" charset="0"/>
                <a:ea typeface="Consolas" panose="020B0609020204030204" pitchFamily="34" charset="-122"/>
                <a:cs typeface="Consolas" panose="020B0609020204030204" pitchFamily="34" charset="-120"/>
              </a:rPr>
              <a:t>AML.T0043</a:t>
            </a:r>
            <a:endParaRPr lang="en-US" sz="950" dirty="0"/>
          </a:p>
        </p:txBody>
      </p:sp>
      <p:sp>
        <p:nvSpPr>
          <p:cNvPr id="12" name="Text 10"/>
          <p:cNvSpPr/>
          <p:nvPr/>
        </p:nvSpPr>
        <p:spPr>
          <a:xfrm>
            <a:off x="2331720" y="2267712"/>
            <a:ext cx="3364992" cy="201168"/>
          </a:xfrm>
          <a:prstGeom prst="rect">
            <a:avLst/>
          </a:prstGeom>
          <a:noFill/>
        </p:spPr>
        <p:txBody>
          <a:bodyPr wrap="square" lIns="0" tIns="0" rIns="0" bIns="0" rtlCol="0" anchor="ctr">
            <a:normAutofit/>
          </a:bodyPr>
          <a:lstStyle/>
          <a:p>
            <a:pPr marL="0" indent="0">
              <a:buNone/>
            </a:pPr>
            <a:r>
              <a:rPr lang="en-US" sz="980" dirty="0">
                <a:solidFill>
                  <a:srgbClr val="334155"/>
                </a:solidFill>
                <a:latin typeface="Aptos" pitchFamily="34" charset="0"/>
                <a:ea typeface="Aptos" pitchFamily="34" charset="-122"/>
                <a:cs typeface="Aptos" pitchFamily="34" charset="-120"/>
              </a:rPr>
              <a:t>Craft Adversarial Data</a:t>
            </a:r>
            <a:endParaRPr lang="en-US" sz="980" dirty="0"/>
          </a:p>
        </p:txBody>
      </p:sp>
      <p:sp>
        <p:nvSpPr>
          <p:cNvPr id="13" name="Text 11"/>
          <p:cNvSpPr/>
          <p:nvPr/>
        </p:nvSpPr>
        <p:spPr>
          <a:xfrm>
            <a:off x="768096" y="2798064"/>
            <a:ext cx="1508760" cy="201168"/>
          </a:xfrm>
          <a:prstGeom prst="rect">
            <a:avLst/>
          </a:prstGeom>
          <a:noFill/>
        </p:spPr>
        <p:txBody>
          <a:bodyPr wrap="square" lIns="0" tIns="0" rIns="0" bIns="0" rtlCol="0" anchor="ctr">
            <a:normAutofit/>
          </a:bodyPr>
          <a:lstStyle/>
          <a:p>
            <a:pPr marL="0" indent="0">
              <a:buNone/>
            </a:pPr>
            <a:r>
              <a:rPr lang="en-US" sz="950" b="1" dirty="0">
                <a:solidFill>
                  <a:srgbClr val="0E7490"/>
                </a:solidFill>
                <a:latin typeface="Consolas" panose="020B0609020204030204" pitchFamily="34" charset="0"/>
                <a:ea typeface="Consolas" panose="020B0609020204030204" pitchFamily="34" charset="-122"/>
                <a:cs typeface="Consolas" panose="020B0609020204030204" pitchFamily="34" charset="-120"/>
              </a:rPr>
              <a:t>AML.T0043.000</a:t>
            </a:r>
            <a:endParaRPr lang="en-US" sz="950" dirty="0"/>
          </a:p>
        </p:txBody>
      </p:sp>
      <p:sp>
        <p:nvSpPr>
          <p:cNvPr id="14" name="Text 12"/>
          <p:cNvSpPr/>
          <p:nvPr/>
        </p:nvSpPr>
        <p:spPr>
          <a:xfrm>
            <a:off x="2331720" y="2798064"/>
            <a:ext cx="3364992" cy="201168"/>
          </a:xfrm>
          <a:prstGeom prst="rect">
            <a:avLst/>
          </a:prstGeom>
          <a:noFill/>
        </p:spPr>
        <p:txBody>
          <a:bodyPr wrap="square" lIns="0" tIns="0" rIns="0" bIns="0" rtlCol="0" anchor="ctr">
            <a:normAutofit/>
          </a:bodyPr>
          <a:lstStyle/>
          <a:p>
            <a:pPr marL="0" indent="0">
              <a:buNone/>
            </a:pPr>
            <a:r>
              <a:rPr lang="en-US" sz="980" dirty="0">
                <a:solidFill>
                  <a:srgbClr val="334155"/>
                </a:solidFill>
                <a:latin typeface="Aptos" pitchFamily="34" charset="0"/>
                <a:ea typeface="Aptos" pitchFamily="34" charset="-122"/>
                <a:cs typeface="Aptos" pitchFamily="34" charset="-120"/>
              </a:rPr>
              <a:t>White-Box Optimization</a:t>
            </a:r>
            <a:endParaRPr lang="en-US" sz="980" dirty="0"/>
          </a:p>
        </p:txBody>
      </p:sp>
      <p:sp>
        <p:nvSpPr>
          <p:cNvPr id="15" name="Text 13"/>
          <p:cNvSpPr/>
          <p:nvPr/>
        </p:nvSpPr>
        <p:spPr>
          <a:xfrm>
            <a:off x="768096" y="3328416"/>
            <a:ext cx="1508760" cy="201168"/>
          </a:xfrm>
          <a:prstGeom prst="rect">
            <a:avLst/>
          </a:prstGeom>
          <a:noFill/>
        </p:spPr>
        <p:txBody>
          <a:bodyPr wrap="square" lIns="0" tIns="0" rIns="0" bIns="0" rtlCol="0" anchor="ctr">
            <a:normAutofit/>
          </a:bodyPr>
          <a:lstStyle/>
          <a:p>
            <a:pPr marL="0" indent="0">
              <a:buNone/>
            </a:pPr>
            <a:r>
              <a:rPr lang="en-US" sz="950" b="1" dirty="0">
                <a:solidFill>
                  <a:srgbClr val="0E7490"/>
                </a:solidFill>
                <a:latin typeface="Consolas" panose="020B0609020204030204" pitchFamily="34" charset="0"/>
                <a:ea typeface="Consolas" panose="020B0609020204030204" pitchFamily="34" charset="-122"/>
                <a:cs typeface="Consolas" panose="020B0609020204030204" pitchFamily="34" charset="-120"/>
              </a:rPr>
              <a:t>AML.T0015</a:t>
            </a:r>
            <a:endParaRPr lang="en-US" sz="950" dirty="0"/>
          </a:p>
        </p:txBody>
      </p:sp>
      <p:sp>
        <p:nvSpPr>
          <p:cNvPr id="16" name="Text 14"/>
          <p:cNvSpPr/>
          <p:nvPr/>
        </p:nvSpPr>
        <p:spPr>
          <a:xfrm>
            <a:off x="2331720" y="3328416"/>
            <a:ext cx="3364992" cy="201168"/>
          </a:xfrm>
          <a:prstGeom prst="rect">
            <a:avLst/>
          </a:prstGeom>
          <a:noFill/>
        </p:spPr>
        <p:txBody>
          <a:bodyPr wrap="square" lIns="0" tIns="0" rIns="0" bIns="0" rtlCol="0" anchor="ctr">
            <a:normAutofit/>
          </a:bodyPr>
          <a:lstStyle/>
          <a:p>
            <a:pPr marL="0" indent="0">
              <a:buNone/>
            </a:pPr>
            <a:r>
              <a:rPr lang="en-US" sz="980" dirty="0">
                <a:solidFill>
                  <a:srgbClr val="334155"/>
                </a:solidFill>
                <a:latin typeface="Aptos" pitchFamily="34" charset="0"/>
                <a:ea typeface="Aptos" pitchFamily="34" charset="-122"/>
                <a:cs typeface="Aptos" pitchFamily="34" charset="-120"/>
              </a:rPr>
              <a:t>Evade AI Model</a:t>
            </a:r>
            <a:endParaRPr lang="en-US" sz="980" dirty="0"/>
          </a:p>
        </p:txBody>
      </p:sp>
      <p:sp>
        <p:nvSpPr>
          <p:cNvPr id="17" name="Text 15"/>
          <p:cNvSpPr/>
          <p:nvPr/>
        </p:nvSpPr>
        <p:spPr>
          <a:xfrm>
            <a:off x="768096" y="3858768"/>
            <a:ext cx="1508760" cy="201168"/>
          </a:xfrm>
          <a:prstGeom prst="rect">
            <a:avLst/>
          </a:prstGeom>
          <a:noFill/>
        </p:spPr>
        <p:txBody>
          <a:bodyPr wrap="square" lIns="0" tIns="0" rIns="0" bIns="0" rtlCol="0" anchor="ctr">
            <a:normAutofit/>
          </a:bodyPr>
          <a:lstStyle/>
          <a:p>
            <a:pPr marL="0" indent="0">
              <a:buNone/>
            </a:pPr>
            <a:r>
              <a:rPr lang="en-US" sz="950" b="1" dirty="0">
                <a:solidFill>
                  <a:srgbClr val="0E7490"/>
                </a:solidFill>
                <a:latin typeface="Consolas" panose="020B0609020204030204" pitchFamily="34" charset="0"/>
                <a:ea typeface="Consolas" panose="020B0609020204030204" pitchFamily="34" charset="-122"/>
                <a:cs typeface="Consolas" panose="020B0609020204030204" pitchFamily="34" charset="-120"/>
              </a:rPr>
              <a:t>AML.T0042</a:t>
            </a:r>
            <a:endParaRPr lang="en-US" sz="950" dirty="0"/>
          </a:p>
        </p:txBody>
      </p:sp>
      <p:sp>
        <p:nvSpPr>
          <p:cNvPr id="18" name="Text 16"/>
          <p:cNvSpPr/>
          <p:nvPr/>
        </p:nvSpPr>
        <p:spPr>
          <a:xfrm>
            <a:off x="2331720" y="3858768"/>
            <a:ext cx="3364992" cy="201168"/>
          </a:xfrm>
          <a:prstGeom prst="rect">
            <a:avLst/>
          </a:prstGeom>
          <a:noFill/>
        </p:spPr>
        <p:txBody>
          <a:bodyPr wrap="square" lIns="0" tIns="0" rIns="0" bIns="0" rtlCol="0" anchor="ctr">
            <a:normAutofit/>
          </a:bodyPr>
          <a:lstStyle/>
          <a:p>
            <a:pPr marL="0" indent="0">
              <a:buNone/>
            </a:pPr>
            <a:r>
              <a:rPr lang="en-US" sz="980" dirty="0">
                <a:solidFill>
                  <a:srgbClr val="334155"/>
                </a:solidFill>
                <a:latin typeface="Aptos" pitchFamily="34" charset="0"/>
                <a:ea typeface="Aptos" pitchFamily="34" charset="-122"/>
                <a:cs typeface="Aptos" pitchFamily="34" charset="-120"/>
              </a:rPr>
              <a:t>Verify Attack</a:t>
            </a:r>
            <a:endParaRPr lang="en-US" sz="980" dirty="0"/>
          </a:p>
        </p:txBody>
      </p:sp>
      <p:sp>
        <p:nvSpPr>
          <p:cNvPr id="19" name="Text 17"/>
          <p:cNvSpPr/>
          <p:nvPr/>
        </p:nvSpPr>
        <p:spPr>
          <a:xfrm>
            <a:off x="768096" y="4389120"/>
            <a:ext cx="1508760" cy="201168"/>
          </a:xfrm>
          <a:prstGeom prst="rect">
            <a:avLst/>
          </a:prstGeom>
          <a:noFill/>
        </p:spPr>
        <p:txBody>
          <a:bodyPr wrap="square" lIns="0" tIns="0" rIns="0" bIns="0" rtlCol="0" anchor="ctr">
            <a:normAutofit/>
          </a:bodyPr>
          <a:lstStyle/>
          <a:p>
            <a:pPr marL="0" indent="0">
              <a:buNone/>
            </a:pPr>
            <a:r>
              <a:rPr lang="en-US" sz="950" b="1" dirty="0">
                <a:solidFill>
                  <a:srgbClr val="0E7490"/>
                </a:solidFill>
                <a:latin typeface="Consolas" panose="020B0609020204030204" pitchFamily="34" charset="0"/>
                <a:ea typeface="Consolas" panose="020B0609020204030204" pitchFamily="34" charset="-122"/>
                <a:cs typeface="Consolas" panose="020B0609020204030204" pitchFamily="34" charset="-120"/>
              </a:rPr>
              <a:t>AML.T0040</a:t>
            </a:r>
            <a:endParaRPr lang="en-US" sz="950" dirty="0"/>
          </a:p>
        </p:txBody>
      </p:sp>
      <p:sp>
        <p:nvSpPr>
          <p:cNvPr id="20" name="Text 18"/>
          <p:cNvSpPr/>
          <p:nvPr/>
        </p:nvSpPr>
        <p:spPr>
          <a:xfrm>
            <a:off x="2331720" y="4389120"/>
            <a:ext cx="3364992" cy="201168"/>
          </a:xfrm>
          <a:prstGeom prst="rect">
            <a:avLst/>
          </a:prstGeom>
          <a:noFill/>
        </p:spPr>
        <p:txBody>
          <a:bodyPr wrap="square" lIns="0" tIns="0" rIns="0" bIns="0" rtlCol="0" anchor="ctr">
            <a:normAutofit/>
          </a:bodyPr>
          <a:lstStyle/>
          <a:p>
            <a:pPr marL="0" indent="0">
              <a:buNone/>
            </a:pPr>
            <a:r>
              <a:rPr lang="en-US" sz="980" dirty="0">
                <a:solidFill>
                  <a:srgbClr val="334155"/>
                </a:solidFill>
                <a:latin typeface="Aptos" pitchFamily="34" charset="0"/>
                <a:ea typeface="Aptos" pitchFamily="34" charset="-122"/>
                <a:cs typeface="Aptos" pitchFamily="34" charset="-120"/>
              </a:rPr>
              <a:t>AI Model Inference API Access</a:t>
            </a:r>
            <a:endParaRPr lang="en-US" sz="980" dirty="0"/>
          </a:p>
        </p:txBody>
      </p:sp>
      <p:sp>
        <p:nvSpPr>
          <p:cNvPr id="21" name="Text 19"/>
          <p:cNvSpPr/>
          <p:nvPr/>
        </p:nvSpPr>
        <p:spPr>
          <a:xfrm>
            <a:off x="768096" y="4919472"/>
            <a:ext cx="1508760" cy="201168"/>
          </a:xfrm>
          <a:prstGeom prst="rect">
            <a:avLst/>
          </a:prstGeom>
          <a:noFill/>
        </p:spPr>
        <p:txBody>
          <a:bodyPr wrap="square" lIns="0" tIns="0" rIns="0" bIns="0" rtlCol="0" anchor="ctr">
            <a:normAutofit/>
          </a:bodyPr>
          <a:lstStyle/>
          <a:p>
            <a:pPr marL="0" indent="0">
              <a:buNone/>
            </a:pPr>
            <a:r>
              <a:rPr lang="en-US" sz="950" b="1" dirty="0">
                <a:solidFill>
                  <a:srgbClr val="0E7490"/>
                </a:solidFill>
                <a:latin typeface="Consolas" panose="020B0609020204030204" pitchFamily="34" charset="0"/>
                <a:ea typeface="Consolas" panose="020B0609020204030204" pitchFamily="34" charset="-122"/>
                <a:cs typeface="Consolas" panose="020B0609020204030204" pitchFamily="34" charset="-120"/>
              </a:rPr>
              <a:t>AML.T0043.004</a:t>
            </a:r>
            <a:endParaRPr lang="en-US" sz="950" dirty="0"/>
          </a:p>
        </p:txBody>
      </p:sp>
      <p:sp>
        <p:nvSpPr>
          <p:cNvPr id="22" name="Text 20"/>
          <p:cNvSpPr/>
          <p:nvPr/>
        </p:nvSpPr>
        <p:spPr>
          <a:xfrm>
            <a:off x="2331720" y="4919472"/>
            <a:ext cx="3364992" cy="201168"/>
          </a:xfrm>
          <a:prstGeom prst="rect">
            <a:avLst/>
          </a:prstGeom>
          <a:noFill/>
        </p:spPr>
        <p:txBody>
          <a:bodyPr wrap="square" lIns="0" tIns="0" rIns="0" bIns="0" rtlCol="0" anchor="ctr">
            <a:normAutofit/>
          </a:bodyPr>
          <a:lstStyle/>
          <a:p>
            <a:pPr marL="0" indent="0">
              <a:buNone/>
            </a:pPr>
            <a:r>
              <a:rPr lang="en-US" sz="980" dirty="0">
                <a:solidFill>
                  <a:srgbClr val="334155"/>
                </a:solidFill>
                <a:latin typeface="Aptos" pitchFamily="34" charset="0"/>
                <a:ea typeface="Aptos" pitchFamily="34" charset="-122"/>
                <a:cs typeface="Aptos" pitchFamily="34" charset="-120"/>
              </a:rPr>
              <a:t>Insert Backdoor Trigger — bonus</a:t>
            </a:r>
            <a:endParaRPr lang="en-US" sz="980" dirty="0"/>
          </a:p>
        </p:txBody>
      </p:sp>
      <p:sp>
        <p:nvSpPr>
          <p:cNvPr id="23" name="Shape 21"/>
          <p:cNvSpPr/>
          <p:nvPr/>
        </p:nvSpPr>
        <p:spPr>
          <a:xfrm>
            <a:off x="6291072" y="1609344"/>
            <a:ext cx="5367528" cy="4553712"/>
          </a:xfrm>
          <a:prstGeom prst="roundRect">
            <a:avLst>
              <a:gd name="adj" fmla="val 1606"/>
            </a:avLst>
          </a:prstGeom>
          <a:solidFill>
            <a:srgbClr val="F1F5F9"/>
          </a:solidFill>
          <a:ln w="12700">
            <a:solidFill>
              <a:srgbClr val="E2E8F0">
                <a:alpha val="90000"/>
              </a:srgbClr>
            </a:solidFill>
            <a:prstDash val="solid"/>
          </a:ln>
        </p:spPr>
        <p:txBody>
          <a:bodyPr/>
          <a:p/>
        </p:txBody>
      </p:sp>
      <p:sp>
        <p:nvSpPr>
          <p:cNvPr id="24" name="Shape 22"/>
          <p:cNvSpPr/>
          <p:nvPr/>
        </p:nvSpPr>
        <p:spPr>
          <a:xfrm>
            <a:off x="6528816" y="1865376"/>
            <a:ext cx="45720" cy="274320"/>
          </a:xfrm>
          <a:prstGeom prst="rect">
            <a:avLst/>
          </a:prstGeom>
          <a:solidFill>
            <a:srgbClr val="59D68C"/>
          </a:solidFill>
          <a:ln w="12700">
            <a:solidFill>
              <a:srgbClr val="15803D"/>
            </a:solidFill>
            <a:prstDash val="solid"/>
          </a:ln>
        </p:spPr>
        <p:txBody>
          <a:bodyPr/>
          <a:p/>
        </p:txBody>
      </p:sp>
      <p:sp>
        <p:nvSpPr>
          <p:cNvPr id="25" name="Text 23"/>
          <p:cNvSpPr/>
          <p:nvPr/>
        </p:nvSpPr>
        <p:spPr>
          <a:xfrm>
            <a:off x="6656832" y="1860804"/>
            <a:ext cx="4718304" cy="274320"/>
          </a:xfrm>
          <a:prstGeom prst="rect">
            <a:avLst/>
          </a:prstGeom>
          <a:noFill/>
        </p:spPr>
        <p:txBody>
          <a:bodyPr wrap="square" lIns="0" tIns="0" rIns="0" bIns="0" rtlCol="0" anchor="ctr">
            <a:normAutofit/>
          </a:bodyPr>
          <a:lstStyle/>
          <a:p>
            <a:pPr marL="0" indent="0">
              <a:buNone/>
            </a:pPr>
            <a:r>
              <a:rPr lang="en-US" sz="1250" b="1" dirty="0">
                <a:solidFill>
                  <a:srgbClr val="0F172A"/>
                </a:solidFill>
                <a:latin typeface="Aptos" pitchFamily="34" charset="0"/>
                <a:ea typeface="Aptos" pitchFamily="34" charset="-122"/>
                <a:cs typeface="Aptos" pitchFamily="34" charset="-120"/>
              </a:rPr>
              <a:t>NIST AI RMF</a:t>
            </a:r>
            <a:endParaRPr lang="en-US" sz="1250" dirty="0"/>
          </a:p>
        </p:txBody>
      </p:sp>
      <p:sp>
        <p:nvSpPr>
          <p:cNvPr id="26" name="Text 24"/>
          <p:cNvSpPr/>
          <p:nvPr/>
        </p:nvSpPr>
        <p:spPr>
          <a:xfrm>
            <a:off x="6528816" y="2395728"/>
            <a:ext cx="1143000" cy="219456"/>
          </a:xfrm>
          <a:prstGeom prst="rect">
            <a:avLst/>
          </a:prstGeom>
          <a:noFill/>
        </p:spPr>
        <p:txBody>
          <a:bodyPr wrap="square" lIns="0" tIns="0" rIns="0" bIns="0" rtlCol="0" anchor="ctr"/>
          <a:lstStyle/>
          <a:p>
            <a:pPr marL="0" indent="0">
              <a:buNone/>
            </a:pPr>
            <a:r>
              <a:rPr lang="en-US" sz="1400" b="1" dirty="0">
                <a:solidFill>
                  <a:srgbClr val="15803D"/>
                </a:solidFill>
                <a:latin typeface="Aptos Display" pitchFamily="34" charset="0"/>
                <a:ea typeface="Aptos Display" pitchFamily="34" charset="-122"/>
                <a:cs typeface="Aptos Display" pitchFamily="34" charset="-120"/>
              </a:rPr>
              <a:t>GOVERN</a:t>
            </a:r>
            <a:endParaRPr lang="en-US" sz="1400" dirty="0"/>
          </a:p>
        </p:txBody>
      </p:sp>
      <p:sp>
        <p:nvSpPr>
          <p:cNvPr id="27" name="Text 25"/>
          <p:cNvSpPr/>
          <p:nvPr/>
        </p:nvSpPr>
        <p:spPr>
          <a:xfrm>
            <a:off x="7754112" y="2395728"/>
            <a:ext cx="3429000" cy="310896"/>
          </a:xfrm>
          <a:prstGeom prst="rect">
            <a:avLst/>
          </a:prstGeom>
          <a:noFill/>
        </p:spPr>
        <p:txBody>
          <a:bodyPr wrap="square" lIns="0" tIns="0" rIns="0" bIns="0" rtlCol="0" anchor="ctr">
            <a:normAutofit/>
          </a:bodyPr>
          <a:lstStyle/>
          <a:p>
            <a:pPr marL="0" indent="0">
              <a:buNone/>
            </a:pPr>
            <a:r>
              <a:rPr lang="en-US" sz="980" dirty="0">
                <a:solidFill>
                  <a:srgbClr val="334155"/>
                </a:solidFill>
                <a:latin typeface="Aptos" pitchFamily="34" charset="0"/>
                <a:ea typeface="Aptos" pitchFamily="34" charset="-122"/>
                <a:cs typeface="Aptos" pitchFamily="34" charset="-120"/>
              </a:rPr>
              <a:t>Scope, ownership, documentation</a:t>
            </a:r>
            <a:endParaRPr lang="en-US" sz="980" dirty="0"/>
          </a:p>
        </p:txBody>
      </p:sp>
      <p:sp>
        <p:nvSpPr>
          <p:cNvPr id="28" name="Text 26"/>
          <p:cNvSpPr/>
          <p:nvPr/>
        </p:nvSpPr>
        <p:spPr>
          <a:xfrm>
            <a:off x="6528816" y="3163824"/>
            <a:ext cx="1143000" cy="219456"/>
          </a:xfrm>
          <a:prstGeom prst="rect">
            <a:avLst/>
          </a:prstGeom>
          <a:noFill/>
        </p:spPr>
        <p:txBody>
          <a:bodyPr wrap="square" lIns="0" tIns="0" rIns="0" bIns="0" rtlCol="0" anchor="ctr"/>
          <a:lstStyle/>
          <a:p>
            <a:pPr marL="0" indent="0">
              <a:buNone/>
            </a:pPr>
            <a:r>
              <a:rPr lang="en-US" sz="1400" b="1" dirty="0">
                <a:solidFill>
                  <a:srgbClr val="15803D"/>
                </a:solidFill>
                <a:latin typeface="Aptos Display" pitchFamily="34" charset="0"/>
                <a:ea typeface="Aptos Display" pitchFamily="34" charset="-122"/>
                <a:cs typeface="Aptos Display" pitchFamily="34" charset="-120"/>
              </a:rPr>
              <a:t>MAP</a:t>
            </a:r>
            <a:endParaRPr lang="en-US" sz="1400" dirty="0"/>
          </a:p>
        </p:txBody>
      </p:sp>
      <p:sp>
        <p:nvSpPr>
          <p:cNvPr id="29" name="Text 27"/>
          <p:cNvSpPr/>
          <p:nvPr/>
        </p:nvSpPr>
        <p:spPr>
          <a:xfrm>
            <a:off x="7754112" y="3163824"/>
            <a:ext cx="3429000" cy="310896"/>
          </a:xfrm>
          <a:prstGeom prst="rect">
            <a:avLst/>
          </a:prstGeom>
          <a:noFill/>
        </p:spPr>
        <p:txBody>
          <a:bodyPr wrap="square" lIns="0" tIns="0" rIns="0" bIns="0" rtlCol="0" anchor="ctr">
            <a:normAutofit/>
          </a:bodyPr>
          <a:lstStyle/>
          <a:p>
            <a:pPr marL="0" indent="0">
              <a:buNone/>
            </a:pPr>
            <a:r>
              <a:rPr lang="en-US" sz="980" dirty="0">
                <a:solidFill>
                  <a:srgbClr val="334155"/>
                </a:solidFill>
                <a:latin typeface="Aptos" pitchFamily="34" charset="0"/>
                <a:ea typeface="Aptos" pitchFamily="34" charset="-122"/>
                <a:cs typeface="Aptos" pitchFamily="34" charset="-120"/>
              </a:rPr>
              <a:t>Model, API, Docker, and risk context</a:t>
            </a:r>
            <a:endParaRPr lang="en-US" sz="980" dirty="0"/>
          </a:p>
        </p:txBody>
      </p:sp>
      <p:sp>
        <p:nvSpPr>
          <p:cNvPr id="30" name="Text 28"/>
          <p:cNvSpPr/>
          <p:nvPr/>
        </p:nvSpPr>
        <p:spPr>
          <a:xfrm>
            <a:off x="6528816" y="3931920"/>
            <a:ext cx="1143000" cy="219456"/>
          </a:xfrm>
          <a:prstGeom prst="rect">
            <a:avLst/>
          </a:prstGeom>
          <a:noFill/>
        </p:spPr>
        <p:txBody>
          <a:bodyPr wrap="square" lIns="0" tIns="0" rIns="0" bIns="0" rtlCol="0" anchor="ctr"/>
          <a:lstStyle/>
          <a:p>
            <a:pPr marL="0" indent="0">
              <a:buNone/>
            </a:pPr>
            <a:r>
              <a:rPr lang="en-US" sz="1400" b="1" dirty="0">
                <a:solidFill>
                  <a:srgbClr val="15803D"/>
                </a:solidFill>
                <a:latin typeface="Aptos Display" pitchFamily="34" charset="0"/>
                <a:ea typeface="Aptos Display" pitchFamily="34" charset="-122"/>
                <a:cs typeface="Aptos Display" pitchFamily="34" charset="-120"/>
              </a:rPr>
              <a:t>MEASURE</a:t>
            </a:r>
            <a:endParaRPr lang="en-US" sz="1400" dirty="0"/>
          </a:p>
        </p:txBody>
      </p:sp>
      <p:sp>
        <p:nvSpPr>
          <p:cNvPr id="31" name="Text 29"/>
          <p:cNvSpPr/>
          <p:nvPr/>
        </p:nvSpPr>
        <p:spPr>
          <a:xfrm>
            <a:off x="7754112" y="3931920"/>
            <a:ext cx="3429000" cy="310896"/>
          </a:xfrm>
          <a:prstGeom prst="rect">
            <a:avLst/>
          </a:prstGeom>
          <a:noFill/>
        </p:spPr>
        <p:txBody>
          <a:bodyPr wrap="square" lIns="0" tIns="0" rIns="0" bIns="0" rtlCol="0" anchor="ctr">
            <a:normAutofit/>
          </a:bodyPr>
          <a:lstStyle/>
          <a:p>
            <a:pPr marL="0" indent="0">
              <a:buNone/>
            </a:pPr>
            <a:r>
              <a:rPr lang="en-US" sz="980" dirty="0">
                <a:solidFill>
                  <a:srgbClr val="334155"/>
                </a:solidFill>
                <a:latin typeface="Aptos" pitchFamily="34" charset="0"/>
                <a:ea typeface="Aptos" pitchFamily="34" charset="-122"/>
                <a:cs typeface="Aptos" pitchFamily="34" charset="-120"/>
              </a:rPr>
              <a:t>Accuracy, attacks, and security tests</a:t>
            </a:r>
            <a:endParaRPr lang="en-US" sz="980" dirty="0"/>
          </a:p>
        </p:txBody>
      </p:sp>
      <p:sp>
        <p:nvSpPr>
          <p:cNvPr id="32" name="Text 30"/>
          <p:cNvSpPr/>
          <p:nvPr/>
        </p:nvSpPr>
        <p:spPr>
          <a:xfrm>
            <a:off x="6528816" y="4700016"/>
            <a:ext cx="1143000" cy="219456"/>
          </a:xfrm>
          <a:prstGeom prst="rect">
            <a:avLst/>
          </a:prstGeom>
          <a:noFill/>
        </p:spPr>
        <p:txBody>
          <a:bodyPr wrap="square" lIns="0" tIns="0" rIns="0" bIns="0" rtlCol="0" anchor="ctr"/>
          <a:lstStyle/>
          <a:p>
            <a:pPr marL="0" indent="0">
              <a:buNone/>
            </a:pPr>
            <a:r>
              <a:rPr lang="en-US" sz="1400" b="1" dirty="0">
                <a:solidFill>
                  <a:srgbClr val="15803D"/>
                </a:solidFill>
                <a:latin typeface="Aptos Display" pitchFamily="34" charset="0"/>
                <a:ea typeface="Aptos Display" pitchFamily="34" charset="-122"/>
                <a:cs typeface="Aptos Display" pitchFamily="34" charset="-120"/>
              </a:rPr>
              <a:t>MANAGE</a:t>
            </a:r>
            <a:endParaRPr lang="en-US" sz="1400" dirty="0"/>
          </a:p>
        </p:txBody>
      </p:sp>
      <p:sp>
        <p:nvSpPr>
          <p:cNvPr id="33" name="Text 31"/>
          <p:cNvSpPr/>
          <p:nvPr/>
        </p:nvSpPr>
        <p:spPr>
          <a:xfrm>
            <a:off x="7754112" y="4700016"/>
            <a:ext cx="3429000" cy="310896"/>
          </a:xfrm>
          <a:prstGeom prst="rect">
            <a:avLst/>
          </a:prstGeom>
          <a:noFill/>
        </p:spPr>
        <p:txBody>
          <a:bodyPr wrap="square" lIns="0" tIns="0" rIns="0" bIns="0" rtlCol="0" anchor="ctr">
            <a:normAutofit/>
          </a:bodyPr>
          <a:lstStyle/>
          <a:p>
            <a:pPr marL="0" indent="0">
              <a:buNone/>
            </a:pPr>
            <a:r>
              <a:rPr lang="en-US" sz="980" dirty="0">
                <a:solidFill>
                  <a:srgbClr val="334155"/>
                </a:solidFill>
                <a:latin typeface="Aptos" pitchFamily="34" charset="0"/>
                <a:ea typeface="Aptos" pitchFamily="34" charset="-122"/>
                <a:cs typeface="Aptos" pitchFamily="34" charset="-120"/>
              </a:rPr>
              <a:t>Mitigation, retest, and residual risks</a:t>
            </a:r>
            <a:endParaRPr lang="en-US" sz="980" dirty="0"/>
          </a:p>
        </p:txBody>
      </p:sp>
      <p:sp>
        <p:nvSpPr>
          <p:cNvPr id="34" name="Text 32"/>
          <p:cNvSpPr/>
          <p:nvPr/>
        </p:nvSpPr>
        <p:spPr>
          <a:xfrm>
            <a:off x="6528816" y="5650992"/>
            <a:ext cx="4572000" cy="274320"/>
          </a:xfrm>
          <a:prstGeom prst="rect">
            <a:avLst/>
          </a:prstGeom>
          <a:noFill/>
        </p:spPr>
        <p:txBody>
          <a:bodyPr wrap="square" lIns="0" tIns="0" rIns="0" bIns="0" rtlCol="0" anchor="ctr">
            <a:normAutofit/>
          </a:bodyPr>
          <a:lstStyle/>
          <a:p>
            <a:pPr marL="0" indent="0">
              <a:buNone/>
            </a:pPr>
            <a:r>
              <a:rPr lang="en-US" sz="920" dirty="0">
                <a:solidFill>
                  <a:srgbClr val="64748B"/>
                </a:solidFill>
                <a:latin typeface="Aptos" pitchFamily="34" charset="0"/>
                <a:ea typeface="Aptos" pitchFamily="34" charset="-122"/>
                <a:cs typeface="Aptos" pitchFamily="34" charset="-120"/>
              </a:rPr>
              <a:t>These frameworks organize the evidence; they do not replace the underlying tests.</a:t>
            </a:r>
            <a:endParaRPr lang="en-US" sz="920" dirty="0"/>
          </a:p>
        </p:txBody>
      </p:sp>
      <p:sp>
        <p:nvSpPr>
          <p:cNvPr id="35" name="Text 33"/>
          <p:cNvSpPr/>
          <p:nvPr/>
        </p:nvSpPr>
        <p:spPr>
          <a:xfrm>
            <a:off x="11109960" y="6556248"/>
            <a:ext cx="457200" cy="164592"/>
          </a:xfrm>
          <a:prstGeom prst="rect">
            <a:avLst/>
          </a:prstGeom>
          <a:noFill/>
        </p:spPr>
        <p:txBody>
          <a:bodyPr wrap="square" lIns="0" tIns="0" rIns="0" bIns="0" rtlCol="0" anchor="ctr"/>
          <a:lstStyle/>
          <a:p>
            <a:pPr marL="0" indent="0" algn="r">
              <a:buNone/>
            </a:pPr>
            <a:r>
              <a:rPr lang="en-US" sz="800" dirty="0">
                <a:solidFill>
                  <a:srgbClr val="64748B"/>
                </a:solidFill>
                <a:latin typeface="Aptos" pitchFamily="34" charset="0"/>
                <a:ea typeface="Aptos" pitchFamily="34" charset="-122"/>
                <a:cs typeface="Aptos"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320040"/>
            <a:ext cx="11365992" cy="0"/>
          </a:xfrm>
          <a:prstGeom prst="line">
            <a:avLst/>
          </a:prstGeom>
          <a:noFill/>
          <a:ln w="12700">
            <a:solidFill>
              <a:srgbClr val="E2E8F0"/>
            </a:solidFill>
            <a:prstDash val="solid"/>
          </a:ln>
        </p:spPr>
        <p:txBody>
          <a:bodyPr/>
          <a:p/>
        </p:txBody>
      </p:sp>
      <p:sp>
        <p:nvSpPr>
          <p:cNvPr id="3" name="Shape 1"/>
          <p:cNvSpPr/>
          <p:nvPr/>
        </p:nvSpPr>
        <p:spPr>
          <a:xfrm>
            <a:off x="411480" y="6492240"/>
            <a:ext cx="11365992" cy="0"/>
          </a:xfrm>
          <a:prstGeom prst="line">
            <a:avLst/>
          </a:prstGeom>
          <a:noFill/>
          <a:ln w="12700">
            <a:solidFill>
              <a:srgbClr val="E2E8F0"/>
            </a:solidFill>
            <a:prstDash val="solid"/>
          </a:ln>
        </p:spPr>
        <p:txBody>
          <a:bodyPr/>
          <a:p/>
        </p:txBody>
      </p:sp>
      <p:sp>
        <p:nvSpPr>
          <p:cNvPr id="4" name="Shape 2"/>
          <p:cNvSpPr/>
          <p:nvPr/>
        </p:nvSpPr>
        <p:spPr>
          <a:xfrm rot="1080000">
            <a:off x="10744200" y="-640080"/>
            <a:ext cx="1920240" cy="1920240"/>
          </a:xfrm>
          <a:prstGeom prst="arc">
            <a:avLst/>
          </a:prstGeom>
          <a:solidFill>
            <a:srgbClr val="FFFFFF">
              <a:alpha val="0"/>
            </a:srgbClr>
          </a:solidFill>
          <a:ln w="12700">
            <a:solidFill>
              <a:srgbClr val="E2E8F0">
                <a:alpha val="55000"/>
              </a:srgbClr>
            </a:solidFill>
            <a:prstDash val="solid"/>
          </a:ln>
        </p:spPr>
        <p:txBody>
          <a:bodyPr/>
          <a:p/>
        </p:txBody>
      </p:sp>
      <p:sp>
        <p:nvSpPr>
          <p:cNvPr id="5" name="Text 3"/>
          <p:cNvSpPr/>
          <p:nvPr/>
        </p:nvSpPr>
        <p:spPr>
          <a:xfrm>
            <a:off x="502920" y="73152"/>
            <a:ext cx="3840480" cy="182880"/>
          </a:xfrm>
          <a:prstGeom prst="rect">
            <a:avLst/>
          </a:prstGeom>
          <a:noFill/>
        </p:spPr>
        <p:txBody>
          <a:bodyPr wrap="square" lIns="0" tIns="0" rIns="0" bIns="0" rtlCol="0" anchor="ctr"/>
          <a:lstStyle/>
          <a:p>
            <a:pPr marL="0" indent="0">
              <a:buNone/>
            </a:pPr>
            <a:r>
              <a:rPr lang="en-US" sz="900" b="1" kern="0" spc="140" dirty="0">
                <a:solidFill>
                  <a:srgbClr val="0E7490"/>
                </a:solidFill>
                <a:latin typeface="Aptos" pitchFamily="34" charset="0"/>
                <a:ea typeface="Aptos" pitchFamily="34" charset="-122"/>
                <a:cs typeface="Aptos" pitchFamily="34" charset="-120"/>
              </a:rPr>
              <a:t>DOCUMENTATION</a:t>
            </a:r>
            <a:endParaRPr lang="en-US" sz="900" dirty="0"/>
          </a:p>
        </p:txBody>
      </p:sp>
      <p:sp>
        <p:nvSpPr>
          <p:cNvPr id="6" name="Text 4"/>
          <p:cNvSpPr/>
          <p:nvPr/>
        </p:nvSpPr>
        <p:spPr>
          <a:xfrm>
            <a:off x="502920" y="530352"/>
            <a:ext cx="10561320" cy="502920"/>
          </a:xfrm>
          <a:prstGeom prst="rect">
            <a:avLst/>
          </a:prstGeom>
          <a:noFill/>
        </p:spPr>
        <p:txBody>
          <a:bodyPr wrap="square" lIns="0" tIns="0" rIns="0" bIns="0" rtlCol="0" anchor="ctr">
            <a:normAutofit/>
          </a:bodyP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15 • Reports + Evidence Trail</a:t>
            </a:r>
            <a:endParaRPr lang="en-US" sz="2500" dirty="0"/>
          </a:p>
        </p:txBody>
      </p:sp>
      <p:sp>
        <p:nvSpPr>
          <p:cNvPr id="7" name="Text 5"/>
          <p:cNvSpPr/>
          <p:nvPr/>
        </p:nvSpPr>
        <p:spPr>
          <a:xfrm>
            <a:off x="530352" y="1060704"/>
            <a:ext cx="10332720" cy="347472"/>
          </a:xfrm>
          <a:prstGeom prst="rect">
            <a:avLst/>
          </a:prstGeom>
          <a:noFill/>
        </p:spPr>
        <p:txBody>
          <a:bodyPr wrap="square" lIns="0" tIns="0" rIns="0" bIns="0" rtlCol="0" anchor="ctr">
            <a:normAutofit/>
          </a:bodyPr>
          <a:lstStyle/>
          <a:p>
            <a:pPr marL="0" indent="0">
              <a:buNone/>
            </a:pPr>
            <a:r>
              <a:rPr lang="en-US" sz="1150" dirty="0">
                <a:solidFill>
                  <a:srgbClr val="64748B"/>
                </a:solidFill>
                <a:latin typeface="Aptos" pitchFamily="34" charset="0"/>
                <a:ea typeface="Aptos" pitchFamily="34" charset="-122"/>
                <a:cs typeface="Aptos" pitchFamily="34" charset="-120"/>
              </a:rPr>
              <a:t>Every major part of the assessment has a focused report or artifact.</a:t>
            </a:r>
            <a:endParaRPr lang="en-US" sz="1150" dirty="0"/>
          </a:p>
        </p:txBody>
      </p:sp>
      <p:sp>
        <p:nvSpPr>
          <p:cNvPr id="8" name="Shape 6"/>
          <p:cNvSpPr/>
          <p:nvPr/>
        </p:nvSpPr>
        <p:spPr>
          <a:xfrm>
            <a:off x="530352" y="1664208"/>
            <a:ext cx="5230368" cy="969264"/>
          </a:xfrm>
          <a:prstGeom prst="roundRect">
            <a:avLst>
              <a:gd name="adj" fmla="val 7547"/>
            </a:avLst>
          </a:prstGeom>
          <a:solidFill>
            <a:srgbClr val="F8FAFC"/>
          </a:solidFill>
          <a:ln w="12700">
            <a:solidFill>
              <a:srgbClr val="E2E8F0">
                <a:alpha val="90000"/>
              </a:srgbClr>
            </a:solidFill>
            <a:prstDash val="solid"/>
          </a:ln>
        </p:spPr>
        <p:txBody>
          <a:bodyPr/>
          <a:p/>
        </p:txBody>
      </p:sp>
      <p:sp>
        <p:nvSpPr>
          <p:cNvPr id="9" name="Shape 7"/>
          <p:cNvSpPr/>
          <p:nvPr/>
        </p:nvSpPr>
        <p:spPr>
          <a:xfrm>
            <a:off x="713232" y="1920240"/>
            <a:ext cx="384048" cy="384048"/>
          </a:xfrm>
          <a:prstGeom prst="ellipse">
            <a:avLst/>
          </a:prstGeom>
          <a:solidFill>
            <a:srgbClr val="56E0FF">
              <a:alpha val="18000"/>
            </a:srgbClr>
          </a:solidFill>
          <a:ln w="13970">
            <a:solidFill>
              <a:srgbClr val="0E7490"/>
            </a:solidFill>
            <a:prstDash val="solid"/>
          </a:ln>
        </p:spPr>
        <p:txBody>
          <a:bodyPr/>
          <a:p/>
        </p:txBody>
      </p:sp>
      <p:sp>
        <p:nvSpPr>
          <p:cNvPr id="10" name="Text 8"/>
          <p:cNvSpPr/>
          <p:nvPr/>
        </p:nvSpPr>
        <p:spPr>
          <a:xfrm>
            <a:off x="713232" y="2002536"/>
            <a:ext cx="384048" cy="128016"/>
          </a:xfrm>
          <a:prstGeom prst="rect">
            <a:avLst/>
          </a:prstGeom>
          <a:noFill/>
        </p:spPr>
        <p:txBody>
          <a:bodyPr wrap="square" lIns="0" tIns="0" rIns="0" bIns="0" rtlCol="0" anchor="ctr"/>
          <a:lstStyle/>
          <a:p>
            <a:pPr marL="0" indent="0" algn="ctr">
              <a:buNone/>
            </a:pPr>
            <a:r>
              <a:rPr lang="en-US" sz="900" b="1" dirty="0">
                <a:solidFill>
                  <a:srgbClr val="0E7490"/>
                </a:solidFill>
                <a:latin typeface="Aptos" pitchFamily="34" charset="0"/>
                <a:ea typeface="Aptos" pitchFamily="34" charset="-122"/>
                <a:cs typeface="Aptos" pitchFamily="34" charset="-120"/>
              </a:rPr>
              <a:t>✓</a:t>
            </a:r>
            <a:endParaRPr lang="en-US" sz="900" dirty="0"/>
          </a:p>
        </p:txBody>
      </p:sp>
      <p:sp>
        <p:nvSpPr>
          <p:cNvPr id="11" name="Text 9"/>
          <p:cNvSpPr/>
          <p:nvPr/>
        </p:nvSpPr>
        <p:spPr>
          <a:xfrm>
            <a:off x="1261872" y="1810512"/>
            <a:ext cx="4251960" cy="228600"/>
          </a:xfrm>
          <a:prstGeom prst="rect">
            <a:avLst/>
          </a:prstGeom>
          <a:noFill/>
        </p:spPr>
        <p:txBody>
          <a:bodyPr wrap="square" lIns="0" tIns="0" rIns="0" bIns="0" rtlCol="0" anchor="ctr">
            <a:normAutofit/>
          </a:bodyPr>
          <a:lstStyle/>
          <a:p>
            <a:pPr marL="0" indent="0">
              <a:buNone/>
            </a:pPr>
            <a:r>
              <a:rPr lang="en-US" sz="940" b="1" dirty="0">
                <a:solidFill>
                  <a:srgbClr val="0F172A"/>
                </a:solidFill>
                <a:latin typeface="Consolas" panose="020B0609020204030204" pitchFamily="34" charset="0"/>
                <a:ea typeface="Consolas" panose="020B0609020204030204" pitchFamily="34" charset="-122"/>
                <a:cs typeface="Consolas" panose="020B0609020204030204" pitchFamily="34" charset="-120"/>
              </a:rPr>
              <a:t>Adversarial_Examples.md</a:t>
            </a:r>
            <a:endParaRPr lang="en-US" sz="940" dirty="0"/>
          </a:p>
        </p:txBody>
      </p:sp>
      <p:sp>
        <p:nvSpPr>
          <p:cNvPr id="12" name="Text 10"/>
          <p:cNvSpPr/>
          <p:nvPr/>
        </p:nvSpPr>
        <p:spPr>
          <a:xfrm>
            <a:off x="1261872" y="2148840"/>
            <a:ext cx="4160520" cy="201168"/>
          </a:xfrm>
          <a:prstGeom prst="rect">
            <a:avLst/>
          </a:prstGeom>
          <a:noFill/>
        </p:spPr>
        <p:txBody>
          <a:bodyPr wrap="square" lIns="0" tIns="0" rIns="0" bIns="0" rtlCol="0" anchor="ctr">
            <a:normAutofit/>
          </a:bodyPr>
          <a:lstStyle/>
          <a:p>
            <a:pPr marL="0" indent="0">
              <a:buNone/>
            </a:pPr>
            <a:r>
              <a:rPr lang="en-US" sz="890" dirty="0">
                <a:solidFill>
                  <a:srgbClr val="64748B"/>
                </a:solidFill>
                <a:latin typeface="Aptos" pitchFamily="34" charset="0"/>
                <a:ea typeface="Aptos" pitchFamily="34" charset="-122"/>
                <a:cs typeface="Aptos" pitchFamily="34" charset="-120"/>
              </a:rPr>
              <a:t>Attack setup, results, limitations</a:t>
            </a:r>
            <a:endParaRPr lang="en-US" sz="890" dirty="0"/>
          </a:p>
        </p:txBody>
      </p:sp>
      <p:sp>
        <p:nvSpPr>
          <p:cNvPr id="13" name="Shape 11"/>
          <p:cNvSpPr/>
          <p:nvPr/>
        </p:nvSpPr>
        <p:spPr>
          <a:xfrm>
            <a:off x="6135624" y="1664208"/>
            <a:ext cx="5230368" cy="969264"/>
          </a:xfrm>
          <a:prstGeom prst="roundRect">
            <a:avLst>
              <a:gd name="adj" fmla="val 7547"/>
            </a:avLst>
          </a:prstGeom>
          <a:solidFill>
            <a:srgbClr val="F8FAFC"/>
          </a:solidFill>
          <a:ln w="12700">
            <a:solidFill>
              <a:srgbClr val="E2E8F0">
                <a:alpha val="90000"/>
              </a:srgbClr>
            </a:solidFill>
            <a:prstDash val="solid"/>
          </a:ln>
        </p:spPr>
        <p:txBody>
          <a:bodyPr/>
          <a:p/>
        </p:txBody>
      </p:sp>
      <p:sp>
        <p:nvSpPr>
          <p:cNvPr id="14" name="Shape 12"/>
          <p:cNvSpPr/>
          <p:nvPr/>
        </p:nvSpPr>
        <p:spPr>
          <a:xfrm>
            <a:off x="6318504" y="1920240"/>
            <a:ext cx="384048" cy="384048"/>
          </a:xfrm>
          <a:prstGeom prst="ellipse">
            <a:avLst/>
          </a:prstGeom>
          <a:solidFill>
            <a:srgbClr val="56E0FF">
              <a:alpha val="18000"/>
            </a:srgbClr>
          </a:solidFill>
          <a:ln w="13970">
            <a:solidFill>
              <a:srgbClr val="0E7490"/>
            </a:solidFill>
            <a:prstDash val="solid"/>
          </a:ln>
        </p:spPr>
        <p:txBody>
          <a:bodyPr/>
          <a:p/>
        </p:txBody>
      </p:sp>
      <p:sp>
        <p:nvSpPr>
          <p:cNvPr id="15" name="Text 13"/>
          <p:cNvSpPr/>
          <p:nvPr/>
        </p:nvSpPr>
        <p:spPr>
          <a:xfrm>
            <a:off x="6318504" y="2002536"/>
            <a:ext cx="384048" cy="128016"/>
          </a:xfrm>
          <a:prstGeom prst="rect">
            <a:avLst/>
          </a:prstGeom>
          <a:noFill/>
        </p:spPr>
        <p:txBody>
          <a:bodyPr wrap="square" lIns="0" tIns="0" rIns="0" bIns="0" rtlCol="0" anchor="ctr"/>
          <a:lstStyle/>
          <a:p>
            <a:pPr marL="0" indent="0" algn="ctr">
              <a:buNone/>
            </a:pPr>
            <a:r>
              <a:rPr lang="en-US" sz="900" b="1" dirty="0">
                <a:solidFill>
                  <a:srgbClr val="0E7490"/>
                </a:solidFill>
                <a:latin typeface="Aptos" pitchFamily="34" charset="0"/>
                <a:ea typeface="Aptos" pitchFamily="34" charset="-122"/>
                <a:cs typeface="Aptos" pitchFamily="34" charset="-120"/>
              </a:rPr>
              <a:t>✓</a:t>
            </a:r>
            <a:endParaRPr lang="en-US" sz="900" dirty="0"/>
          </a:p>
        </p:txBody>
      </p:sp>
      <p:sp>
        <p:nvSpPr>
          <p:cNvPr id="16" name="Text 14"/>
          <p:cNvSpPr/>
          <p:nvPr/>
        </p:nvSpPr>
        <p:spPr>
          <a:xfrm>
            <a:off x="6867144" y="1810512"/>
            <a:ext cx="4251960" cy="228600"/>
          </a:xfrm>
          <a:prstGeom prst="rect">
            <a:avLst/>
          </a:prstGeom>
          <a:noFill/>
        </p:spPr>
        <p:txBody>
          <a:bodyPr wrap="square" lIns="0" tIns="0" rIns="0" bIns="0" rtlCol="0" anchor="ctr">
            <a:normAutofit/>
          </a:bodyPr>
          <a:lstStyle/>
          <a:p>
            <a:pPr marL="0" indent="0">
              <a:buNone/>
            </a:pPr>
            <a:r>
              <a:rPr lang="en-US" sz="940" b="1" dirty="0">
                <a:solidFill>
                  <a:srgbClr val="0F172A"/>
                </a:solidFill>
                <a:latin typeface="Consolas" panose="020B0609020204030204" pitchFamily="34" charset="0"/>
                <a:ea typeface="Consolas" panose="020B0609020204030204" pitchFamily="34" charset="-122"/>
                <a:cs typeface="Consolas" panose="020B0609020204030204" pitchFamily="34" charset="-120"/>
              </a:rPr>
              <a:t>pipeline_review.md</a:t>
            </a:r>
            <a:endParaRPr lang="en-US" sz="940" dirty="0"/>
          </a:p>
        </p:txBody>
      </p:sp>
      <p:sp>
        <p:nvSpPr>
          <p:cNvPr id="17" name="Text 15"/>
          <p:cNvSpPr/>
          <p:nvPr/>
        </p:nvSpPr>
        <p:spPr>
          <a:xfrm>
            <a:off x="6867144" y="2148840"/>
            <a:ext cx="4160520" cy="201168"/>
          </a:xfrm>
          <a:prstGeom prst="rect">
            <a:avLst/>
          </a:prstGeom>
          <a:noFill/>
        </p:spPr>
        <p:txBody>
          <a:bodyPr wrap="square" lIns="0" tIns="0" rIns="0" bIns="0" rtlCol="0" anchor="ctr">
            <a:normAutofit/>
          </a:bodyPr>
          <a:lstStyle/>
          <a:p>
            <a:pPr marL="0" indent="0">
              <a:buNone/>
            </a:pPr>
            <a:r>
              <a:rPr lang="en-US" sz="890" dirty="0">
                <a:solidFill>
                  <a:srgbClr val="64748B"/>
                </a:solidFill>
                <a:latin typeface="Aptos" pitchFamily="34" charset="0"/>
                <a:ea typeface="Aptos" pitchFamily="34" charset="-122"/>
                <a:cs typeface="Aptos" pitchFamily="34" charset="-120"/>
              </a:rPr>
              <a:t>API + Docker + model pipeline findings</a:t>
            </a:r>
            <a:endParaRPr lang="en-US" sz="890" dirty="0"/>
          </a:p>
        </p:txBody>
      </p:sp>
      <p:sp>
        <p:nvSpPr>
          <p:cNvPr id="18" name="Shape 16"/>
          <p:cNvSpPr/>
          <p:nvPr/>
        </p:nvSpPr>
        <p:spPr>
          <a:xfrm>
            <a:off x="530352" y="2898648"/>
            <a:ext cx="5230368" cy="969264"/>
          </a:xfrm>
          <a:prstGeom prst="roundRect">
            <a:avLst>
              <a:gd name="adj" fmla="val 7547"/>
            </a:avLst>
          </a:prstGeom>
          <a:solidFill>
            <a:srgbClr val="F8FAFC"/>
          </a:solidFill>
          <a:ln w="12700">
            <a:solidFill>
              <a:srgbClr val="E2E8F0">
                <a:alpha val="90000"/>
              </a:srgbClr>
            </a:solidFill>
            <a:prstDash val="solid"/>
          </a:ln>
        </p:spPr>
        <p:txBody>
          <a:bodyPr/>
          <a:p/>
        </p:txBody>
      </p:sp>
      <p:sp>
        <p:nvSpPr>
          <p:cNvPr id="19" name="Shape 17"/>
          <p:cNvSpPr/>
          <p:nvPr/>
        </p:nvSpPr>
        <p:spPr>
          <a:xfrm>
            <a:off x="713232" y="3154680"/>
            <a:ext cx="384048" cy="384048"/>
          </a:xfrm>
          <a:prstGeom prst="ellipse">
            <a:avLst/>
          </a:prstGeom>
          <a:solidFill>
            <a:srgbClr val="8A7CFF">
              <a:alpha val="18000"/>
            </a:srgbClr>
          </a:solidFill>
          <a:ln w="13970">
            <a:solidFill>
              <a:srgbClr val="6D28D9"/>
            </a:solidFill>
            <a:prstDash val="solid"/>
          </a:ln>
        </p:spPr>
        <p:txBody>
          <a:bodyPr/>
          <a:p/>
        </p:txBody>
      </p:sp>
      <p:sp>
        <p:nvSpPr>
          <p:cNvPr id="20" name="Text 18"/>
          <p:cNvSpPr/>
          <p:nvPr/>
        </p:nvSpPr>
        <p:spPr>
          <a:xfrm>
            <a:off x="713232" y="3236976"/>
            <a:ext cx="384048" cy="128016"/>
          </a:xfrm>
          <a:prstGeom prst="rect">
            <a:avLst/>
          </a:prstGeom>
          <a:noFill/>
        </p:spPr>
        <p:txBody>
          <a:bodyPr wrap="square" lIns="0" tIns="0" rIns="0" bIns="0" rtlCol="0" anchor="ctr"/>
          <a:lstStyle/>
          <a:p>
            <a:pPr marL="0" indent="0" algn="ctr">
              <a:buNone/>
            </a:pPr>
            <a:r>
              <a:rPr lang="en-US" sz="900" b="1" dirty="0">
                <a:solidFill>
                  <a:srgbClr val="6D28D9"/>
                </a:solidFill>
                <a:latin typeface="Aptos" pitchFamily="34" charset="0"/>
                <a:ea typeface="Aptos" pitchFamily="34" charset="-122"/>
                <a:cs typeface="Aptos" pitchFamily="34" charset="-120"/>
              </a:rPr>
              <a:t>✓</a:t>
            </a:r>
            <a:endParaRPr lang="en-US" sz="900" dirty="0"/>
          </a:p>
        </p:txBody>
      </p:sp>
      <p:sp>
        <p:nvSpPr>
          <p:cNvPr id="21" name="Text 19"/>
          <p:cNvSpPr/>
          <p:nvPr/>
        </p:nvSpPr>
        <p:spPr>
          <a:xfrm>
            <a:off x="1261872" y="3044952"/>
            <a:ext cx="4251960" cy="228600"/>
          </a:xfrm>
          <a:prstGeom prst="rect">
            <a:avLst/>
          </a:prstGeom>
          <a:noFill/>
        </p:spPr>
        <p:txBody>
          <a:bodyPr wrap="square" lIns="0" tIns="0" rIns="0" bIns="0" rtlCol="0" anchor="ctr">
            <a:normAutofit/>
          </a:bodyPr>
          <a:lstStyle/>
          <a:p>
            <a:pPr marL="0" indent="0">
              <a:buNone/>
            </a:pPr>
            <a:r>
              <a:rPr lang="en-US" sz="940" b="1" dirty="0">
                <a:solidFill>
                  <a:srgbClr val="0F172A"/>
                </a:solidFill>
                <a:latin typeface="Consolas" panose="020B0609020204030204" pitchFamily="34" charset="0"/>
                <a:ea typeface="Consolas" panose="020B0609020204030204" pitchFamily="34" charset="-122"/>
                <a:cs typeface="Consolas" panose="020B0609020204030204" pitchFamily="34" charset="-120"/>
              </a:rPr>
              <a:t>MITRE_ATLAS_Mapping.md</a:t>
            </a:r>
            <a:endParaRPr lang="en-US" sz="940" dirty="0"/>
          </a:p>
        </p:txBody>
      </p:sp>
      <p:sp>
        <p:nvSpPr>
          <p:cNvPr id="22" name="Text 20"/>
          <p:cNvSpPr/>
          <p:nvPr/>
        </p:nvSpPr>
        <p:spPr>
          <a:xfrm>
            <a:off x="1261872" y="3383280"/>
            <a:ext cx="4160520" cy="201168"/>
          </a:xfrm>
          <a:prstGeom prst="rect">
            <a:avLst/>
          </a:prstGeom>
          <a:noFill/>
        </p:spPr>
        <p:txBody>
          <a:bodyPr wrap="square" lIns="0" tIns="0" rIns="0" bIns="0" rtlCol="0" anchor="ctr">
            <a:normAutofit/>
          </a:bodyPr>
          <a:lstStyle/>
          <a:p>
            <a:pPr marL="0" indent="0">
              <a:buNone/>
            </a:pPr>
            <a:r>
              <a:rPr lang="en-US" sz="890" dirty="0">
                <a:solidFill>
                  <a:srgbClr val="64748B"/>
                </a:solidFill>
                <a:latin typeface="Aptos" pitchFamily="34" charset="0"/>
                <a:ea typeface="Aptos" pitchFamily="34" charset="-122"/>
                <a:cs typeface="Aptos" pitchFamily="34" charset="-120"/>
              </a:rPr>
              <a:t>Technique mapping</a:t>
            </a:r>
            <a:endParaRPr lang="en-US" sz="890" dirty="0"/>
          </a:p>
        </p:txBody>
      </p:sp>
      <p:sp>
        <p:nvSpPr>
          <p:cNvPr id="23" name="Shape 21"/>
          <p:cNvSpPr/>
          <p:nvPr/>
        </p:nvSpPr>
        <p:spPr>
          <a:xfrm>
            <a:off x="6135624" y="2898648"/>
            <a:ext cx="5230368" cy="969264"/>
          </a:xfrm>
          <a:prstGeom prst="roundRect">
            <a:avLst>
              <a:gd name="adj" fmla="val 7547"/>
            </a:avLst>
          </a:prstGeom>
          <a:solidFill>
            <a:srgbClr val="F8FAFC"/>
          </a:solidFill>
          <a:ln w="12700">
            <a:solidFill>
              <a:srgbClr val="E2E8F0">
                <a:alpha val="90000"/>
              </a:srgbClr>
            </a:solidFill>
            <a:prstDash val="solid"/>
          </a:ln>
        </p:spPr>
        <p:txBody>
          <a:bodyPr/>
          <a:p/>
        </p:txBody>
      </p:sp>
      <p:sp>
        <p:nvSpPr>
          <p:cNvPr id="24" name="Shape 22"/>
          <p:cNvSpPr/>
          <p:nvPr/>
        </p:nvSpPr>
        <p:spPr>
          <a:xfrm>
            <a:off x="6318504" y="3154680"/>
            <a:ext cx="384048" cy="384048"/>
          </a:xfrm>
          <a:prstGeom prst="ellipse">
            <a:avLst/>
          </a:prstGeom>
          <a:solidFill>
            <a:srgbClr val="8A7CFF">
              <a:alpha val="18000"/>
            </a:srgbClr>
          </a:solidFill>
          <a:ln w="13970">
            <a:solidFill>
              <a:srgbClr val="6D28D9"/>
            </a:solidFill>
            <a:prstDash val="solid"/>
          </a:ln>
        </p:spPr>
        <p:txBody>
          <a:bodyPr/>
          <a:p/>
        </p:txBody>
      </p:sp>
      <p:sp>
        <p:nvSpPr>
          <p:cNvPr id="25" name="Text 23"/>
          <p:cNvSpPr/>
          <p:nvPr/>
        </p:nvSpPr>
        <p:spPr>
          <a:xfrm>
            <a:off x="6318504" y="3236976"/>
            <a:ext cx="384048" cy="128016"/>
          </a:xfrm>
          <a:prstGeom prst="rect">
            <a:avLst/>
          </a:prstGeom>
          <a:noFill/>
        </p:spPr>
        <p:txBody>
          <a:bodyPr wrap="square" lIns="0" tIns="0" rIns="0" bIns="0" rtlCol="0" anchor="ctr"/>
          <a:lstStyle/>
          <a:p>
            <a:pPr marL="0" indent="0" algn="ctr">
              <a:buNone/>
            </a:pPr>
            <a:r>
              <a:rPr lang="en-US" sz="900" b="1" dirty="0">
                <a:solidFill>
                  <a:srgbClr val="6D28D9"/>
                </a:solidFill>
                <a:latin typeface="Aptos" pitchFamily="34" charset="0"/>
                <a:ea typeface="Aptos" pitchFamily="34" charset="-122"/>
                <a:cs typeface="Aptos" pitchFamily="34" charset="-120"/>
              </a:rPr>
              <a:t>✓</a:t>
            </a:r>
            <a:endParaRPr lang="en-US" sz="900" dirty="0"/>
          </a:p>
        </p:txBody>
      </p:sp>
      <p:sp>
        <p:nvSpPr>
          <p:cNvPr id="26" name="Text 24"/>
          <p:cNvSpPr/>
          <p:nvPr/>
        </p:nvSpPr>
        <p:spPr>
          <a:xfrm>
            <a:off x="6867144" y="3044952"/>
            <a:ext cx="4251960" cy="228600"/>
          </a:xfrm>
          <a:prstGeom prst="rect">
            <a:avLst/>
          </a:prstGeom>
          <a:noFill/>
        </p:spPr>
        <p:txBody>
          <a:bodyPr wrap="square" lIns="0" tIns="0" rIns="0" bIns="0" rtlCol="0" anchor="ctr">
            <a:normAutofit/>
          </a:bodyPr>
          <a:lstStyle/>
          <a:p>
            <a:pPr marL="0" indent="0">
              <a:buNone/>
            </a:pPr>
            <a:r>
              <a:rPr lang="en-US" sz="940" b="1" dirty="0">
                <a:solidFill>
                  <a:srgbClr val="0F172A"/>
                </a:solidFill>
                <a:latin typeface="Consolas" panose="020B0609020204030204" pitchFamily="34" charset="0"/>
                <a:ea typeface="Consolas" panose="020B0609020204030204" pitchFamily="34" charset="-122"/>
                <a:cs typeface="Consolas" panose="020B0609020204030204" pitchFamily="34" charset="-120"/>
              </a:rPr>
              <a:t>NIST_AI_RMF_Mapping.md</a:t>
            </a:r>
            <a:endParaRPr lang="en-US" sz="940" dirty="0"/>
          </a:p>
        </p:txBody>
      </p:sp>
      <p:sp>
        <p:nvSpPr>
          <p:cNvPr id="27" name="Text 25"/>
          <p:cNvSpPr/>
          <p:nvPr/>
        </p:nvSpPr>
        <p:spPr>
          <a:xfrm>
            <a:off x="6867144" y="3383280"/>
            <a:ext cx="4160520" cy="201168"/>
          </a:xfrm>
          <a:prstGeom prst="rect">
            <a:avLst/>
          </a:prstGeom>
          <a:noFill/>
        </p:spPr>
        <p:txBody>
          <a:bodyPr wrap="square" lIns="0" tIns="0" rIns="0" bIns="0" rtlCol="0" anchor="ctr">
            <a:normAutofit/>
          </a:bodyPr>
          <a:lstStyle/>
          <a:p>
            <a:pPr marL="0" indent="0">
              <a:buNone/>
            </a:pPr>
            <a:r>
              <a:rPr lang="en-US" sz="890" dirty="0">
                <a:solidFill>
                  <a:srgbClr val="64748B"/>
                </a:solidFill>
                <a:latin typeface="Aptos" pitchFamily="34" charset="0"/>
                <a:ea typeface="Aptos" pitchFamily="34" charset="-122"/>
                <a:cs typeface="Aptos" pitchFamily="34" charset="-120"/>
              </a:rPr>
              <a:t>Risk-management mapping</a:t>
            </a:r>
            <a:endParaRPr lang="en-US" sz="890" dirty="0"/>
          </a:p>
        </p:txBody>
      </p:sp>
      <p:sp>
        <p:nvSpPr>
          <p:cNvPr id="28" name="Shape 26"/>
          <p:cNvSpPr/>
          <p:nvPr/>
        </p:nvSpPr>
        <p:spPr>
          <a:xfrm>
            <a:off x="530352" y="4133088"/>
            <a:ext cx="5230368" cy="969264"/>
          </a:xfrm>
          <a:prstGeom prst="roundRect">
            <a:avLst>
              <a:gd name="adj" fmla="val 7547"/>
            </a:avLst>
          </a:prstGeom>
          <a:solidFill>
            <a:srgbClr val="F8FAFC"/>
          </a:solidFill>
          <a:ln w="12700">
            <a:solidFill>
              <a:srgbClr val="E2E8F0">
                <a:alpha val="90000"/>
              </a:srgbClr>
            </a:solidFill>
            <a:prstDash val="solid"/>
          </a:ln>
        </p:spPr>
        <p:txBody>
          <a:bodyPr/>
          <a:p/>
        </p:txBody>
      </p:sp>
      <p:sp>
        <p:nvSpPr>
          <p:cNvPr id="29" name="Shape 27"/>
          <p:cNvSpPr/>
          <p:nvPr/>
        </p:nvSpPr>
        <p:spPr>
          <a:xfrm>
            <a:off x="713232" y="4389120"/>
            <a:ext cx="384048" cy="384048"/>
          </a:xfrm>
          <a:prstGeom prst="ellipse">
            <a:avLst/>
          </a:prstGeom>
          <a:solidFill>
            <a:srgbClr val="8A7CFF">
              <a:alpha val="18000"/>
            </a:srgbClr>
          </a:solidFill>
          <a:ln w="13970">
            <a:solidFill>
              <a:srgbClr val="6D28D9"/>
            </a:solidFill>
            <a:prstDash val="solid"/>
          </a:ln>
        </p:spPr>
        <p:txBody>
          <a:bodyPr/>
          <a:p/>
        </p:txBody>
      </p:sp>
      <p:sp>
        <p:nvSpPr>
          <p:cNvPr id="30" name="Text 28"/>
          <p:cNvSpPr/>
          <p:nvPr/>
        </p:nvSpPr>
        <p:spPr>
          <a:xfrm>
            <a:off x="713232" y="4471416"/>
            <a:ext cx="384048" cy="128016"/>
          </a:xfrm>
          <a:prstGeom prst="rect">
            <a:avLst/>
          </a:prstGeom>
          <a:noFill/>
        </p:spPr>
        <p:txBody>
          <a:bodyPr wrap="square" lIns="0" tIns="0" rIns="0" bIns="0" rtlCol="0" anchor="ctr"/>
          <a:lstStyle/>
          <a:p>
            <a:pPr marL="0" indent="0" algn="ctr">
              <a:buNone/>
            </a:pPr>
            <a:r>
              <a:rPr lang="en-US" sz="900" b="1" dirty="0">
                <a:solidFill>
                  <a:srgbClr val="6D28D9"/>
                </a:solidFill>
                <a:latin typeface="Aptos" pitchFamily="34" charset="0"/>
                <a:ea typeface="Aptos" pitchFamily="34" charset="-122"/>
                <a:cs typeface="Aptos" pitchFamily="34" charset="-120"/>
              </a:rPr>
              <a:t>✓</a:t>
            </a:r>
            <a:endParaRPr lang="en-US" sz="900" dirty="0"/>
          </a:p>
        </p:txBody>
      </p:sp>
      <p:sp>
        <p:nvSpPr>
          <p:cNvPr id="31" name="Text 29"/>
          <p:cNvSpPr/>
          <p:nvPr/>
        </p:nvSpPr>
        <p:spPr>
          <a:xfrm>
            <a:off x="1261872" y="4279392"/>
            <a:ext cx="4251960" cy="228600"/>
          </a:xfrm>
          <a:prstGeom prst="rect">
            <a:avLst/>
          </a:prstGeom>
          <a:noFill/>
        </p:spPr>
        <p:txBody>
          <a:bodyPr wrap="square" lIns="0" tIns="0" rIns="0" bIns="0" rtlCol="0" anchor="ctr">
            <a:normAutofit/>
          </a:bodyPr>
          <a:lstStyle/>
          <a:p>
            <a:pPr marL="0" indent="0">
              <a:buNone/>
            </a:pPr>
            <a:r>
              <a:rPr lang="en-US" sz="940" b="1" dirty="0">
                <a:solidFill>
                  <a:srgbClr val="0F172A"/>
                </a:solidFill>
                <a:latin typeface="Consolas" panose="020B0609020204030204" pitchFamily="34" charset="0"/>
                <a:ea typeface="Consolas" panose="020B0609020204030204" pitchFamily="34" charset="-122"/>
                <a:cs typeface="Consolas" panose="020B0609020204030204" pitchFamily="34" charset="-120"/>
              </a:rPr>
              <a:t>AI_Security_Red_Team_Bonus_Tasks_Detailed_Report.md</a:t>
            </a:r>
            <a:endParaRPr lang="en-US" sz="940" dirty="0"/>
          </a:p>
        </p:txBody>
      </p:sp>
      <p:sp>
        <p:nvSpPr>
          <p:cNvPr id="32" name="Text 30"/>
          <p:cNvSpPr/>
          <p:nvPr/>
        </p:nvSpPr>
        <p:spPr>
          <a:xfrm>
            <a:off x="1261872" y="4617720"/>
            <a:ext cx="4160520" cy="201168"/>
          </a:xfrm>
          <a:prstGeom prst="rect">
            <a:avLst/>
          </a:prstGeom>
          <a:noFill/>
        </p:spPr>
        <p:txBody>
          <a:bodyPr wrap="square" lIns="0" tIns="0" rIns="0" bIns="0" rtlCol="0" anchor="ctr">
            <a:normAutofit/>
          </a:bodyPr>
          <a:lstStyle/>
          <a:p>
            <a:pPr marL="0" indent="0">
              <a:buNone/>
            </a:pPr>
            <a:r>
              <a:rPr lang="en-US" sz="890" dirty="0">
                <a:solidFill>
                  <a:srgbClr val="64748B"/>
                </a:solidFill>
                <a:latin typeface="Aptos" pitchFamily="34" charset="0"/>
                <a:ea typeface="Aptos" pitchFamily="34" charset="-122"/>
                <a:cs typeface="Aptos" pitchFamily="34" charset="-120"/>
              </a:rPr>
              <a:t>Bonus experiments</a:t>
            </a:r>
            <a:endParaRPr lang="en-US" sz="890" dirty="0"/>
          </a:p>
        </p:txBody>
      </p:sp>
      <p:sp>
        <p:nvSpPr>
          <p:cNvPr id="33" name="Shape 31"/>
          <p:cNvSpPr/>
          <p:nvPr/>
        </p:nvSpPr>
        <p:spPr>
          <a:xfrm>
            <a:off x="6135624" y="4133088"/>
            <a:ext cx="5230368" cy="969264"/>
          </a:xfrm>
          <a:prstGeom prst="roundRect">
            <a:avLst>
              <a:gd name="adj" fmla="val 7547"/>
            </a:avLst>
          </a:prstGeom>
          <a:solidFill>
            <a:srgbClr val="F8FAFC"/>
          </a:solidFill>
          <a:ln w="12700">
            <a:solidFill>
              <a:srgbClr val="E2E8F0">
                <a:alpha val="90000"/>
              </a:srgbClr>
            </a:solidFill>
            <a:prstDash val="solid"/>
          </a:ln>
        </p:spPr>
        <p:txBody>
          <a:bodyPr/>
          <a:p/>
        </p:txBody>
      </p:sp>
      <p:sp>
        <p:nvSpPr>
          <p:cNvPr id="34" name="Shape 32"/>
          <p:cNvSpPr/>
          <p:nvPr/>
        </p:nvSpPr>
        <p:spPr>
          <a:xfrm>
            <a:off x="6318504" y="4389120"/>
            <a:ext cx="384048" cy="384048"/>
          </a:xfrm>
          <a:prstGeom prst="ellipse">
            <a:avLst/>
          </a:prstGeom>
          <a:solidFill>
            <a:srgbClr val="8A7CFF">
              <a:alpha val="18000"/>
            </a:srgbClr>
          </a:solidFill>
          <a:ln w="13970">
            <a:solidFill>
              <a:srgbClr val="6D28D9"/>
            </a:solidFill>
            <a:prstDash val="solid"/>
          </a:ln>
        </p:spPr>
        <p:txBody>
          <a:bodyPr/>
          <a:p/>
        </p:txBody>
      </p:sp>
      <p:sp>
        <p:nvSpPr>
          <p:cNvPr id="35" name="Text 33"/>
          <p:cNvSpPr/>
          <p:nvPr/>
        </p:nvSpPr>
        <p:spPr>
          <a:xfrm>
            <a:off x="6318504" y="4471416"/>
            <a:ext cx="384048" cy="128016"/>
          </a:xfrm>
          <a:prstGeom prst="rect">
            <a:avLst/>
          </a:prstGeom>
          <a:noFill/>
        </p:spPr>
        <p:txBody>
          <a:bodyPr wrap="square" lIns="0" tIns="0" rIns="0" bIns="0" rtlCol="0" anchor="ctr"/>
          <a:lstStyle/>
          <a:p>
            <a:pPr marL="0" indent="0" algn="ctr">
              <a:buNone/>
            </a:pPr>
            <a:r>
              <a:rPr lang="en-US" sz="900" b="1" dirty="0">
                <a:solidFill>
                  <a:srgbClr val="6D28D9"/>
                </a:solidFill>
                <a:latin typeface="Aptos" pitchFamily="34" charset="0"/>
                <a:ea typeface="Aptos" pitchFamily="34" charset="-122"/>
                <a:cs typeface="Aptos" pitchFamily="34" charset="-120"/>
              </a:rPr>
              <a:t>✓</a:t>
            </a:r>
            <a:endParaRPr lang="en-US" sz="900" dirty="0"/>
          </a:p>
        </p:txBody>
      </p:sp>
      <p:sp>
        <p:nvSpPr>
          <p:cNvPr id="36" name="Text 34"/>
          <p:cNvSpPr/>
          <p:nvPr/>
        </p:nvSpPr>
        <p:spPr>
          <a:xfrm>
            <a:off x="6867144" y="4279392"/>
            <a:ext cx="4251960" cy="228600"/>
          </a:xfrm>
          <a:prstGeom prst="rect">
            <a:avLst/>
          </a:prstGeom>
          <a:noFill/>
        </p:spPr>
        <p:txBody>
          <a:bodyPr wrap="square" lIns="0" tIns="0" rIns="0" bIns="0" rtlCol="0" anchor="ctr">
            <a:normAutofit/>
          </a:bodyPr>
          <a:lstStyle/>
          <a:p>
            <a:pPr marL="0" indent="0">
              <a:buNone/>
            </a:pPr>
            <a:r>
              <a:rPr lang="en-US" sz="940" b="1" dirty="0">
                <a:solidFill>
                  <a:srgbClr val="0F172A"/>
                </a:solidFill>
                <a:latin typeface="Consolas" panose="020B0609020204030204" pitchFamily="34" charset="0"/>
                <a:ea typeface="Consolas" panose="020B0609020204030204" pitchFamily="34" charset="-122"/>
                <a:cs typeface="Consolas" panose="020B0609020204030204" pitchFamily="34" charset="-120"/>
              </a:rPr>
              <a:t>AI_USAGE_LOG.md</a:t>
            </a:r>
            <a:endParaRPr lang="en-US" sz="940" dirty="0"/>
          </a:p>
        </p:txBody>
      </p:sp>
      <p:sp>
        <p:nvSpPr>
          <p:cNvPr id="37" name="Text 35"/>
          <p:cNvSpPr/>
          <p:nvPr/>
        </p:nvSpPr>
        <p:spPr>
          <a:xfrm>
            <a:off x="6867144" y="4617720"/>
            <a:ext cx="4160520" cy="201168"/>
          </a:xfrm>
          <a:prstGeom prst="rect">
            <a:avLst/>
          </a:prstGeom>
          <a:noFill/>
        </p:spPr>
        <p:txBody>
          <a:bodyPr wrap="square" lIns="0" tIns="0" rIns="0" bIns="0" rtlCol="0" anchor="ctr">
            <a:normAutofit/>
          </a:bodyPr>
          <a:lstStyle/>
          <a:p>
            <a:pPr marL="0" indent="0">
              <a:buNone/>
            </a:pPr>
            <a:r>
              <a:rPr lang="en-US" sz="890" dirty="0">
                <a:solidFill>
                  <a:srgbClr val="64748B"/>
                </a:solidFill>
                <a:latin typeface="Aptos" pitchFamily="34" charset="0"/>
                <a:ea typeface="Aptos" pitchFamily="34" charset="-122"/>
                <a:cs typeface="Aptos" pitchFamily="34" charset="-120"/>
              </a:rPr>
              <a:t>How AI assistance was used</a:t>
            </a:r>
            <a:endParaRPr lang="en-US" sz="890" dirty="0"/>
          </a:p>
        </p:txBody>
      </p:sp>
      <p:sp>
        <p:nvSpPr>
          <p:cNvPr id="38" name="Shape 36"/>
          <p:cNvSpPr/>
          <p:nvPr/>
        </p:nvSpPr>
        <p:spPr>
          <a:xfrm>
            <a:off x="530352" y="5440680"/>
            <a:ext cx="11128248" cy="667512"/>
          </a:xfrm>
          <a:prstGeom prst="roundRect">
            <a:avLst>
              <a:gd name="adj" fmla="val 10959"/>
            </a:avLst>
          </a:prstGeom>
          <a:solidFill>
            <a:srgbClr val="FFFFFF"/>
          </a:solidFill>
          <a:ln w="12700">
            <a:solidFill>
              <a:srgbClr val="E2E8F0">
                <a:alpha val="90000"/>
              </a:srgbClr>
            </a:solidFill>
            <a:prstDash val="solid"/>
          </a:ln>
        </p:spPr>
        <p:txBody>
          <a:bodyPr/>
          <a:p/>
        </p:txBody>
      </p:sp>
      <p:sp>
        <p:nvSpPr>
          <p:cNvPr id="39" name="Text 37"/>
          <p:cNvSpPr/>
          <p:nvPr/>
        </p:nvSpPr>
        <p:spPr>
          <a:xfrm>
            <a:off x="749808" y="5632704"/>
            <a:ext cx="10652760" cy="237744"/>
          </a:xfrm>
          <a:prstGeom prst="rect">
            <a:avLst/>
          </a:prstGeom>
          <a:noFill/>
        </p:spPr>
        <p:txBody>
          <a:bodyPr wrap="square" lIns="0" tIns="0" rIns="0" bIns="0" rtlCol="0" anchor="ctr">
            <a:normAutofit/>
          </a:bodyPr>
          <a:lstStyle/>
          <a:p>
            <a:pPr marL="0" indent="0" algn="ctr">
              <a:buNone/>
            </a:pPr>
            <a:r>
              <a:rPr lang="en-US" sz="950" dirty="0">
                <a:solidFill>
                  <a:srgbClr val="64748B"/>
                </a:solidFill>
                <a:latin typeface="Aptos" pitchFamily="34" charset="0"/>
                <a:ea typeface="Aptos" pitchFamily="34" charset="-122"/>
                <a:cs typeface="Aptos" pitchFamily="34" charset="-120"/>
              </a:rPr>
              <a:t>Evidence folders and attack artifacts are kept with the project; raw evidence directory is intentionally separate from the final report push.</a:t>
            </a:r>
            <a:endParaRPr lang="en-US" sz="950" dirty="0"/>
          </a:p>
        </p:txBody>
      </p:sp>
      <p:sp>
        <p:nvSpPr>
          <p:cNvPr id="40" name="Text 38"/>
          <p:cNvSpPr/>
          <p:nvPr/>
        </p:nvSpPr>
        <p:spPr>
          <a:xfrm>
            <a:off x="11109960" y="6556248"/>
            <a:ext cx="457200" cy="164592"/>
          </a:xfrm>
          <a:prstGeom prst="rect">
            <a:avLst/>
          </a:prstGeom>
          <a:noFill/>
        </p:spPr>
        <p:txBody>
          <a:bodyPr wrap="square" lIns="0" tIns="0" rIns="0" bIns="0" rtlCol="0" anchor="ctr"/>
          <a:lstStyle/>
          <a:p>
            <a:pPr marL="0" indent="0" algn="r">
              <a:buNone/>
            </a:pPr>
            <a:r>
              <a:rPr lang="en-US" sz="800" dirty="0">
                <a:solidFill>
                  <a:srgbClr val="64748B"/>
                </a:solidFill>
                <a:latin typeface="Aptos" pitchFamily="34" charset="0"/>
                <a:ea typeface="Aptos" pitchFamily="34" charset="-122"/>
                <a:cs typeface="Aptos"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320040"/>
            <a:ext cx="11365992" cy="0"/>
          </a:xfrm>
          <a:prstGeom prst="line">
            <a:avLst/>
          </a:prstGeom>
          <a:noFill/>
          <a:ln w="12700">
            <a:solidFill>
              <a:srgbClr val="E2E8F0"/>
            </a:solidFill>
            <a:prstDash val="solid"/>
          </a:ln>
        </p:spPr>
        <p:txBody>
          <a:bodyPr/>
          <a:p/>
        </p:txBody>
      </p:sp>
      <p:sp>
        <p:nvSpPr>
          <p:cNvPr id="3" name="Shape 1"/>
          <p:cNvSpPr/>
          <p:nvPr/>
        </p:nvSpPr>
        <p:spPr>
          <a:xfrm>
            <a:off x="411480" y="6492240"/>
            <a:ext cx="11365992" cy="0"/>
          </a:xfrm>
          <a:prstGeom prst="line">
            <a:avLst/>
          </a:prstGeom>
          <a:noFill/>
          <a:ln w="12700">
            <a:solidFill>
              <a:srgbClr val="E2E8F0"/>
            </a:solidFill>
            <a:prstDash val="solid"/>
          </a:ln>
        </p:spPr>
        <p:txBody>
          <a:bodyPr/>
          <a:p/>
        </p:txBody>
      </p:sp>
      <p:sp>
        <p:nvSpPr>
          <p:cNvPr id="4" name="Shape 2"/>
          <p:cNvSpPr/>
          <p:nvPr/>
        </p:nvSpPr>
        <p:spPr>
          <a:xfrm rot="1080000">
            <a:off x="10744200" y="-640080"/>
            <a:ext cx="1920240" cy="1920240"/>
          </a:xfrm>
          <a:prstGeom prst="arc">
            <a:avLst/>
          </a:prstGeom>
          <a:solidFill>
            <a:srgbClr val="FFFFFF">
              <a:alpha val="0"/>
            </a:srgbClr>
          </a:solidFill>
          <a:ln w="12700">
            <a:solidFill>
              <a:srgbClr val="E2E8F0">
                <a:alpha val="55000"/>
              </a:srgbClr>
            </a:solidFill>
            <a:prstDash val="solid"/>
          </a:ln>
        </p:spPr>
        <p:txBody>
          <a:bodyPr/>
          <a:p/>
        </p:txBody>
      </p:sp>
      <p:sp>
        <p:nvSpPr>
          <p:cNvPr id="5" name="Text 3"/>
          <p:cNvSpPr/>
          <p:nvPr/>
        </p:nvSpPr>
        <p:spPr>
          <a:xfrm>
            <a:off x="502920" y="73152"/>
            <a:ext cx="3840480" cy="182880"/>
          </a:xfrm>
          <a:prstGeom prst="rect">
            <a:avLst/>
          </a:prstGeom>
          <a:noFill/>
        </p:spPr>
        <p:txBody>
          <a:bodyPr wrap="square" lIns="0" tIns="0" rIns="0" bIns="0" rtlCol="0" anchor="ctr"/>
          <a:lstStyle/>
          <a:p>
            <a:pPr marL="0" indent="0">
              <a:buNone/>
            </a:pPr>
            <a:r>
              <a:rPr lang="en-US" sz="900" b="1" kern="0" spc="140" dirty="0">
                <a:solidFill>
                  <a:srgbClr val="0E7490"/>
                </a:solidFill>
                <a:latin typeface="Aptos" pitchFamily="34" charset="0"/>
                <a:ea typeface="Aptos" pitchFamily="34" charset="-122"/>
                <a:cs typeface="Aptos" pitchFamily="34" charset="-120"/>
              </a:rPr>
              <a:t>CONCLUSION</a:t>
            </a:r>
            <a:endParaRPr lang="en-US" sz="900" dirty="0"/>
          </a:p>
        </p:txBody>
      </p:sp>
      <p:sp>
        <p:nvSpPr>
          <p:cNvPr id="6" name="Text 4"/>
          <p:cNvSpPr/>
          <p:nvPr/>
        </p:nvSpPr>
        <p:spPr>
          <a:xfrm>
            <a:off x="502920" y="530352"/>
            <a:ext cx="10561320" cy="502920"/>
          </a:xfrm>
          <a:prstGeom prst="rect">
            <a:avLst/>
          </a:prstGeom>
          <a:noFill/>
        </p:spPr>
        <p:txBody>
          <a:bodyPr wrap="square" lIns="0" tIns="0" rIns="0" bIns="0" rtlCol="0" anchor="ctr">
            <a:normAutofit/>
          </a:bodyP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16 • Final Security State</a:t>
            </a:r>
            <a:endParaRPr lang="en-US" sz="2500" dirty="0"/>
          </a:p>
        </p:txBody>
      </p:sp>
      <p:sp>
        <p:nvSpPr>
          <p:cNvPr id="7" name="Text 5"/>
          <p:cNvSpPr/>
          <p:nvPr/>
        </p:nvSpPr>
        <p:spPr>
          <a:xfrm>
            <a:off x="530352" y="1060704"/>
            <a:ext cx="10332720" cy="347472"/>
          </a:xfrm>
          <a:prstGeom prst="rect">
            <a:avLst/>
          </a:prstGeom>
          <a:noFill/>
        </p:spPr>
        <p:txBody>
          <a:bodyPr wrap="square" lIns="0" tIns="0" rIns="0" bIns="0" rtlCol="0" anchor="ctr">
            <a:normAutofit/>
          </a:bodyPr>
          <a:lstStyle/>
          <a:p>
            <a:pPr marL="0" indent="0">
              <a:buNone/>
            </a:pPr>
            <a:r>
              <a:rPr lang="en-US" sz="1150" dirty="0">
                <a:solidFill>
                  <a:srgbClr val="64748B"/>
                </a:solidFill>
                <a:latin typeface="Aptos" pitchFamily="34" charset="0"/>
                <a:ea typeface="Aptos" pitchFamily="34" charset="-122"/>
                <a:cs typeface="Aptos" pitchFamily="34" charset="-120"/>
              </a:rPr>
              <a:t>The result is not “perfect security.” It is measured risk reduction with documented residuals.</a:t>
            </a:r>
            <a:endParaRPr lang="en-US" sz="1150" dirty="0"/>
          </a:p>
        </p:txBody>
      </p:sp>
      <p:sp>
        <p:nvSpPr>
          <p:cNvPr id="8" name="Shape 6"/>
          <p:cNvSpPr/>
          <p:nvPr/>
        </p:nvSpPr>
        <p:spPr>
          <a:xfrm>
            <a:off x="530352" y="1645920"/>
            <a:ext cx="6720840" cy="804672"/>
          </a:xfrm>
          <a:prstGeom prst="roundRect">
            <a:avLst>
              <a:gd name="adj" fmla="val 9091"/>
            </a:avLst>
          </a:prstGeom>
          <a:solidFill>
            <a:srgbClr val="F8FAFC"/>
          </a:solidFill>
          <a:ln w="12700">
            <a:solidFill>
              <a:srgbClr val="E2E8F0">
                <a:alpha val="90000"/>
              </a:srgbClr>
            </a:solidFill>
            <a:prstDash val="solid"/>
          </a:ln>
        </p:spPr>
        <p:txBody>
          <a:bodyPr/>
          <a:p/>
        </p:txBody>
      </p:sp>
      <p:sp>
        <p:nvSpPr>
          <p:cNvPr id="9" name="Shape 7"/>
          <p:cNvSpPr/>
          <p:nvPr/>
        </p:nvSpPr>
        <p:spPr>
          <a:xfrm>
            <a:off x="749808" y="1874520"/>
            <a:ext cx="1051560" cy="292608"/>
          </a:xfrm>
          <a:prstGeom prst="roundRect">
            <a:avLst>
              <a:gd name="adj" fmla="val 25000"/>
            </a:avLst>
          </a:prstGeom>
          <a:solidFill>
            <a:srgbClr val="56E0FF">
              <a:alpha val="14000"/>
            </a:srgbClr>
          </a:solidFill>
          <a:ln w="12700">
            <a:solidFill>
              <a:srgbClr val="0E7490">
                <a:alpha val="0"/>
              </a:srgbClr>
            </a:solidFill>
            <a:prstDash val="solid"/>
          </a:ln>
        </p:spPr>
        <p:txBody>
          <a:bodyPr/>
          <a:p/>
        </p:txBody>
      </p:sp>
      <p:sp>
        <p:nvSpPr>
          <p:cNvPr id="10" name="Text 8"/>
          <p:cNvSpPr/>
          <p:nvPr/>
        </p:nvSpPr>
        <p:spPr>
          <a:xfrm>
            <a:off x="822960" y="1924812"/>
            <a:ext cx="905256" cy="146304"/>
          </a:xfrm>
          <a:prstGeom prst="rect">
            <a:avLst/>
          </a:prstGeom>
          <a:noFill/>
        </p:spPr>
        <p:txBody>
          <a:bodyPr wrap="square" lIns="0" tIns="0" rIns="0" bIns="0" rtlCol="0" anchor="ctr">
            <a:normAutofit/>
          </a:bodyPr>
          <a:lstStyle/>
          <a:p>
            <a:pPr marL="0" indent="0" algn="ctr">
              <a:buNone/>
            </a:pPr>
            <a:r>
              <a:rPr lang="en-US" sz="850" b="1" dirty="0">
                <a:solidFill>
                  <a:srgbClr val="0E7490"/>
                </a:solidFill>
                <a:latin typeface="Aptos" pitchFamily="34" charset="0"/>
                <a:ea typeface="Aptos" pitchFamily="34" charset="-122"/>
                <a:cs typeface="Aptos" pitchFamily="34" charset="-120"/>
              </a:rPr>
              <a:t>MODEL</a:t>
            </a:r>
            <a:endParaRPr lang="en-US" sz="850" dirty="0"/>
          </a:p>
        </p:txBody>
      </p:sp>
      <p:sp>
        <p:nvSpPr>
          <p:cNvPr id="11" name="Text 9"/>
          <p:cNvSpPr/>
          <p:nvPr/>
        </p:nvSpPr>
        <p:spPr>
          <a:xfrm>
            <a:off x="1993392" y="1847088"/>
            <a:ext cx="4919472" cy="274320"/>
          </a:xfrm>
          <a:prstGeom prst="rect">
            <a:avLst/>
          </a:prstGeom>
          <a:noFill/>
        </p:spPr>
        <p:txBody>
          <a:bodyPr wrap="square" lIns="0" tIns="0" rIns="0" bIns="0" rtlCol="0" anchor="ctr">
            <a:normAutofit/>
          </a:bodyPr>
          <a:lstStyle/>
          <a:p>
            <a:pPr marL="0" indent="0">
              <a:buNone/>
            </a:pPr>
            <a:r>
              <a:rPr lang="en-US" sz="1000" dirty="0">
                <a:solidFill>
                  <a:srgbClr val="334155"/>
                </a:solidFill>
                <a:latin typeface="Aptos" pitchFamily="34" charset="0"/>
                <a:ea typeface="Aptos" pitchFamily="34" charset="-122"/>
                <a:cs typeface="Aptos" pitchFamily="34" charset="-120"/>
              </a:rPr>
              <a:t>99.07% baseline • FGSM/PGD succeeded on the selected sample</a:t>
            </a:r>
            <a:endParaRPr lang="en-US" sz="1000" dirty="0"/>
          </a:p>
        </p:txBody>
      </p:sp>
      <p:sp>
        <p:nvSpPr>
          <p:cNvPr id="12" name="Shape 10"/>
          <p:cNvSpPr/>
          <p:nvPr/>
        </p:nvSpPr>
        <p:spPr>
          <a:xfrm>
            <a:off x="530352" y="2651760"/>
            <a:ext cx="6720840" cy="804672"/>
          </a:xfrm>
          <a:prstGeom prst="roundRect">
            <a:avLst>
              <a:gd name="adj" fmla="val 9091"/>
            </a:avLst>
          </a:prstGeom>
          <a:solidFill>
            <a:srgbClr val="F8FAFC"/>
          </a:solidFill>
          <a:ln w="12700">
            <a:solidFill>
              <a:srgbClr val="E2E8F0">
                <a:alpha val="90000"/>
              </a:srgbClr>
            </a:solidFill>
            <a:prstDash val="solid"/>
          </a:ln>
        </p:spPr>
        <p:txBody>
          <a:bodyPr/>
          <a:p/>
        </p:txBody>
      </p:sp>
      <p:sp>
        <p:nvSpPr>
          <p:cNvPr id="13" name="Shape 11"/>
          <p:cNvSpPr/>
          <p:nvPr/>
        </p:nvSpPr>
        <p:spPr>
          <a:xfrm>
            <a:off x="749808" y="2880360"/>
            <a:ext cx="1051560" cy="292608"/>
          </a:xfrm>
          <a:prstGeom prst="roundRect">
            <a:avLst>
              <a:gd name="adj" fmla="val 25000"/>
            </a:avLst>
          </a:prstGeom>
          <a:solidFill>
            <a:srgbClr val="59D68C">
              <a:alpha val="14000"/>
            </a:srgbClr>
          </a:solidFill>
          <a:ln w="12700">
            <a:solidFill>
              <a:srgbClr val="15803D">
                <a:alpha val="0"/>
              </a:srgbClr>
            </a:solidFill>
            <a:prstDash val="solid"/>
          </a:ln>
        </p:spPr>
        <p:txBody>
          <a:bodyPr/>
          <a:p/>
        </p:txBody>
      </p:sp>
      <p:sp>
        <p:nvSpPr>
          <p:cNvPr id="14" name="Text 12"/>
          <p:cNvSpPr/>
          <p:nvPr/>
        </p:nvSpPr>
        <p:spPr>
          <a:xfrm>
            <a:off x="822960" y="2930652"/>
            <a:ext cx="905256" cy="146304"/>
          </a:xfrm>
          <a:prstGeom prst="rect">
            <a:avLst/>
          </a:prstGeom>
          <a:noFill/>
        </p:spPr>
        <p:txBody>
          <a:bodyPr wrap="square" lIns="0" tIns="0" rIns="0" bIns="0" rtlCol="0" anchor="ctr">
            <a:normAutofit/>
          </a:bodyPr>
          <a:lstStyle/>
          <a:p>
            <a:pPr marL="0" indent="0" algn="ctr">
              <a:buNone/>
            </a:pPr>
            <a:r>
              <a:rPr lang="en-US" sz="850" b="1" dirty="0">
                <a:solidFill>
                  <a:srgbClr val="15803D"/>
                </a:solidFill>
                <a:latin typeface="Aptos" pitchFamily="34" charset="0"/>
                <a:ea typeface="Aptos" pitchFamily="34" charset="-122"/>
                <a:cs typeface="Aptos" pitchFamily="34" charset="-120"/>
              </a:rPr>
              <a:t>API</a:t>
            </a:r>
            <a:endParaRPr lang="en-US" sz="850" dirty="0"/>
          </a:p>
        </p:txBody>
      </p:sp>
      <p:sp>
        <p:nvSpPr>
          <p:cNvPr id="15" name="Text 13"/>
          <p:cNvSpPr/>
          <p:nvPr/>
        </p:nvSpPr>
        <p:spPr>
          <a:xfrm>
            <a:off x="1993392" y="2852928"/>
            <a:ext cx="4919472" cy="274320"/>
          </a:xfrm>
          <a:prstGeom prst="rect">
            <a:avLst/>
          </a:prstGeom>
          <a:noFill/>
        </p:spPr>
        <p:txBody>
          <a:bodyPr wrap="square" lIns="0" tIns="0" rIns="0" bIns="0" rtlCol="0" anchor="ctr">
            <a:normAutofit/>
          </a:bodyPr>
          <a:lstStyle/>
          <a:p>
            <a:pPr marL="0" indent="0">
              <a:buNone/>
            </a:pPr>
            <a:r>
              <a:rPr lang="en-US" sz="1000" dirty="0">
                <a:solidFill>
                  <a:srgbClr val="334155"/>
                </a:solidFill>
                <a:latin typeface="Aptos" pitchFamily="34" charset="0"/>
                <a:ea typeface="Aptos" pitchFamily="34" charset="-122"/>
                <a:cs typeface="Aptos" pitchFamily="34" charset="-120"/>
              </a:rPr>
              <a:t>Metadata/docs removed • CORS narrowed • resource limits added</a:t>
            </a:r>
            <a:endParaRPr lang="en-US" sz="1000" dirty="0"/>
          </a:p>
        </p:txBody>
      </p:sp>
      <p:sp>
        <p:nvSpPr>
          <p:cNvPr id="16" name="Shape 14"/>
          <p:cNvSpPr/>
          <p:nvPr/>
        </p:nvSpPr>
        <p:spPr>
          <a:xfrm>
            <a:off x="530352" y="3657600"/>
            <a:ext cx="6720840" cy="804672"/>
          </a:xfrm>
          <a:prstGeom prst="roundRect">
            <a:avLst>
              <a:gd name="adj" fmla="val 9091"/>
            </a:avLst>
          </a:prstGeom>
          <a:solidFill>
            <a:srgbClr val="F8FAFC"/>
          </a:solidFill>
          <a:ln w="12700">
            <a:solidFill>
              <a:srgbClr val="E2E8F0">
                <a:alpha val="90000"/>
              </a:srgbClr>
            </a:solidFill>
            <a:prstDash val="solid"/>
          </a:ln>
        </p:spPr>
        <p:txBody>
          <a:bodyPr/>
          <a:p/>
        </p:txBody>
      </p:sp>
      <p:sp>
        <p:nvSpPr>
          <p:cNvPr id="17" name="Shape 15"/>
          <p:cNvSpPr/>
          <p:nvPr/>
        </p:nvSpPr>
        <p:spPr>
          <a:xfrm>
            <a:off x="749808" y="3886200"/>
            <a:ext cx="1051560" cy="292608"/>
          </a:xfrm>
          <a:prstGeom prst="roundRect">
            <a:avLst>
              <a:gd name="adj" fmla="val 25000"/>
            </a:avLst>
          </a:prstGeom>
          <a:solidFill>
            <a:srgbClr val="59D68C">
              <a:alpha val="14000"/>
            </a:srgbClr>
          </a:solidFill>
          <a:ln w="12700">
            <a:solidFill>
              <a:srgbClr val="15803D">
                <a:alpha val="0"/>
              </a:srgbClr>
            </a:solidFill>
            <a:prstDash val="solid"/>
          </a:ln>
        </p:spPr>
        <p:txBody>
          <a:bodyPr/>
          <a:p/>
        </p:txBody>
      </p:sp>
      <p:sp>
        <p:nvSpPr>
          <p:cNvPr id="18" name="Text 16"/>
          <p:cNvSpPr/>
          <p:nvPr/>
        </p:nvSpPr>
        <p:spPr>
          <a:xfrm>
            <a:off x="822960" y="3936492"/>
            <a:ext cx="905256" cy="146304"/>
          </a:xfrm>
          <a:prstGeom prst="rect">
            <a:avLst/>
          </a:prstGeom>
          <a:noFill/>
        </p:spPr>
        <p:txBody>
          <a:bodyPr wrap="square" lIns="0" tIns="0" rIns="0" bIns="0" rtlCol="0" anchor="ctr">
            <a:normAutofit/>
          </a:bodyPr>
          <a:lstStyle/>
          <a:p>
            <a:pPr marL="0" indent="0" algn="ctr">
              <a:buNone/>
            </a:pPr>
            <a:r>
              <a:rPr lang="en-US" sz="850" b="1" dirty="0">
                <a:solidFill>
                  <a:srgbClr val="15803D"/>
                </a:solidFill>
                <a:latin typeface="Aptos" pitchFamily="34" charset="0"/>
                <a:ea typeface="Aptos" pitchFamily="34" charset="-122"/>
                <a:cs typeface="Aptos" pitchFamily="34" charset="-120"/>
              </a:rPr>
              <a:t>DOCKER</a:t>
            </a:r>
            <a:endParaRPr lang="en-US" sz="850" dirty="0"/>
          </a:p>
        </p:txBody>
      </p:sp>
      <p:sp>
        <p:nvSpPr>
          <p:cNvPr id="19" name="Text 17"/>
          <p:cNvSpPr/>
          <p:nvPr/>
        </p:nvSpPr>
        <p:spPr>
          <a:xfrm>
            <a:off x="1993392" y="3858768"/>
            <a:ext cx="4919472" cy="274320"/>
          </a:xfrm>
          <a:prstGeom prst="rect">
            <a:avLst/>
          </a:prstGeom>
          <a:noFill/>
        </p:spPr>
        <p:txBody>
          <a:bodyPr wrap="square" lIns="0" tIns="0" rIns="0" bIns="0" rtlCol="0" anchor="ctr">
            <a:normAutofit/>
          </a:bodyPr>
          <a:lstStyle/>
          <a:p>
            <a:pPr marL="0" indent="0">
              <a:buNone/>
            </a:pPr>
            <a:r>
              <a:rPr lang="en-US" sz="1000" dirty="0">
                <a:solidFill>
                  <a:srgbClr val="334155"/>
                </a:solidFill>
                <a:latin typeface="Aptos" pitchFamily="34" charset="0"/>
                <a:ea typeface="Aptos" pitchFamily="34" charset="-122"/>
                <a:cs typeface="Aptos" pitchFamily="34" charset="-120"/>
              </a:rPr>
              <a:t>Non-root • no-new-privileges • all capabilities dropped • read-only root</a:t>
            </a:r>
            <a:endParaRPr lang="en-US" sz="1000" dirty="0"/>
          </a:p>
        </p:txBody>
      </p:sp>
      <p:sp>
        <p:nvSpPr>
          <p:cNvPr id="20" name="Shape 18"/>
          <p:cNvSpPr/>
          <p:nvPr/>
        </p:nvSpPr>
        <p:spPr>
          <a:xfrm>
            <a:off x="530352" y="4663440"/>
            <a:ext cx="6720840" cy="804672"/>
          </a:xfrm>
          <a:prstGeom prst="roundRect">
            <a:avLst>
              <a:gd name="adj" fmla="val 9091"/>
            </a:avLst>
          </a:prstGeom>
          <a:solidFill>
            <a:srgbClr val="F8FAFC"/>
          </a:solidFill>
          <a:ln w="12700">
            <a:solidFill>
              <a:srgbClr val="E2E8F0">
                <a:alpha val="90000"/>
              </a:srgbClr>
            </a:solidFill>
            <a:prstDash val="solid"/>
          </a:ln>
        </p:spPr>
        <p:txBody>
          <a:bodyPr/>
          <a:p/>
        </p:txBody>
      </p:sp>
      <p:sp>
        <p:nvSpPr>
          <p:cNvPr id="21" name="Shape 19"/>
          <p:cNvSpPr/>
          <p:nvPr/>
        </p:nvSpPr>
        <p:spPr>
          <a:xfrm>
            <a:off x="749808" y="4892040"/>
            <a:ext cx="1051560" cy="292608"/>
          </a:xfrm>
          <a:prstGeom prst="roundRect">
            <a:avLst>
              <a:gd name="adj" fmla="val 25000"/>
            </a:avLst>
          </a:prstGeom>
          <a:solidFill>
            <a:srgbClr val="59D68C">
              <a:alpha val="14000"/>
            </a:srgbClr>
          </a:solidFill>
          <a:ln w="12700">
            <a:solidFill>
              <a:srgbClr val="15803D">
                <a:alpha val="0"/>
              </a:srgbClr>
            </a:solidFill>
            <a:prstDash val="solid"/>
          </a:ln>
        </p:spPr>
        <p:txBody>
          <a:bodyPr/>
          <a:p/>
        </p:txBody>
      </p:sp>
      <p:sp>
        <p:nvSpPr>
          <p:cNvPr id="22" name="Text 20"/>
          <p:cNvSpPr/>
          <p:nvPr/>
        </p:nvSpPr>
        <p:spPr>
          <a:xfrm>
            <a:off x="822960" y="4942332"/>
            <a:ext cx="905256" cy="146304"/>
          </a:xfrm>
          <a:prstGeom prst="rect">
            <a:avLst/>
          </a:prstGeom>
          <a:noFill/>
        </p:spPr>
        <p:txBody>
          <a:bodyPr wrap="square" lIns="0" tIns="0" rIns="0" bIns="0" rtlCol="0" anchor="ctr">
            <a:normAutofit/>
          </a:bodyPr>
          <a:lstStyle/>
          <a:p>
            <a:pPr marL="0" indent="0" algn="ctr">
              <a:buNone/>
            </a:pPr>
            <a:r>
              <a:rPr lang="en-US" sz="850" b="1" dirty="0">
                <a:solidFill>
                  <a:srgbClr val="15803D"/>
                </a:solidFill>
                <a:latin typeface="Aptos" pitchFamily="34" charset="0"/>
                <a:ea typeface="Aptos" pitchFamily="34" charset="-122"/>
                <a:cs typeface="Aptos" pitchFamily="34" charset="-120"/>
              </a:rPr>
              <a:t>MITIGATION</a:t>
            </a:r>
            <a:endParaRPr lang="en-US" sz="850" dirty="0"/>
          </a:p>
        </p:txBody>
      </p:sp>
      <p:sp>
        <p:nvSpPr>
          <p:cNvPr id="23" name="Text 21"/>
          <p:cNvSpPr/>
          <p:nvPr/>
        </p:nvSpPr>
        <p:spPr>
          <a:xfrm>
            <a:off x="1993392" y="4864608"/>
            <a:ext cx="4919472" cy="274320"/>
          </a:xfrm>
          <a:prstGeom prst="rect">
            <a:avLst/>
          </a:prstGeom>
          <a:noFill/>
        </p:spPr>
        <p:txBody>
          <a:bodyPr wrap="square" lIns="0" tIns="0" rIns="0" bIns="0" rtlCol="0" anchor="ctr">
            <a:normAutofit/>
          </a:bodyPr>
          <a:lstStyle/>
          <a:p>
            <a:pPr marL="0" indent="0">
              <a:buNone/>
            </a:pPr>
            <a:r>
              <a:rPr lang="en-US" sz="1000" dirty="0">
                <a:solidFill>
                  <a:srgbClr val="334155"/>
                </a:solidFill>
                <a:latin typeface="Aptos" pitchFamily="34" charset="0"/>
                <a:ea typeface="Aptos" pitchFamily="34" charset="-122"/>
                <a:cs typeface="Aptos" pitchFamily="34" charset="-120"/>
              </a:rPr>
              <a:t>Defended checkpoint resisted the tested FGSM/PGD sample</a:t>
            </a:r>
            <a:endParaRPr lang="en-US" sz="1000" dirty="0"/>
          </a:p>
        </p:txBody>
      </p:sp>
      <p:sp>
        <p:nvSpPr>
          <p:cNvPr id="24" name="Shape 22"/>
          <p:cNvSpPr/>
          <p:nvPr/>
        </p:nvSpPr>
        <p:spPr>
          <a:xfrm>
            <a:off x="7498080" y="1645920"/>
            <a:ext cx="4160520" cy="4553712"/>
          </a:xfrm>
          <a:prstGeom prst="roundRect">
            <a:avLst>
              <a:gd name="adj" fmla="val 1758"/>
            </a:avLst>
          </a:prstGeom>
          <a:solidFill>
            <a:srgbClr val="F1F5F9"/>
          </a:solidFill>
          <a:ln w="12700">
            <a:solidFill>
              <a:srgbClr val="E2E8F0">
                <a:alpha val="90000"/>
              </a:srgbClr>
            </a:solidFill>
            <a:prstDash val="solid"/>
          </a:ln>
        </p:spPr>
        <p:txBody>
          <a:bodyPr/>
          <a:p/>
        </p:txBody>
      </p:sp>
      <p:sp>
        <p:nvSpPr>
          <p:cNvPr id="25" name="Shape 23"/>
          <p:cNvSpPr/>
          <p:nvPr/>
        </p:nvSpPr>
        <p:spPr>
          <a:xfrm>
            <a:off x="7726680" y="1901952"/>
            <a:ext cx="45720" cy="274320"/>
          </a:xfrm>
          <a:prstGeom prst="rect">
            <a:avLst/>
          </a:prstGeom>
          <a:solidFill>
            <a:srgbClr val="FFC857"/>
          </a:solidFill>
          <a:ln w="12700">
            <a:solidFill>
              <a:srgbClr val="A16207"/>
            </a:solidFill>
            <a:prstDash val="solid"/>
          </a:ln>
        </p:spPr>
        <p:txBody>
          <a:bodyPr/>
          <a:p/>
        </p:txBody>
      </p:sp>
      <p:sp>
        <p:nvSpPr>
          <p:cNvPr id="26" name="Text 24"/>
          <p:cNvSpPr/>
          <p:nvPr/>
        </p:nvSpPr>
        <p:spPr>
          <a:xfrm>
            <a:off x="7854696" y="1897380"/>
            <a:ext cx="3575304" cy="274320"/>
          </a:xfrm>
          <a:prstGeom prst="rect">
            <a:avLst/>
          </a:prstGeom>
          <a:noFill/>
        </p:spPr>
        <p:txBody>
          <a:bodyPr wrap="square" lIns="0" tIns="0" rIns="0" bIns="0" rtlCol="0" anchor="ctr">
            <a:normAutofit/>
          </a:bodyPr>
          <a:lstStyle/>
          <a:p>
            <a:pPr marL="0" indent="0">
              <a:buNone/>
            </a:pPr>
            <a:r>
              <a:rPr lang="en-US" sz="1250" b="1" dirty="0">
                <a:solidFill>
                  <a:srgbClr val="0F172A"/>
                </a:solidFill>
                <a:latin typeface="Aptos" pitchFamily="34" charset="0"/>
                <a:ea typeface="Aptos" pitchFamily="34" charset="-122"/>
                <a:cs typeface="Aptos" pitchFamily="34" charset="-120"/>
              </a:rPr>
              <a:t>Residual risks</a:t>
            </a:r>
            <a:endParaRPr lang="en-US" sz="1250" dirty="0"/>
          </a:p>
        </p:txBody>
      </p:sp>
      <p:sp>
        <p:nvSpPr>
          <p:cNvPr id="27" name="Shape 25"/>
          <p:cNvSpPr/>
          <p:nvPr/>
        </p:nvSpPr>
        <p:spPr>
          <a:xfrm>
            <a:off x="7726680" y="2514600"/>
            <a:ext cx="68580" cy="68580"/>
          </a:xfrm>
          <a:prstGeom prst="ellipse">
            <a:avLst/>
          </a:prstGeom>
          <a:solidFill>
            <a:srgbClr val="FFC857"/>
          </a:solidFill>
          <a:ln w="12700">
            <a:solidFill>
              <a:srgbClr val="A16207"/>
            </a:solidFill>
            <a:prstDash val="solid"/>
          </a:ln>
        </p:spPr>
        <p:txBody>
          <a:bodyPr/>
          <a:p/>
        </p:txBody>
      </p:sp>
      <p:sp>
        <p:nvSpPr>
          <p:cNvPr id="28" name="Text 26"/>
          <p:cNvSpPr/>
          <p:nvPr/>
        </p:nvSpPr>
        <p:spPr>
          <a:xfrm>
            <a:off x="7872984" y="2414016"/>
            <a:ext cx="3374136" cy="292608"/>
          </a:xfrm>
          <a:prstGeom prst="rect">
            <a:avLst/>
          </a:prstGeom>
          <a:noFill/>
        </p:spPr>
        <p:txBody>
          <a:bodyPr wrap="square" lIns="0" tIns="0" rIns="0" bIns="0" rtlCol="0" anchor="ctr">
            <a:normAutofit/>
          </a:bodyPr>
          <a:lstStyle/>
          <a:p>
            <a:pPr marL="0" indent="0">
              <a:buNone/>
            </a:pPr>
            <a:r>
              <a:rPr lang="en-US" sz="990" dirty="0">
                <a:solidFill>
                  <a:srgbClr val="334155"/>
                </a:solidFill>
                <a:latin typeface="Aptos" pitchFamily="34" charset="0"/>
                <a:ea typeface="Aptos" pitchFamily="34" charset="-122"/>
                <a:cs typeface="Aptos" pitchFamily="34" charset="-120"/>
              </a:rPr>
              <a:t>No application authentication</a:t>
            </a:r>
            <a:endParaRPr lang="en-US" sz="990" dirty="0"/>
          </a:p>
        </p:txBody>
      </p:sp>
      <p:sp>
        <p:nvSpPr>
          <p:cNvPr id="29" name="Shape 27"/>
          <p:cNvSpPr/>
          <p:nvPr/>
        </p:nvSpPr>
        <p:spPr>
          <a:xfrm>
            <a:off x="7726680" y="3017520"/>
            <a:ext cx="68580" cy="68580"/>
          </a:xfrm>
          <a:prstGeom prst="ellipse">
            <a:avLst/>
          </a:prstGeom>
          <a:solidFill>
            <a:srgbClr val="FFC857"/>
          </a:solidFill>
          <a:ln w="12700">
            <a:solidFill>
              <a:srgbClr val="A16207"/>
            </a:solidFill>
            <a:prstDash val="solid"/>
          </a:ln>
        </p:spPr>
        <p:txBody>
          <a:bodyPr/>
          <a:p/>
        </p:txBody>
      </p:sp>
      <p:sp>
        <p:nvSpPr>
          <p:cNvPr id="30" name="Text 28"/>
          <p:cNvSpPr/>
          <p:nvPr/>
        </p:nvSpPr>
        <p:spPr>
          <a:xfrm>
            <a:off x="7872984" y="2916936"/>
            <a:ext cx="3374136" cy="292608"/>
          </a:xfrm>
          <a:prstGeom prst="rect">
            <a:avLst/>
          </a:prstGeom>
          <a:noFill/>
        </p:spPr>
        <p:txBody>
          <a:bodyPr wrap="square" lIns="0" tIns="0" rIns="0" bIns="0" rtlCol="0" anchor="ctr">
            <a:normAutofit/>
          </a:bodyPr>
          <a:lstStyle/>
          <a:p>
            <a:pPr marL="0" indent="0">
              <a:buNone/>
            </a:pPr>
            <a:r>
              <a:rPr lang="en-US" sz="990" dirty="0">
                <a:solidFill>
                  <a:srgbClr val="334155"/>
                </a:solidFill>
                <a:latin typeface="Aptos" pitchFamily="34" charset="0"/>
                <a:ea typeface="Aptos" pitchFamily="34" charset="-122"/>
                <a:cs typeface="Aptos" pitchFamily="34" charset="-120"/>
              </a:rPr>
              <a:t>No rate limiting</a:t>
            </a:r>
            <a:endParaRPr lang="en-US" sz="990" dirty="0"/>
          </a:p>
        </p:txBody>
      </p:sp>
      <p:sp>
        <p:nvSpPr>
          <p:cNvPr id="31" name="Shape 29"/>
          <p:cNvSpPr/>
          <p:nvPr/>
        </p:nvSpPr>
        <p:spPr>
          <a:xfrm>
            <a:off x="7726680" y="3520440"/>
            <a:ext cx="68580" cy="68580"/>
          </a:xfrm>
          <a:prstGeom prst="ellipse">
            <a:avLst/>
          </a:prstGeom>
          <a:solidFill>
            <a:srgbClr val="FFC857"/>
          </a:solidFill>
          <a:ln w="12700">
            <a:solidFill>
              <a:srgbClr val="A16207"/>
            </a:solidFill>
            <a:prstDash val="solid"/>
          </a:ln>
        </p:spPr>
        <p:txBody>
          <a:bodyPr/>
          <a:p/>
        </p:txBody>
      </p:sp>
      <p:sp>
        <p:nvSpPr>
          <p:cNvPr id="32" name="Text 30"/>
          <p:cNvSpPr/>
          <p:nvPr/>
        </p:nvSpPr>
        <p:spPr>
          <a:xfrm>
            <a:off x="7872984" y="3419856"/>
            <a:ext cx="3374136" cy="292608"/>
          </a:xfrm>
          <a:prstGeom prst="rect">
            <a:avLst/>
          </a:prstGeom>
          <a:noFill/>
        </p:spPr>
        <p:txBody>
          <a:bodyPr wrap="square" lIns="0" tIns="0" rIns="0" bIns="0" rtlCol="0" anchor="ctr">
            <a:normAutofit/>
          </a:bodyPr>
          <a:lstStyle/>
          <a:p>
            <a:pPr marL="0" indent="0">
              <a:buNone/>
            </a:pPr>
            <a:r>
              <a:rPr lang="en-US" sz="990" dirty="0">
                <a:solidFill>
                  <a:srgbClr val="334155"/>
                </a:solidFill>
                <a:latin typeface="Aptos" pitchFamily="34" charset="0"/>
                <a:ea typeface="Aptos" pitchFamily="34" charset="-122"/>
                <a:cs typeface="Aptos" pitchFamily="34" charset="-120"/>
              </a:rPr>
              <a:t>No network-level DoS controls</a:t>
            </a:r>
            <a:endParaRPr lang="en-US" sz="990" dirty="0"/>
          </a:p>
        </p:txBody>
      </p:sp>
      <p:sp>
        <p:nvSpPr>
          <p:cNvPr id="33" name="Shape 31"/>
          <p:cNvSpPr/>
          <p:nvPr/>
        </p:nvSpPr>
        <p:spPr>
          <a:xfrm>
            <a:off x="7726680" y="4023360"/>
            <a:ext cx="68580" cy="68580"/>
          </a:xfrm>
          <a:prstGeom prst="ellipse">
            <a:avLst/>
          </a:prstGeom>
          <a:solidFill>
            <a:srgbClr val="FFC857"/>
          </a:solidFill>
          <a:ln w="12700">
            <a:solidFill>
              <a:srgbClr val="A16207"/>
            </a:solidFill>
            <a:prstDash val="solid"/>
          </a:ln>
        </p:spPr>
        <p:txBody>
          <a:bodyPr/>
          <a:p/>
        </p:txBody>
      </p:sp>
      <p:sp>
        <p:nvSpPr>
          <p:cNvPr id="34" name="Text 32"/>
          <p:cNvSpPr/>
          <p:nvPr/>
        </p:nvSpPr>
        <p:spPr>
          <a:xfrm>
            <a:off x="7872984" y="3922776"/>
            <a:ext cx="3374136" cy="292608"/>
          </a:xfrm>
          <a:prstGeom prst="rect">
            <a:avLst/>
          </a:prstGeom>
          <a:noFill/>
        </p:spPr>
        <p:txBody>
          <a:bodyPr wrap="square" lIns="0" tIns="0" rIns="0" bIns="0" rtlCol="0" anchor="ctr">
            <a:normAutofit/>
          </a:bodyPr>
          <a:lstStyle/>
          <a:p>
            <a:pPr marL="0" indent="0">
              <a:buNone/>
            </a:pPr>
            <a:r>
              <a:rPr lang="en-US" sz="990" dirty="0">
                <a:solidFill>
                  <a:srgbClr val="334155"/>
                </a:solidFill>
                <a:latin typeface="Aptos" pitchFamily="34" charset="0"/>
                <a:ea typeface="Aptos" pitchFamily="34" charset="-122"/>
                <a:cs typeface="Aptos" pitchFamily="34" charset="-120"/>
              </a:rPr>
              <a:t>No model hash/signature verification</a:t>
            </a:r>
            <a:endParaRPr lang="en-US" sz="990" dirty="0"/>
          </a:p>
        </p:txBody>
      </p:sp>
      <p:sp>
        <p:nvSpPr>
          <p:cNvPr id="35" name="Shape 33"/>
          <p:cNvSpPr/>
          <p:nvPr/>
        </p:nvSpPr>
        <p:spPr>
          <a:xfrm>
            <a:off x="7726680" y="4526280"/>
            <a:ext cx="68580" cy="68580"/>
          </a:xfrm>
          <a:prstGeom prst="ellipse">
            <a:avLst/>
          </a:prstGeom>
          <a:solidFill>
            <a:srgbClr val="FFC857"/>
          </a:solidFill>
          <a:ln w="12700">
            <a:solidFill>
              <a:srgbClr val="A16207"/>
            </a:solidFill>
            <a:prstDash val="solid"/>
          </a:ln>
        </p:spPr>
        <p:txBody>
          <a:bodyPr/>
          <a:p/>
        </p:txBody>
      </p:sp>
      <p:sp>
        <p:nvSpPr>
          <p:cNvPr id="36" name="Text 34"/>
          <p:cNvSpPr/>
          <p:nvPr/>
        </p:nvSpPr>
        <p:spPr>
          <a:xfrm>
            <a:off x="7872984" y="4425696"/>
            <a:ext cx="3374136" cy="292608"/>
          </a:xfrm>
          <a:prstGeom prst="rect">
            <a:avLst/>
          </a:prstGeom>
          <a:noFill/>
        </p:spPr>
        <p:txBody>
          <a:bodyPr wrap="square" lIns="0" tIns="0" rIns="0" bIns="0" rtlCol="0" anchor="ctr">
            <a:normAutofit/>
          </a:bodyPr>
          <a:lstStyle/>
          <a:p>
            <a:pPr marL="0" indent="0">
              <a:buNone/>
            </a:pPr>
            <a:r>
              <a:rPr lang="en-US" sz="990" dirty="0">
                <a:solidFill>
                  <a:srgbClr val="334155"/>
                </a:solidFill>
                <a:latin typeface="Aptos" pitchFamily="34" charset="0"/>
                <a:ea typeface="Aptos" pitchFamily="34" charset="-122"/>
                <a:cs typeface="Aptos" pitchFamily="34" charset="-120"/>
              </a:rPr>
              <a:t>OOD rejection not implemented</a:t>
            </a:r>
            <a:endParaRPr lang="en-US" sz="990" dirty="0"/>
          </a:p>
        </p:txBody>
      </p:sp>
      <p:sp>
        <p:nvSpPr>
          <p:cNvPr id="37" name="Shape 35"/>
          <p:cNvSpPr/>
          <p:nvPr/>
        </p:nvSpPr>
        <p:spPr>
          <a:xfrm>
            <a:off x="7726680" y="5029200"/>
            <a:ext cx="68580" cy="68580"/>
          </a:xfrm>
          <a:prstGeom prst="ellipse">
            <a:avLst/>
          </a:prstGeom>
          <a:solidFill>
            <a:srgbClr val="FFC857"/>
          </a:solidFill>
          <a:ln w="12700">
            <a:solidFill>
              <a:srgbClr val="A16207"/>
            </a:solidFill>
            <a:prstDash val="solid"/>
          </a:ln>
        </p:spPr>
        <p:txBody>
          <a:bodyPr/>
          <a:p/>
        </p:txBody>
      </p:sp>
      <p:sp>
        <p:nvSpPr>
          <p:cNvPr id="38" name="Text 36"/>
          <p:cNvSpPr/>
          <p:nvPr/>
        </p:nvSpPr>
        <p:spPr>
          <a:xfrm>
            <a:off x="7872984" y="4928616"/>
            <a:ext cx="3374136" cy="292608"/>
          </a:xfrm>
          <a:prstGeom prst="rect">
            <a:avLst/>
          </a:prstGeom>
          <a:noFill/>
        </p:spPr>
        <p:txBody>
          <a:bodyPr wrap="square" lIns="0" tIns="0" rIns="0" bIns="0" rtlCol="0" anchor="ctr">
            <a:normAutofit/>
          </a:bodyPr>
          <a:lstStyle/>
          <a:p>
            <a:pPr marL="0" indent="0">
              <a:buNone/>
            </a:pPr>
            <a:r>
              <a:rPr lang="en-US" sz="990" dirty="0">
                <a:solidFill>
                  <a:srgbClr val="334155"/>
                </a:solidFill>
                <a:latin typeface="Aptos" pitchFamily="34" charset="0"/>
                <a:ea typeface="Aptos" pitchFamily="34" charset="-122"/>
                <a:cs typeface="Aptos" pitchFamily="34" charset="-120"/>
              </a:rPr>
              <a:t>Broader adversarial testing still recommended</a:t>
            </a:r>
            <a:endParaRPr lang="en-US" sz="990" dirty="0"/>
          </a:p>
        </p:txBody>
      </p:sp>
      <p:sp>
        <p:nvSpPr>
          <p:cNvPr id="39" name="Shape 37"/>
          <p:cNvSpPr/>
          <p:nvPr/>
        </p:nvSpPr>
        <p:spPr>
          <a:xfrm>
            <a:off x="749808" y="5733288"/>
            <a:ext cx="1920240" cy="292608"/>
          </a:xfrm>
          <a:prstGeom prst="roundRect">
            <a:avLst>
              <a:gd name="adj" fmla="val 25000"/>
            </a:avLst>
          </a:prstGeom>
          <a:solidFill>
            <a:srgbClr val="56E0FF">
              <a:alpha val="14000"/>
            </a:srgbClr>
          </a:solidFill>
          <a:ln w="12700">
            <a:solidFill>
              <a:srgbClr val="0E7490">
                <a:alpha val="0"/>
              </a:srgbClr>
            </a:solidFill>
            <a:prstDash val="solid"/>
          </a:ln>
        </p:spPr>
        <p:txBody>
          <a:bodyPr/>
          <a:p/>
        </p:txBody>
      </p:sp>
      <p:sp>
        <p:nvSpPr>
          <p:cNvPr id="40" name="Text 38"/>
          <p:cNvSpPr/>
          <p:nvPr/>
        </p:nvSpPr>
        <p:spPr>
          <a:xfrm>
            <a:off x="822960" y="5783580"/>
            <a:ext cx="1773936" cy="146304"/>
          </a:xfrm>
          <a:prstGeom prst="rect">
            <a:avLst/>
          </a:prstGeom>
          <a:noFill/>
        </p:spPr>
        <p:txBody>
          <a:bodyPr wrap="square" lIns="0" tIns="0" rIns="0" bIns="0" rtlCol="0" anchor="ctr">
            <a:normAutofit/>
          </a:bodyPr>
          <a:lstStyle/>
          <a:p>
            <a:pPr marL="0" indent="0" algn="ctr">
              <a:buNone/>
            </a:pPr>
            <a:r>
              <a:rPr lang="en-US" sz="850" b="1" dirty="0">
                <a:solidFill>
                  <a:srgbClr val="0E7490"/>
                </a:solidFill>
                <a:latin typeface="Aptos" pitchFamily="34" charset="0"/>
                <a:ea typeface="Aptos" pitchFamily="34" charset="-122"/>
                <a:cs typeface="Aptos" pitchFamily="34" charset="-120"/>
              </a:rPr>
              <a:t>KEY MESSAGE</a:t>
            </a:r>
            <a:endParaRPr lang="en-US" sz="850" dirty="0"/>
          </a:p>
        </p:txBody>
      </p:sp>
      <p:sp>
        <p:nvSpPr>
          <p:cNvPr id="41" name="Text 39"/>
          <p:cNvSpPr/>
          <p:nvPr/>
        </p:nvSpPr>
        <p:spPr>
          <a:xfrm>
            <a:off x="2880360" y="5733288"/>
            <a:ext cx="6949440" cy="228600"/>
          </a:xfrm>
          <a:prstGeom prst="rect">
            <a:avLst/>
          </a:prstGeom>
          <a:noFill/>
        </p:spPr>
        <p:txBody>
          <a:bodyPr wrap="square" lIns="0" tIns="0" rIns="0" bIns="0" rtlCol="0" anchor="ctr">
            <a:normAutofit/>
          </a:bodyPr>
          <a:lstStyle/>
          <a:p>
            <a:pPr marL="0" indent="0" algn="ctr">
              <a:buNone/>
            </a:pPr>
            <a:r>
              <a:rPr lang="en-US" sz="1500" b="1" dirty="0">
                <a:solidFill>
                  <a:srgbClr val="0F172A"/>
                </a:solidFill>
                <a:latin typeface="Aptos Display" pitchFamily="34" charset="0"/>
                <a:ea typeface="Aptos Display" pitchFamily="34" charset="-122"/>
                <a:cs typeface="Aptos Display" pitchFamily="34" charset="-120"/>
              </a:rPr>
              <a:t>I found, measured, fixed, and retested concrete weaknesses.</a:t>
            </a:r>
            <a:endParaRPr lang="en-US" sz="1500" dirty="0"/>
          </a:p>
        </p:txBody>
      </p:sp>
      <p:sp>
        <p:nvSpPr>
          <p:cNvPr id="42" name="Text 40"/>
          <p:cNvSpPr/>
          <p:nvPr/>
        </p:nvSpPr>
        <p:spPr>
          <a:xfrm>
            <a:off x="9400032" y="5751576"/>
            <a:ext cx="1920240" cy="219456"/>
          </a:xfrm>
          <a:prstGeom prst="rect">
            <a:avLst/>
          </a:prstGeom>
          <a:noFill/>
        </p:spPr>
        <p:txBody>
          <a:bodyPr wrap="square" lIns="0" tIns="0" rIns="0" bIns="0" rtlCol="0" anchor="ctr"/>
          <a:lstStyle/>
          <a:p>
            <a:pPr marL="0" indent="0" algn="r">
              <a:buNone/>
            </a:pPr>
            <a:r>
              <a:rPr lang="en-US" sz="950" dirty="0">
                <a:solidFill>
                  <a:srgbClr val="0E7490"/>
                </a:solidFill>
                <a:latin typeface="Aptos" pitchFamily="34" charset="0"/>
                <a:ea typeface="Aptos" pitchFamily="34" charset="-122"/>
                <a:cs typeface="Aptos" pitchFamily="34" charset="-120"/>
              </a:rPr>
              <a:t>Questions &amp; live walkthrough</a:t>
            </a:r>
            <a:endParaRPr lang="en-US" sz="950" dirty="0"/>
          </a:p>
        </p:txBody>
      </p:sp>
      <p:sp>
        <p:nvSpPr>
          <p:cNvPr id="43" name="Text 41"/>
          <p:cNvSpPr/>
          <p:nvPr/>
        </p:nvSpPr>
        <p:spPr>
          <a:xfrm>
            <a:off x="11109960" y="6556248"/>
            <a:ext cx="457200" cy="164592"/>
          </a:xfrm>
          <a:prstGeom prst="rect">
            <a:avLst/>
          </a:prstGeom>
          <a:noFill/>
        </p:spPr>
        <p:txBody>
          <a:bodyPr wrap="square" lIns="0" tIns="0" rIns="0" bIns="0" rtlCol="0" anchor="ctr"/>
          <a:lstStyle/>
          <a:p>
            <a:pPr marL="0" indent="0" algn="r">
              <a:buNone/>
            </a:pPr>
            <a:r>
              <a:rPr lang="en-US" sz="800" dirty="0">
                <a:solidFill>
                  <a:srgbClr val="64748B"/>
                </a:solidFill>
                <a:latin typeface="Aptos" pitchFamily="34" charset="0"/>
                <a:ea typeface="Aptos" pitchFamily="34" charset="-122"/>
                <a:cs typeface="Aptos"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94360" y="320040"/>
            <a:ext cx="1371600" cy="256032"/>
          </a:xfrm>
          <a:prstGeom prst="rect">
            <a:avLst/>
          </a:prstGeom>
          <a:noFill/>
        </p:spPr>
        <p:txBody>
          <a:bodyPr wrap="none" lIns="0" tIns="0" rIns="0" bIns="0" anchor="t">
            <a:spAutoFit/>
          </a:bodyPr>
          <a:lstStyle/>
          <a:p>
            <a:pPr algn="l"/>
            <a:r>
              <a:rPr sz="900" b="1">
                <a:solidFill>
                  <a:srgbClr val="0E7490"/>
                </a:solidFill>
                <a:latin typeface="Aptos"/>
              </a:rPr>
              <a:t>SUMMARY</a:t>
            </a:r>
            <a:endParaRPr sz="900" b="1">
              <a:solidFill>
                <a:srgbClr val="0E7490"/>
              </a:solidFill>
              <a:latin typeface="Aptos"/>
            </a:endParaRPr>
          </a:p>
        </p:txBody>
      </p:sp>
      <p:sp>
        <p:nvSpPr>
          <p:cNvPr id="3" name="TextBox 2"/>
          <p:cNvSpPr txBox="1"/>
          <p:nvPr/>
        </p:nvSpPr>
        <p:spPr>
          <a:xfrm>
            <a:off x="594360" y="658368"/>
            <a:ext cx="7772400" cy="438912"/>
          </a:xfrm>
          <a:prstGeom prst="rect">
            <a:avLst/>
          </a:prstGeom>
          <a:noFill/>
        </p:spPr>
        <p:txBody>
          <a:bodyPr wrap="none" lIns="0" tIns="0" rIns="0" bIns="0" anchor="t">
            <a:spAutoFit/>
          </a:bodyPr>
          <a:lstStyle/>
          <a:p>
            <a:pPr algn="l"/>
            <a:r>
              <a:rPr sz="2500" b="1">
                <a:solidFill>
                  <a:srgbClr val="0F172A"/>
                </a:solidFill>
                <a:latin typeface="Aptos Display"/>
              </a:rPr>
              <a:t>18 • Assessment Summary</a:t>
            </a:r>
            <a:endParaRPr sz="2500" b="1">
              <a:solidFill>
                <a:srgbClr val="0F172A"/>
              </a:solidFill>
              <a:latin typeface="Aptos Display"/>
            </a:endParaRPr>
          </a:p>
        </p:txBody>
      </p:sp>
      <p:sp>
        <p:nvSpPr>
          <p:cNvPr id="4" name="TextBox 3"/>
          <p:cNvSpPr txBox="1"/>
          <p:nvPr/>
        </p:nvSpPr>
        <p:spPr>
          <a:xfrm>
            <a:off x="594360" y="1170432"/>
            <a:ext cx="10698480" cy="347472"/>
          </a:xfrm>
          <a:prstGeom prst="rect">
            <a:avLst/>
          </a:prstGeom>
          <a:noFill/>
        </p:spPr>
        <p:txBody>
          <a:bodyPr wrap="none" lIns="0" tIns="0" rIns="0" bIns="0" anchor="t">
            <a:spAutoFit/>
          </a:bodyPr>
          <a:lstStyle/>
          <a:p>
            <a:pPr algn="l"/>
            <a:r>
              <a:rPr sz="1150" b="0">
                <a:solidFill>
                  <a:srgbClr val="64748B"/>
                </a:solidFill>
                <a:latin typeface="Aptos"/>
              </a:rPr>
              <a:t>Findings were demonstrated, hardened, and retested on the local assessment environment.</a:t>
            </a:r>
            <a:endParaRPr sz="1150" b="0">
              <a:solidFill>
                <a:srgbClr val="64748B"/>
              </a:solidFill>
              <a:latin typeface="Aptos"/>
            </a:endParaRPr>
          </a:p>
        </p:txBody>
      </p:sp>
      <p:sp>
        <p:nvSpPr>
          <p:cNvPr id="5" name="Rounded Rectangle 4"/>
          <p:cNvSpPr/>
          <p:nvPr/>
        </p:nvSpPr>
        <p:spPr>
          <a:xfrm>
            <a:off x="594360" y="1783080"/>
            <a:ext cx="3520440" cy="1325880"/>
          </a:xfrm>
          <a:prstGeom prst="round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95528" y="2002536"/>
            <a:ext cx="438912" cy="438912"/>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2020824"/>
            <a:ext cx="438912" cy="256032"/>
          </a:xfrm>
          <a:prstGeom prst="rect">
            <a:avLst/>
          </a:prstGeom>
          <a:noFill/>
        </p:spPr>
        <p:txBody>
          <a:bodyPr wrap="none" lIns="0" tIns="0" rIns="0" bIns="0" anchor="ctr">
            <a:spAutoFit/>
          </a:bodyPr>
          <a:lstStyle/>
          <a:p>
            <a:pPr algn="ctr"/>
            <a:r>
              <a:rPr sz="850" b="1">
                <a:solidFill>
                  <a:srgbClr val="FFFFFF"/>
                </a:solidFill>
                <a:latin typeface="Aptos"/>
              </a:rPr>
              <a:t>1</a:t>
            </a:r>
            <a:endParaRPr sz="850" b="1">
              <a:solidFill>
                <a:srgbClr val="FFFFFF"/>
              </a:solidFill>
              <a:latin typeface="Aptos"/>
            </a:endParaRPr>
          </a:p>
        </p:txBody>
      </p:sp>
      <p:sp>
        <p:nvSpPr>
          <p:cNvPr id="8" name="TextBox 7"/>
          <p:cNvSpPr txBox="1"/>
          <p:nvPr/>
        </p:nvSpPr>
        <p:spPr>
          <a:xfrm>
            <a:off x="1344168" y="1965960"/>
            <a:ext cx="2569464" cy="320040"/>
          </a:xfrm>
          <a:prstGeom prst="rect">
            <a:avLst/>
          </a:prstGeom>
          <a:noFill/>
        </p:spPr>
        <p:txBody>
          <a:bodyPr wrap="none" lIns="0" tIns="0" rIns="0" bIns="0" anchor="t">
            <a:spAutoFit/>
          </a:bodyPr>
          <a:lstStyle/>
          <a:p>
            <a:pPr algn="l"/>
            <a:r>
              <a:rPr sz="950" b="1">
                <a:solidFill>
                  <a:srgbClr val="0E7490"/>
                </a:solidFill>
                <a:latin typeface="Aptos"/>
              </a:rPr>
              <a:t>MODEL + ATTACKS</a:t>
            </a:r>
            <a:endParaRPr sz="950" b="1">
              <a:solidFill>
                <a:srgbClr val="0E7490"/>
              </a:solidFill>
              <a:latin typeface="Aptos"/>
            </a:endParaRPr>
          </a:p>
        </p:txBody>
      </p:sp>
      <p:sp>
        <p:nvSpPr>
          <p:cNvPr id="9" name="TextBox 8"/>
          <p:cNvSpPr txBox="1"/>
          <p:nvPr/>
        </p:nvSpPr>
        <p:spPr>
          <a:xfrm>
            <a:off x="822960" y="2441448"/>
            <a:ext cx="3063240" cy="502919"/>
          </a:xfrm>
          <a:prstGeom prst="rect">
            <a:avLst/>
          </a:prstGeom>
          <a:noFill/>
        </p:spPr>
        <p:txBody>
          <a:bodyPr wrap="none" lIns="0" tIns="0" rIns="0" bIns="0" anchor="t">
            <a:spAutoFit/>
          </a:bodyPr>
          <a:lstStyle/>
          <a:p>
            <a:pPr algn="l"/>
            <a:r>
              <a:rPr sz="1050" b="0">
                <a:solidFill>
                  <a:srgbClr val="334155"/>
                </a:solidFill>
                <a:latin typeface="Aptos"/>
              </a:rPr>
              <a:t>99.07% baseline.
FGSM: 7 → 2.
PGD: 7 → 3.</a:t>
            </a:r>
            <a:endParaRPr sz="1050" b="0">
              <a:solidFill>
                <a:srgbClr val="334155"/>
              </a:solidFill>
              <a:latin typeface="Aptos"/>
            </a:endParaRPr>
          </a:p>
        </p:txBody>
      </p:sp>
      <p:sp>
        <p:nvSpPr>
          <p:cNvPr id="10" name="Rounded Rectangle 9"/>
          <p:cNvSpPr/>
          <p:nvPr/>
        </p:nvSpPr>
        <p:spPr>
          <a:xfrm>
            <a:off x="4325112" y="1783080"/>
            <a:ext cx="3520440" cy="1325880"/>
          </a:xfrm>
          <a:prstGeom prst="round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26280" y="2002536"/>
            <a:ext cx="438912" cy="438912"/>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2020824"/>
            <a:ext cx="438912" cy="256032"/>
          </a:xfrm>
          <a:prstGeom prst="rect">
            <a:avLst/>
          </a:prstGeom>
          <a:noFill/>
        </p:spPr>
        <p:txBody>
          <a:bodyPr wrap="none" lIns="0" tIns="0" rIns="0" bIns="0" anchor="ctr">
            <a:spAutoFit/>
          </a:bodyPr>
          <a:lstStyle/>
          <a:p>
            <a:pPr algn="ctr"/>
            <a:r>
              <a:rPr sz="850" b="1">
                <a:solidFill>
                  <a:srgbClr val="FFFFFF"/>
                </a:solidFill>
                <a:latin typeface="Aptos"/>
              </a:rPr>
              <a:t>2</a:t>
            </a:r>
            <a:endParaRPr sz="850" b="1">
              <a:solidFill>
                <a:srgbClr val="FFFFFF"/>
              </a:solidFill>
              <a:latin typeface="Aptos"/>
            </a:endParaRPr>
          </a:p>
        </p:txBody>
      </p:sp>
      <p:sp>
        <p:nvSpPr>
          <p:cNvPr id="13" name="TextBox 12"/>
          <p:cNvSpPr txBox="1"/>
          <p:nvPr/>
        </p:nvSpPr>
        <p:spPr>
          <a:xfrm>
            <a:off x="5074920" y="1965960"/>
            <a:ext cx="2569463" cy="320040"/>
          </a:xfrm>
          <a:prstGeom prst="rect">
            <a:avLst/>
          </a:prstGeom>
          <a:noFill/>
        </p:spPr>
        <p:txBody>
          <a:bodyPr wrap="none" lIns="0" tIns="0" rIns="0" bIns="0" anchor="t">
            <a:spAutoFit/>
          </a:bodyPr>
          <a:lstStyle/>
          <a:p>
            <a:pPr algn="l"/>
            <a:r>
              <a:rPr sz="950" b="1">
                <a:solidFill>
                  <a:srgbClr val="15803D"/>
                </a:solidFill>
                <a:latin typeface="Aptos"/>
              </a:rPr>
              <a:t>API</a:t>
            </a:r>
            <a:endParaRPr sz="950" b="1">
              <a:solidFill>
                <a:srgbClr val="15803D"/>
              </a:solidFill>
              <a:latin typeface="Aptos"/>
            </a:endParaRPr>
          </a:p>
        </p:txBody>
      </p:sp>
      <p:sp>
        <p:nvSpPr>
          <p:cNvPr id="14" name="TextBox 13"/>
          <p:cNvSpPr txBox="1"/>
          <p:nvPr/>
        </p:nvSpPr>
        <p:spPr>
          <a:xfrm>
            <a:off x="4553712" y="2441448"/>
            <a:ext cx="3063240" cy="502919"/>
          </a:xfrm>
          <a:prstGeom prst="rect">
            <a:avLst/>
          </a:prstGeom>
          <a:noFill/>
        </p:spPr>
        <p:txBody>
          <a:bodyPr wrap="none" lIns="0" tIns="0" rIns="0" bIns="0" anchor="t">
            <a:spAutoFit/>
          </a:bodyPr>
          <a:lstStyle/>
          <a:p>
            <a:pPr algn="l"/>
            <a:r>
              <a:rPr sz="1050" b="0">
                <a:solidFill>
                  <a:srgbClr val="334155"/>
                </a:solidFill>
                <a:latin typeface="Aptos"/>
              </a:rPr>
              <a:t>Metadata and docs removed.
CORS restricted.
Upload and batch limits added.</a:t>
            </a:r>
            <a:endParaRPr sz="1050" b="0">
              <a:solidFill>
                <a:srgbClr val="334155"/>
              </a:solidFill>
              <a:latin typeface="Aptos"/>
            </a:endParaRPr>
          </a:p>
        </p:txBody>
      </p:sp>
      <p:sp>
        <p:nvSpPr>
          <p:cNvPr id="15" name="Rounded Rectangle 14"/>
          <p:cNvSpPr/>
          <p:nvPr/>
        </p:nvSpPr>
        <p:spPr>
          <a:xfrm>
            <a:off x="8055864" y="1783080"/>
            <a:ext cx="3520440" cy="1325880"/>
          </a:xfrm>
          <a:prstGeom prst="round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57032" y="2002536"/>
            <a:ext cx="438912" cy="438912"/>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57032" y="2020824"/>
            <a:ext cx="438912" cy="256032"/>
          </a:xfrm>
          <a:prstGeom prst="rect">
            <a:avLst/>
          </a:prstGeom>
          <a:noFill/>
        </p:spPr>
        <p:txBody>
          <a:bodyPr wrap="none" lIns="0" tIns="0" rIns="0" bIns="0" anchor="ctr">
            <a:spAutoFit/>
          </a:bodyPr>
          <a:lstStyle/>
          <a:p>
            <a:pPr algn="ctr"/>
            <a:r>
              <a:rPr sz="850" b="1">
                <a:solidFill>
                  <a:srgbClr val="FFFFFF"/>
                </a:solidFill>
                <a:latin typeface="Aptos"/>
              </a:rPr>
              <a:t>3</a:t>
            </a:r>
            <a:endParaRPr sz="850" b="1">
              <a:solidFill>
                <a:srgbClr val="FFFFFF"/>
              </a:solidFill>
              <a:latin typeface="Aptos"/>
            </a:endParaRPr>
          </a:p>
        </p:txBody>
      </p:sp>
      <p:sp>
        <p:nvSpPr>
          <p:cNvPr id="18" name="TextBox 17"/>
          <p:cNvSpPr txBox="1"/>
          <p:nvPr/>
        </p:nvSpPr>
        <p:spPr>
          <a:xfrm>
            <a:off x="8805672" y="1965960"/>
            <a:ext cx="2569463" cy="320040"/>
          </a:xfrm>
          <a:prstGeom prst="rect">
            <a:avLst/>
          </a:prstGeom>
          <a:noFill/>
        </p:spPr>
        <p:txBody>
          <a:bodyPr wrap="none" lIns="0" tIns="0" rIns="0" bIns="0" anchor="t">
            <a:spAutoFit/>
          </a:bodyPr>
          <a:lstStyle/>
          <a:p>
            <a:pPr algn="l"/>
            <a:r>
              <a:rPr sz="950" b="1">
                <a:solidFill>
                  <a:srgbClr val="15803D"/>
                </a:solidFill>
                <a:latin typeface="Aptos"/>
              </a:rPr>
              <a:t>DOCKER</a:t>
            </a:r>
            <a:endParaRPr sz="950" b="1">
              <a:solidFill>
                <a:srgbClr val="15803D"/>
              </a:solidFill>
              <a:latin typeface="Aptos"/>
            </a:endParaRPr>
          </a:p>
        </p:txBody>
      </p:sp>
      <p:sp>
        <p:nvSpPr>
          <p:cNvPr id="19" name="TextBox 18"/>
          <p:cNvSpPr txBox="1"/>
          <p:nvPr/>
        </p:nvSpPr>
        <p:spPr>
          <a:xfrm>
            <a:off x="8284464" y="2441448"/>
            <a:ext cx="3063240" cy="502919"/>
          </a:xfrm>
          <a:prstGeom prst="rect">
            <a:avLst/>
          </a:prstGeom>
          <a:noFill/>
        </p:spPr>
        <p:txBody>
          <a:bodyPr wrap="none" lIns="0" tIns="0" rIns="0" bIns="0" anchor="t">
            <a:spAutoFit/>
          </a:bodyPr>
          <a:lstStyle/>
          <a:p>
            <a:pPr algn="l"/>
            <a:r>
              <a:rPr sz="1050" b="0">
                <a:solidFill>
                  <a:srgbClr val="334155"/>
                </a:solidFill>
                <a:latin typeface="Aptos"/>
              </a:rPr>
              <a:t>Runs as UID 10001.
All capabilities dropped.
Read-only root filesystem.</a:t>
            </a:r>
            <a:endParaRPr sz="1050" b="0">
              <a:solidFill>
                <a:srgbClr val="334155"/>
              </a:solidFill>
              <a:latin typeface="Aptos"/>
            </a:endParaRPr>
          </a:p>
        </p:txBody>
      </p:sp>
      <p:sp>
        <p:nvSpPr>
          <p:cNvPr id="20" name="Rounded Rectangle 19"/>
          <p:cNvSpPr/>
          <p:nvPr/>
        </p:nvSpPr>
        <p:spPr>
          <a:xfrm>
            <a:off x="594360" y="3364992"/>
            <a:ext cx="3520440" cy="1325880"/>
          </a:xfrm>
          <a:prstGeom prst="round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95528" y="3584448"/>
            <a:ext cx="438912" cy="438912"/>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5528" y="3602736"/>
            <a:ext cx="438912" cy="256032"/>
          </a:xfrm>
          <a:prstGeom prst="rect">
            <a:avLst/>
          </a:prstGeom>
          <a:noFill/>
        </p:spPr>
        <p:txBody>
          <a:bodyPr wrap="none" lIns="0" tIns="0" rIns="0" bIns="0" anchor="ctr">
            <a:spAutoFit/>
          </a:bodyPr>
          <a:lstStyle/>
          <a:p>
            <a:pPr algn="ctr"/>
            <a:r>
              <a:rPr sz="850" b="1">
                <a:solidFill>
                  <a:srgbClr val="FFFFFF"/>
                </a:solidFill>
                <a:latin typeface="Aptos"/>
              </a:rPr>
              <a:t>4</a:t>
            </a:r>
            <a:endParaRPr sz="850" b="1">
              <a:solidFill>
                <a:srgbClr val="FFFFFF"/>
              </a:solidFill>
              <a:latin typeface="Aptos"/>
            </a:endParaRPr>
          </a:p>
        </p:txBody>
      </p:sp>
      <p:sp>
        <p:nvSpPr>
          <p:cNvPr id="23" name="TextBox 22"/>
          <p:cNvSpPr txBox="1"/>
          <p:nvPr/>
        </p:nvSpPr>
        <p:spPr>
          <a:xfrm>
            <a:off x="1344168" y="3547872"/>
            <a:ext cx="2569464" cy="320040"/>
          </a:xfrm>
          <a:prstGeom prst="rect">
            <a:avLst/>
          </a:prstGeom>
          <a:noFill/>
        </p:spPr>
        <p:txBody>
          <a:bodyPr wrap="none" lIns="0" tIns="0" rIns="0" bIns="0" anchor="t">
            <a:spAutoFit/>
          </a:bodyPr>
          <a:lstStyle/>
          <a:p>
            <a:pPr algn="l"/>
            <a:r>
              <a:rPr sz="950" b="1">
                <a:solidFill>
                  <a:srgbClr val="0E7490"/>
                </a:solidFill>
                <a:latin typeface="Aptos"/>
              </a:rPr>
              <a:t>MITIGATION</a:t>
            </a:r>
            <a:endParaRPr sz="950" b="1">
              <a:solidFill>
                <a:srgbClr val="0E7490"/>
              </a:solidFill>
              <a:latin typeface="Aptos"/>
            </a:endParaRPr>
          </a:p>
        </p:txBody>
      </p:sp>
      <p:sp>
        <p:nvSpPr>
          <p:cNvPr id="24" name="TextBox 23"/>
          <p:cNvSpPr txBox="1"/>
          <p:nvPr/>
        </p:nvSpPr>
        <p:spPr>
          <a:xfrm>
            <a:off x="822960" y="4023360"/>
            <a:ext cx="3063240" cy="502919"/>
          </a:xfrm>
          <a:prstGeom prst="rect">
            <a:avLst/>
          </a:prstGeom>
          <a:noFill/>
        </p:spPr>
        <p:txBody>
          <a:bodyPr wrap="none" lIns="0" tIns="0" rIns="0" bIns="0" anchor="t">
            <a:spAutoFit/>
          </a:bodyPr>
          <a:lstStyle/>
          <a:p>
            <a:pPr algn="l"/>
            <a:r>
              <a:rPr sz="1050" b="0">
                <a:solidFill>
                  <a:srgbClr val="334155"/>
                </a:solidFill>
                <a:latin typeface="Aptos"/>
              </a:rPr>
              <a:t>Adversarial training created
a defended checkpoint.
Tested FGSM/PGD stayed at class 7.</a:t>
            </a:r>
            <a:endParaRPr sz="1050" b="0">
              <a:solidFill>
                <a:srgbClr val="334155"/>
              </a:solidFill>
              <a:latin typeface="Aptos"/>
            </a:endParaRPr>
          </a:p>
        </p:txBody>
      </p:sp>
      <p:sp>
        <p:nvSpPr>
          <p:cNvPr id="25" name="Rounded Rectangle 24"/>
          <p:cNvSpPr/>
          <p:nvPr/>
        </p:nvSpPr>
        <p:spPr>
          <a:xfrm>
            <a:off x="4325112" y="3364992"/>
            <a:ext cx="3520440" cy="1325880"/>
          </a:xfrm>
          <a:prstGeom prst="round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526280" y="3584448"/>
            <a:ext cx="438912" cy="438912"/>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26280" y="3602736"/>
            <a:ext cx="438912" cy="256032"/>
          </a:xfrm>
          <a:prstGeom prst="rect">
            <a:avLst/>
          </a:prstGeom>
          <a:noFill/>
        </p:spPr>
        <p:txBody>
          <a:bodyPr wrap="none" lIns="0" tIns="0" rIns="0" bIns="0" anchor="ctr">
            <a:spAutoFit/>
          </a:bodyPr>
          <a:lstStyle/>
          <a:p>
            <a:pPr algn="ctr"/>
            <a:r>
              <a:rPr sz="850" b="1">
                <a:solidFill>
                  <a:srgbClr val="FFFFFF"/>
                </a:solidFill>
                <a:latin typeface="Aptos"/>
              </a:rPr>
              <a:t>5</a:t>
            </a:r>
            <a:endParaRPr sz="850" b="1">
              <a:solidFill>
                <a:srgbClr val="FFFFFF"/>
              </a:solidFill>
              <a:latin typeface="Aptos"/>
            </a:endParaRPr>
          </a:p>
        </p:txBody>
      </p:sp>
      <p:sp>
        <p:nvSpPr>
          <p:cNvPr id="28" name="TextBox 27"/>
          <p:cNvSpPr txBox="1"/>
          <p:nvPr/>
        </p:nvSpPr>
        <p:spPr>
          <a:xfrm>
            <a:off x="5074920" y="3547872"/>
            <a:ext cx="2569463" cy="320040"/>
          </a:xfrm>
          <a:prstGeom prst="rect">
            <a:avLst/>
          </a:prstGeom>
          <a:noFill/>
        </p:spPr>
        <p:txBody>
          <a:bodyPr wrap="none" lIns="0" tIns="0" rIns="0" bIns="0" anchor="t">
            <a:spAutoFit/>
          </a:bodyPr>
          <a:lstStyle/>
          <a:p>
            <a:pPr algn="l"/>
            <a:r>
              <a:rPr sz="950" b="1">
                <a:solidFill>
                  <a:srgbClr val="15803D"/>
                </a:solidFill>
                <a:latin typeface="Aptos"/>
              </a:rPr>
              <a:t>BONUS</a:t>
            </a:r>
            <a:endParaRPr sz="950" b="1">
              <a:solidFill>
                <a:srgbClr val="15803D"/>
              </a:solidFill>
              <a:latin typeface="Aptos"/>
            </a:endParaRPr>
          </a:p>
        </p:txBody>
      </p:sp>
      <p:sp>
        <p:nvSpPr>
          <p:cNvPr id="29" name="TextBox 28"/>
          <p:cNvSpPr txBox="1"/>
          <p:nvPr/>
        </p:nvSpPr>
        <p:spPr>
          <a:xfrm>
            <a:off x="4553712" y="4023360"/>
            <a:ext cx="3063240" cy="502919"/>
          </a:xfrm>
          <a:prstGeom prst="rect">
            <a:avLst/>
          </a:prstGeom>
          <a:noFill/>
        </p:spPr>
        <p:txBody>
          <a:bodyPr wrap="none" lIns="0" tIns="0" rIns="0" bIns="0" anchor="t">
            <a:spAutoFit/>
          </a:bodyPr>
          <a:lstStyle/>
          <a:p>
            <a:pPr algn="l"/>
            <a:r>
              <a:rPr sz="1050" b="0">
                <a:solidFill>
                  <a:srgbClr val="334155"/>
                </a:solidFill>
                <a:latin typeface="Aptos"/>
              </a:rPr>
              <a:t>Structured logging works.
Backdoor demo succeeded.
Membership inference was weak.</a:t>
            </a:r>
            <a:endParaRPr sz="1050" b="0">
              <a:solidFill>
                <a:srgbClr val="334155"/>
              </a:solidFill>
              <a:latin typeface="Aptos"/>
            </a:endParaRPr>
          </a:p>
        </p:txBody>
      </p:sp>
      <p:sp>
        <p:nvSpPr>
          <p:cNvPr id="30" name="Rounded Rectangle 29"/>
          <p:cNvSpPr/>
          <p:nvPr/>
        </p:nvSpPr>
        <p:spPr>
          <a:xfrm>
            <a:off x="8055864" y="3364992"/>
            <a:ext cx="3520440" cy="1325880"/>
          </a:xfrm>
          <a:prstGeom prst="round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257032" y="3584448"/>
            <a:ext cx="438912" cy="438912"/>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57032" y="3602736"/>
            <a:ext cx="438912" cy="256032"/>
          </a:xfrm>
          <a:prstGeom prst="rect">
            <a:avLst/>
          </a:prstGeom>
          <a:noFill/>
        </p:spPr>
        <p:txBody>
          <a:bodyPr wrap="none" lIns="0" tIns="0" rIns="0" bIns="0" anchor="ctr">
            <a:spAutoFit/>
          </a:bodyPr>
          <a:lstStyle/>
          <a:p>
            <a:pPr algn="ctr"/>
            <a:r>
              <a:rPr sz="850" b="1">
                <a:solidFill>
                  <a:srgbClr val="FFFFFF"/>
                </a:solidFill>
                <a:latin typeface="Aptos"/>
              </a:rPr>
              <a:t>6</a:t>
            </a:r>
            <a:endParaRPr sz="850" b="1">
              <a:solidFill>
                <a:srgbClr val="FFFFFF"/>
              </a:solidFill>
              <a:latin typeface="Aptos"/>
            </a:endParaRPr>
          </a:p>
        </p:txBody>
      </p:sp>
      <p:sp>
        <p:nvSpPr>
          <p:cNvPr id="33" name="TextBox 32"/>
          <p:cNvSpPr txBox="1"/>
          <p:nvPr/>
        </p:nvSpPr>
        <p:spPr>
          <a:xfrm>
            <a:off x="8805672" y="3547872"/>
            <a:ext cx="2569463" cy="320040"/>
          </a:xfrm>
          <a:prstGeom prst="rect">
            <a:avLst/>
          </a:prstGeom>
          <a:noFill/>
        </p:spPr>
        <p:txBody>
          <a:bodyPr wrap="none" lIns="0" tIns="0" rIns="0" bIns="0" anchor="t">
            <a:spAutoFit/>
          </a:bodyPr>
          <a:lstStyle/>
          <a:p>
            <a:pPr algn="l"/>
            <a:r>
              <a:rPr sz="950" b="1">
                <a:solidFill>
                  <a:srgbClr val="0E7490"/>
                </a:solidFill>
                <a:latin typeface="Aptos"/>
              </a:rPr>
              <a:t>FRAMEWORKS</a:t>
            </a:r>
            <a:endParaRPr sz="950" b="1">
              <a:solidFill>
                <a:srgbClr val="0E7490"/>
              </a:solidFill>
              <a:latin typeface="Aptos"/>
            </a:endParaRPr>
          </a:p>
        </p:txBody>
      </p:sp>
      <p:sp>
        <p:nvSpPr>
          <p:cNvPr id="34" name="TextBox 33"/>
          <p:cNvSpPr txBox="1"/>
          <p:nvPr/>
        </p:nvSpPr>
        <p:spPr>
          <a:xfrm>
            <a:off x="8284464" y="4023360"/>
            <a:ext cx="3063240" cy="502919"/>
          </a:xfrm>
          <a:prstGeom prst="rect">
            <a:avLst/>
          </a:prstGeom>
          <a:noFill/>
        </p:spPr>
        <p:txBody>
          <a:bodyPr wrap="none" lIns="0" tIns="0" rIns="0" bIns="0" anchor="t">
            <a:spAutoFit/>
          </a:bodyPr>
          <a:lstStyle/>
          <a:p>
            <a:pPr algn="l"/>
            <a:r>
              <a:rPr sz="1050" b="0">
                <a:solidFill>
                  <a:srgbClr val="334155"/>
                </a:solidFill>
                <a:latin typeface="Aptos"/>
              </a:rPr>
              <a:t>Findings mapped to
MITRE ATLAS and NIST AI RMF.</a:t>
            </a:r>
            <a:endParaRPr sz="1050" b="0">
              <a:solidFill>
                <a:srgbClr val="334155"/>
              </a:solidFill>
              <a:latin typeface="Aptos"/>
            </a:endParaRPr>
          </a:p>
        </p:txBody>
      </p:sp>
      <p:sp>
        <p:nvSpPr>
          <p:cNvPr id="35" name="Rounded Rectangle 34"/>
          <p:cNvSpPr/>
          <p:nvPr/>
        </p:nvSpPr>
        <p:spPr>
          <a:xfrm>
            <a:off x="594360" y="5074920"/>
            <a:ext cx="10972800" cy="868680"/>
          </a:xfrm>
          <a:prstGeom prst="roundRect">
            <a:avLst/>
          </a:prstGeom>
          <a:solidFill>
            <a:srgbClr val="F0F9FA"/>
          </a:solidFill>
          <a:ln w="1016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60" y="5321808"/>
            <a:ext cx="1005840" cy="228600"/>
          </a:xfrm>
          <a:prstGeom prst="rect">
            <a:avLst/>
          </a:prstGeom>
          <a:noFill/>
        </p:spPr>
        <p:txBody>
          <a:bodyPr wrap="none" lIns="0" tIns="0" rIns="0" bIns="0" anchor="t">
            <a:spAutoFit/>
          </a:bodyPr>
          <a:lstStyle/>
          <a:p>
            <a:pPr algn="l"/>
            <a:r>
              <a:rPr sz="850" b="1">
                <a:solidFill>
                  <a:srgbClr val="0E7490"/>
                </a:solidFill>
                <a:latin typeface="Aptos"/>
              </a:rPr>
              <a:t>KEY MESSAGE</a:t>
            </a:r>
            <a:endParaRPr sz="850" b="1">
              <a:solidFill>
                <a:srgbClr val="0E7490"/>
              </a:solidFill>
              <a:latin typeface="Aptos"/>
            </a:endParaRPr>
          </a:p>
        </p:txBody>
      </p:sp>
      <p:sp>
        <p:nvSpPr>
          <p:cNvPr id="37" name="TextBox 36"/>
          <p:cNvSpPr txBox="1"/>
          <p:nvPr/>
        </p:nvSpPr>
        <p:spPr>
          <a:xfrm>
            <a:off x="1874519" y="5266944"/>
            <a:ext cx="9326880" cy="347472"/>
          </a:xfrm>
          <a:prstGeom prst="rect">
            <a:avLst/>
          </a:prstGeom>
          <a:noFill/>
        </p:spPr>
        <p:txBody>
          <a:bodyPr wrap="none" lIns="0" tIns="0" rIns="0" bIns="0" anchor="t">
            <a:spAutoFit/>
          </a:bodyPr>
          <a:lstStyle/>
          <a:p>
            <a:pPr algn="l"/>
            <a:r>
              <a:rPr sz="1450" b="1">
                <a:solidFill>
                  <a:srgbClr val="0F172A"/>
                </a:solidFill>
                <a:latin typeface="Aptos Display"/>
              </a:rPr>
              <a:t>I found, measured, fixed, and retested concrete security weaknesses.</a:t>
            </a:r>
            <a:endParaRPr sz="1450" b="1">
              <a:solidFill>
                <a:srgbClr val="0F172A"/>
              </a:solidFill>
              <a:latin typeface="Aptos Display"/>
            </a:endParaRPr>
          </a:p>
        </p:txBody>
      </p:sp>
      <p:sp>
        <p:nvSpPr>
          <p:cNvPr id="38" name="TextBox 37"/>
          <p:cNvSpPr txBox="1"/>
          <p:nvPr/>
        </p:nvSpPr>
        <p:spPr>
          <a:xfrm>
            <a:off x="822960" y="6080760"/>
            <a:ext cx="10332720" cy="228600"/>
          </a:xfrm>
          <a:prstGeom prst="rect">
            <a:avLst/>
          </a:prstGeom>
          <a:noFill/>
        </p:spPr>
        <p:txBody>
          <a:bodyPr wrap="none" lIns="0" tIns="0" rIns="0" bIns="0" anchor="t">
            <a:spAutoFit/>
          </a:bodyPr>
          <a:lstStyle/>
          <a:p>
            <a:pPr algn="l"/>
            <a:r>
              <a:rPr sz="920" b="0">
                <a:solidFill>
                  <a:srgbClr val="64748B"/>
                </a:solidFill>
                <a:latin typeface="Aptos"/>
              </a:rPr>
              <a:t>Residual risks remain: authentication, rate limiting, model integrity verification, OOD handling, and broader robustness testing.</a:t>
            </a:r>
            <a:endParaRPr sz="920" b="0">
              <a:solidFill>
                <a:srgbClr val="64748B"/>
              </a:solidFill>
              <a:latin typeface="Aptos"/>
            </a:endParaRPr>
          </a:p>
        </p:txBody>
      </p:sp>
      <p:sp>
        <p:nvSpPr>
          <p:cNvPr id="39" name="TextBox 38"/>
          <p:cNvSpPr txBox="1"/>
          <p:nvPr/>
        </p:nvSpPr>
        <p:spPr>
          <a:xfrm>
            <a:off x="11064240" y="6446520"/>
            <a:ext cx="320040" cy="182880"/>
          </a:xfrm>
          <a:prstGeom prst="rect">
            <a:avLst/>
          </a:prstGeom>
          <a:noFill/>
        </p:spPr>
        <p:txBody>
          <a:bodyPr wrap="none" lIns="0" tIns="0" rIns="0" bIns="0" anchor="t">
            <a:spAutoFit/>
          </a:bodyPr>
          <a:lstStyle/>
          <a:p>
            <a:pPr algn="r"/>
            <a:r>
              <a:rPr sz="800" b="0">
                <a:solidFill>
                  <a:srgbClr val="64748B"/>
                </a:solidFill>
                <a:latin typeface="Aptos"/>
              </a:rPr>
              <a:t>18</a:t>
            </a:r>
            <a:endParaRPr sz="800" b="0">
              <a:solidFill>
                <a:srgbClr val="64748B"/>
              </a:solidFill>
              <a:latin typeface="Apto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594360" y="658368"/>
            <a:ext cx="960120" cy="64008"/>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7055" y="2099945"/>
            <a:ext cx="10817225" cy="1107440"/>
          </a:xfrm>
          <a:prstGeom prst="rect">
            <a:avLst/>
          </a:prstGeom>
          <a:noFill/>
        </p:spPr>
        <p:txBody>
          <a:bodyPr wrap="square" lIns="0" tIns="0" rIns="0" bIns="0" anchor="t">
            <a:spAutoFit/>
          </a:bodyPr>
          <a:lstStyle/>
          <a:p>
            <a:pPr algn="ctr"/>
            <a:r>
              <a:rPr sz="7200" b="1">
                <a:solidFill>
                  <a:srgbClr val="0E7490"/>
                </a:solidFill>
                <a:latin typeface="Aptos"/>
              </a:rPr>
              <a:t>THANK YOU</a:t>
            </a:r>
            <a:endParaRPr sz="7200" b="1">
              <a:solidFill>
                <a:srgbClr val="0E7490"/>
              </a:solidFill>
              <a:latin typeface="Aptos"/>
            </a:endParaRPr>
          </a:p>
        </p:txBody>
      </p:sp>
      <p:sp>
        <p:nvSpPr>
          <p:cNvPr id="4" name="TextBox 3"/>
          <p:cNvSpPr txBox="1"/>
          <p:nvPr/>
        </p:nvSpPr>
        <p:spPr>
          <a:xfrm>
            <a:off x="767715" y="842645"/>
            <a:ext cx="10469880" cy="180340"/>
          </a:xfrm>
          <a:prstGeom prst="rect">
            <a:avLst/>
          </a:prstGeom>
          <a:noFill/>
        </p:spPr>
        <p:txBody>
          <a:bodyPr wrap="none" lIns="0" tIns="0" rIns="0" bIns="0" anchor="t">
            <a:noAutofit/>
          </a:bodyPr>
          <a:lstStyle/>
          <a:p>
            <a:pPr algn="ctr"/>
            <a:r>
              <a:rPr sz="2800" b="1">
                <a:solidFill>
                  <a:srgbClr val="0F172A"/>
                </a:solidFill>
                <a:latin typeface="Aptos Display"/>
              </a:rPr>
              <a:t>AI Security Red Team Assessment</a:t>
            </a:r>
            <a:endParaRPr sz="2800" b="1">
              <a:solidFill>
                <a:srgbClr val="0F172A"/>
              </a:solidFill>
              <a:latin typeface="Aptos Display"/>
            </a:endParaRPr>
          </a:p>
        </p:txBody>
      </p:sp>
      <p:sp>
        <p:nvSpPr>
          <p:cNvPr id="5" name="TextBox 4"/>
          <p:cNvSpPr txBox="1"/>
          <p:nvPr/>
        </p:nvSpPr>
        <p:spPr>
          <a:xfrm>
            <a:off x="594360" y="5380355"/>
            <a:ext cx="10817860" cy="230505"/>
          </a:xfrm>
          <a:prstGeom prst="rect">
            <a:avLst/>
          </a:prstGeom>
          <a:noFill/>
        </p:spPr>
        <p:txBody>
          <a:bodyPr wrap="square" lIns="0" tIns="0" rIns="0" bIns="0" anchor="t">
            <a:spAutoFit/>
          </a:bodyPr>
          <a:lstStyle/>
          <a:p>
            <a:pPr algn="ctr"/>
            <a:r>
              <a:rPr sz="1500" b="1">
                <a:solidFill>
                  <a:srgbClr val="334155"/>
                </a:solidFill>
                <a:latin typeface="Aptos"/>
              </a:rPr>
              <a:t>Presented by Eldana Kibru</a:t>
            </a:r>
            <a:endParaRPr sz="1500" b="1">
              <a:solidFill>
                <a:srgbClr val="334155"/>
              </a:solidFill>
              <a:latin typeface="Aptos"/>
            </a:endParaRPr>
          </a:p>
        </p:txBody>
      </p:sp>
      <p:sp>
        <p:nvSpPr>
          <p:cNvPr id="6" name="Rounded Rectangle 5"/>
          <p:cNvSpPr/>
          <p:nvPr/>
        </p:nvSpPr>
        <p:spPr>
          <a:xfrm>
            <a:off x="594360" y="3246120"/>
            <a:ext cx="10972800" cy="1298448"/>
          </a:xfrm>
          <a:prstGeom prst="round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968496"/>
            <a:ext cx="9875520" cy="320040"/>
          </a:xfrm>
          <a:prstGeom prst="rect">
            <a:avLst/>
          </a:prstGeom>
          <a:noFill/>
        </p:spPr>
        <p:txBody>
          <a:bodyPr wrap="none" lIns="0" tIns="0" rIns="0" bIns="0" anchor="t">
            <a:spAutoFit/>
          </a:bodyPr>
          <a:lstStyle/>
          <a:p>
            <a:pPr algn="ctr"/>
            <a:r>
              <a:rPr sz="1300" b="1">
                <a:solidFill>
                  <a:srgbClr val="0F172A"/>
                </a:solidFill>
                <a:latin typeface="Aptos"/>
              </a:rPr>
              <a:t>Model  •  Attacks  •  API  •  Docker  •  Mitigation  •  Bonuses</a:t>
            </a:r>
            <a:endParaRPr sz="1300" b="1">
              <a:solidFill>
                <a:srgbClr val="0F172A"/>
              </a:solidFill>
              <a:latin typeface="Aptos"/>
            </a:endParaRPr>
          </a:p>
        </p:txBody>
      </p:sp>
      <p:sp>
        <p:nvSpPr>
          <p:cNvPr id="10" name="TextBox 9"/>
          <p:cNvSpPr txBox="1"/>
          <p:nvPr/>
        </p:nvSpPr>
        <p:spPr>
          <a:xfrm>
            <a:off x="11064240" y="6446520"/>
            <a:ext cx="320040" cy="182880"/>
          </a:xfrm>
          <a:prstGeom prst="rect">
            <a:avLst/>
          </a:prstGeom>
          <a:noFill/>
        </p:spPr>
        <p:txBody>
          <a:bodyPr wrap="none" lIns="0" tIns="0" rIns="0" bIns="0" anchor="t">
            <a:spAutoFit/>
          </a:bodyPr>
          <a:lstStyle/>
          <a:p>
            <a:pPr algn="r"/>
            <a:r>
              <a:rPr sz="800" b="0">
                <a:solidFill>
                  <a:srgbClr val="64748B"/>
                </a:solidFill>
                <a:latin typeface="Aptos"/>
              </a:rPr>
              <a:t>19</a:t>
            </a:r>
            <a:endParaRPr sz="800" b="0">
              <a:solidFill>
                <a:srgbClr val="64748B"/>
              </a:solidFill>
              <a:latin typeface="Apto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8969</Words>
  <Application>WPS Presentation</Application>
  <PresentationFormat>On-screen Show (16:9)</PresentationFormat>
  <Paragraphs>816</Paragraphs>
  <Slides>19</Slides>
  <Notes>17</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19</vt:i4>
      </vt:variant>
    </vt:vector>
  </HeadingPairs>
  <TitlesOfParts>
    <vt:vector size="38" baseType="lpstr">
      <vt:lpstr>Arial</vt:lpstr>
      <vt:lpstr>SimSun</vt:lpstr>
      <vt:lpstr>Wingdings</vt:lpstr>
      <vt:lpstr>Aptos Display</vt:lpstr>
      <vt:lpstr>Segoe UI Variable Display</vt:lpstr>
      <vt:lpstr>Aptos Display</vt:lpstr>
      <vt:lpstr>Aptos Display</vt:lpstr>
      <vt:lpstr>Aptos</vt:lpstr>
      <vt:lpstr>Aptos</vt:lpstr>
      <vt:lpstr>Aptos</vt:lpstr>
      <vt:lpstr>Segoe UI</vt:lpstr>
      <vt:lpstr>Consolas</vt:lpstr>
      <vt:lpstr>Consolas</vt:lpstr>
      <vt:lpstr>Consolas</vt:lpstr>
      <vt:lpstr>Aptos</vt:lpstr>
      <vt:lpstr>Aptos Display</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Ethiopian Artificial Intelligence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Security Red Team Assessment — RedMnist</dc:title>
  <dc:creator>OpenAI</dc:creator>
  <dc:subject>AI Security Red Team Assessment</dc:subject>
  <cp:lastModifiedBy>HP</cp:lastModifiedBy>
  <cp:revision>7</cp:revision>
  <dcterms:created xsi:type="dcterms:W3CDTF">2026-09-26T19:44:00Z</dcterms:created>
  <dcterms:modified xsi:type="dcterms:W3CDTF">2026-09-28T13:40:47Z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DF3C5F5D36BF441BB919BFF697B84D2E_13</vt:lpwstr>
  </property>
  <property fmtid="{D5CDD505-2E9C-101B-9397-08002B2CF9AE}" pid="3" name="KSOProductBuildVer">
    <vt:lpwstr>2057-12.2.0.23206</vt:lpwstr>
  </property>
</Properties>
</file>